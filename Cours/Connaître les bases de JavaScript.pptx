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Lst>
  <p:sldSz cy="5143500" cx="9144000"/>
  <p:notesSz cx="6858000" cy="9144000"/>
  <p:embeddedFontLst>
    <p:embeddedFont>
      <p:font typeface="Roboto"/>
      <p:regular r:id="rId91"/>
      <p:bold r:id="rId92"/>
      <p:italic r:id="rId93"/>
      <p:boldItalic r:id="rId94"/>
    </p:embeddedFont>
    <p:embeddedFont>
      <p:font typeface="Lato"/>
      <p:regular r:id="rId95"/>
      <p:bold r:id="rId96"/>
      <p:italic r:id="rId97"/>
      <p:boldItalic r:id="rId9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A7F8AC-252F-458C-ABAE-EBCD8052A311}">
  <a:tblStyle styleId="{A9A7F8AC-252F-458C-ABAE-EBCD8052A31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Lato-regular.fntdata"/><Relationship Id="rId94" Type="http://schemas.openxmlformats.org/officeDocument/2006/relationships/font" Target="fonts/Roboto-boldItalic.fntdata"/><Relationship Id="rId97" Type="http://schemas.openxmlformats.org/officeDocument/2006/relationships/font" Target="fonts/Lato-italic.fntdata"/><Relationship Id="rId96" Type="http://schemas.openxmlformats.org/officeDocument/2006/relationships/font" Target="fonts/Lato-bold.fntdata"/><Relationship Id="rId11" Type="http://schemas.openxmlformats.org/officeDocument/2006/relationships/slide" Target="slides/slide5.xml"/><Relationship Id="rId10" Type="http://schemas.openxmlformats.org/officeDocument/2006/relationships/slide" Target="slides/slide4.xml"/><Relationship Id="rId98" Type="http://schemas.openxmlformats.org/officeDocument/2006/relationships/font" Target="fonts/Lato-bold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Roboto-regular.fntdata"/><Relationship Id="rId90" Type="http://schemas.openxmlformats.org/officeDocument/2006/relationships/slide" Target="slides/slide84.xml"/><Relationship Id="rId93" Type="http://schemas.openxmlformats.org/officeDocument/2006/relationships/font" Target="fonts/Roboto-italic.fntdata"/><Relationship Id="rId92" Type="http://schemas.openxmlformats.org/officeDocument/2006/relationships/font" Target="fonts/Roboto-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e4ec224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e4ec224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a2e5d0909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a2e5d0909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e4ec2243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e4ec2243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e4ec2243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e4ec2243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9193fcdd4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9193fcdd4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e4ec2243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e4ec2243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193fcdd4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193fcdd4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e4ec2243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e4ec2243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e4ec2243a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ae4ec2243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1a402e67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1a402e67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1a402e67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1a402e67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e4ec2243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e4ec2243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1a402e67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1a402e67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1a402e67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91a402e67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1a402e67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91a402e67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e4ec2243a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e4ec2243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1a402e67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91a402e67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19392d5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919392d5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1a402e67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1a402e67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1a402e67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1a402e67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1a402e67a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91a402e67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919392d57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919392d57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91a402e67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91a402e67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19392d57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19392d57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1a402e67a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91a402e67a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91a402e67a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91a402e67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1a402e67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91a402e67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919392d57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919392d57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b041bc956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b041bc956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041bc956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b041bc956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041bc956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b041bc956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b041bc956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b041bc956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b11db7cc7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b11db7cc7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b11db7cc7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b11db7cc7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19392d57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919392d57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11db7cc7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b11db7cc7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b13fcf0d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b13fcf0d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11db7cc7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b11db7cc7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b11db7cc7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b11db7cc7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13fcf0d8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b13fcf0d8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b13fcf0d8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b13fcf0d8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b13fcf0d8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b13fcf0d8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b11db7cc7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b11db7cc7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b11db7cc7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b11db7cc7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b1e2c3142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b1e2c3142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b11db7cc7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b11db7cc7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b1e2c3142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b1e2c3142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b1e2c3142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b1e2c3142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b1e2c3142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b1e2c3142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9193fcdd4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9193fcdd4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b1e2c3142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b1e2c3142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9193fcdd4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9193fcdd4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b1e2c3142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b1e2c3142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b1e2c3142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b1e2c3142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919392d57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919392d57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919392d57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919392d57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b1e2c3142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b1e2c3142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b1e2c3142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b1e2c3142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1e2c31428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b1e2c31428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b1e2c31428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b1e2c31428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b1e2c31428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b1e2c31428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b1e2c3142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b1e2c3142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b23601d59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b23601d59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b23601d59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b23601d59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b23601d5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b23601d5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b23601d59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b23601d59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919392d57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919392d57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b23fc54e4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b23fc54e4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b23fc54e4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b23fc54e4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b3179b0da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b3179b0da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b3179b0da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b3179b0da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b3179b0da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b3179b0da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9193fcdd4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9193fcdd4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b3179b0da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b3179b0da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919392d57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919392d576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b3179b0da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b3179b0da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b3179b0da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b3179b0da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919392d57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919392d57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b3179b0da4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b3179b0da4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b3ec64114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3b3ec64114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919392d57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919392d57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b3179b0da4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b3179b0da4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919392d57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919392d57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b3179b0da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b3179b0da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node.j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fr.wikipedia.org/wiki/Interpr%C3%A8te_(informatique)" TargetMode="External"/><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nodejs.org/en" TargetMode="External"/><Relationship Id="rId4" Type="http://schemas.openxmlformats.org/officeDocument/2006/relationships/hyperlink" Target="https://nodejs.org/en" TargetMode="External"/><Relationship Id="rId5" Type="http://schemas.openxmlformats.org/officeDocument/2006/relationships/image" Target="../media/image5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fr.wikipedia.org/wiki/Ajax_(informatique)" TargetMode="External"/><Relationship Id="rId4" Type="http://schemas.openxmlformats.org/officeDocument/2006/relationships/hyperlink" Target="https://developer.mozilla.org/fr/docs/Web/API/Fetch_API"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blog.harvestr.io/fr/full-stack"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www.google.com/url?sa=t&amp;source=web&amp;rct=j&amp;opi=89978449&amp;url=https://fr.wikipedia.org/wiki/Programmation_fonctionnelle&amp;ved=2ahUKEwi6sdKZ5LWRAxU_TqQEHbD2AikQFnoECAsQAQ&amp;usg=AOvVaw01Q6S0i7SAT6uzTmF5Z3F7" TargetMode="External"/><Relationship Id="rId4" Type="http://schemas.openxmlformats.org/officeDocument/2006/relationships/hyperlink" Target="https://www.google.com/url?sa=t&amp;source=web&amp;rct=j&amp;opi=89978449&amp;url=https://fr.wikipedia.org/wiki/Programmation_orient%25C3%25A9e_objet&amp;ved=2ahUKEwiX-NSf5LWRAxUkK_sDHUPWHkkQFnoECBUQAQ&amp;usg=AOvVaw1zRJJxsrrVgsc960-edonx"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1.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1.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0.pn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7.png"/><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7.png"/><Relationship Id="rId4" Type="http://schemas.openxmlformats.org/officeDocument/2006/relationships/image" Target="../media/image42.png"/><Relationship Id="rId5" Type="http://schemas.openxmlformats.org/officeDocument/2006/relationships/image" Target="../media/image29.png"/><Relationship Id="rId6"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8.png"/><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56.png"/><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1.png"/><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6.png"/><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3.png"/><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52.png"/><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developer.mozilla.org/fr/docs/Glossary/Hoisting" TargetMode="External"/><Relationship Id="rId4" Type="http://schemas.openxmlformats.org/officeDocument/2006/relationships/image" Target="../media/image55.png"/><Relationship Id="rId5" Type="http://schemas.openxmlformats.org/officeDocument/2006/relationships/image" Target="../media/image6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4.png"/><Relationship Id="rId4" Type="http://schemas.openxmlformats.org/officeDocument/2006/relationships/image" Target="../media/image6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3.png"/><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61.png"/><Relationship Id="rId4" Type="http://schemas.openxmlformats.org/officeDocument/2006/relationships/image" Target="../media/image5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6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67.png"/><Relationship Id="rId4" Type="http://schemas.openxmlformats.org/officeDocument/2006/relationships/image" Target="../media/image6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9.png"/><Relationship Id="rId4" Type="http://schemas.openxmlformats.org/officeDocument/2006/relationships/image" Target="../media/image6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69.png"/><Relationship Id="rId4" Type="http://schemas.openxmlformats.org/officeDocument/2006/relationships/image" Target="../media/image7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68.png"/><Relationship Id="rId4" Type="http://schemas.openxmlformats.org/officeDocument/2006/relationships/image" Target="../media/image7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74.png"/><Relationship Id="rId4" Type="http://schemas.openxmlformats.org/officeDocument/2006/relationships/image" Target="../media/image7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73.png"/><Relationship Id="rId4" Type="http://schemas.openxmlformats.org/officeDocument/2006/relationships/image" Target="../media/image7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76.png"/><Relationship Id="rId4" Type="http://schemas.openxmlformats.org/officeDocument/2006/relationships/image" Target="../media/image7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hyperlink" Target="https://encrypted-tbn0.gstatic.com/images?q=tbn:ANd9GcT7Pu2StBMxK9n-R3n3C6jBwW1MA-MgoCKGCQ&amp;s" TargetMode="External"/><Relationship Id="rId4" Type="http://schemas.openxmlformats.org/officeDocument/2006/relationships/image" Target="../media/image77.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82.png"/><Relationship Id="rId4" Type="http://schemas.openxmlformats.org/officeDocument/2006/relationships/image" Target="../media/image8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79.png"/><Relationship Id="rId4" Type="http://schemas.openxmlformats.org/officeDocument/2006/relationships/image" Target="../media/image8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8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8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86.png"/><Relationship Id="rId4" Type="http://schemas.openxmlformats.org/officeDocument/2006/relationships/image" Target="../media/image8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85.png"/><Relationship Id="rId4" Type="http://schemas.openxmlformats.org/officeDocument/2006/relationships/image" Target="../media/image8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87.png"/><Relationship Id="rId4" Type="http://schemas.openxmlformats.org/officeDocument/2006/relationships/image" Target="../media/image9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9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92.png"/><Relationship Id="rId4" Type="http://schemas.openxmlformats.org/officeDocument/2006/relationships/image" Target="../media/image9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94.png"/><Relationship Id="rId4" Type="http://schemas.openxmlformats.org/officeDocument/2006/relationships/image" Target="../media/image9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96.png"/><Relationship Id="rId4" Type="http://schemas.openxmlformats.org/officeDocument/2006/relationships/image" Target="../media/image9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3" title="javascript1200x628-1.jpg"/>
          <p:cNvPicPr preferRelativeResize="0"/>
          <p:nvPr/>
        </p:nvPicPr>
        <p:blipFill>
          <a:blip r:embed="rId3">
            <a:alphaModFix/>
          </a:blip>
          <a:stretch>
            <a:fillRect/>
          </a:stretch>
        </p:blipFill>
        <p:spPr>
          <a:xfrm>
            <a:off x="0" y="-1"/>
            <a:ext cx="9144000" cy="5143501"/>
          </a:xfrm>
          <a:prstGeom prst="rect">
            <a:avLst/>
          </a:prstGeom>
          <a:noFill/>
          <a:ln>
            <a:noFill/>
          </a:ln>
        </p:spPr>
      </p:pic>
      <p:sp>
        <p:nvSpPr>
          <p:cNvPr id="86" name="Google Shape;86;p13"/>
          <p:cNvSpPr txBox="1"/>
          <p:nvPr>
            <p:ph idx="4294967295" type="subTitle"/>
          </p:nvPr>
        </p:nvSpPr>
        <p:spPr>
          <a:xfrm>
            <a:off x="0" y="4428611"/>
            <a:ext cx="8222100" cy="714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fr">
                <a:solidFill>
                  <a:schemeClr val="lt1"/>
                </a:solidFill>
              </a:rPr>
              <a:t>Janvier 2026 - CODA B1-A</a:t>
            </a:r>
            <a:endParaRPr>
              <a:solidFill>
                <a:schemeClr val="lt1"/>
              </a:solidFill>
            </a:endParaRPr>
          </a:p>
          <a:p>
            <a:pPr indent="0" lvl="0" marL="0" rtl="0" algn="l">
              <a:spcBef>
                <a:spcPts val="1200"/>
              </a:spcBef>
              <a:spcAft>
                <a:spcPts val="1200"/>
              </a:spcAft>
              <a:buNone/>
            </a:pPr>
            <a:r>
              <a:rPr lang="fr">
                <a:solidFill>
                  <a:schemeClr val="lt1"/>
                </a:solidFill>
              </a:rPr>
              <a:t>Animé par Geoffrey Demaison</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Objectifs de cette session :</a:t>
            </a:r>
            <a:endParaRPr/>
          </a:p>
        </p:txBody>
      </p:sp>
      <p:sp>
        <p:nvSpPr>
          <p:cNvPr id="92" name="Google Shape;92;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Lato"/>
              <a:buChar char="●"/>
            </a:pPr>
            <a:r>
              <a:rPr lang="fr">
                <a:latin typeface="Lato"/>
                <a:ea typeface="Lato"/>
                <a:cs typeface="Lato"/>
                <a:sym typeface="Lato"/>
              </a:rPr>
              <a:t>Connaître les bases de JavaScript</a:t>
            </a:r>
            <a:endParaRPr>
              <a:latin typeface="Lato"/>
              <a:ea typeface="Lato"/>
              <a:cs typeface="Lato"/>
              <a:sym typeface="Lato"/>
            </a:endParaRPr>
          </a:p>
          <a:p>
            <a:pPr indent="-342900" lvl="0" marL="457200" rtl="0" algn="l">
              <a:spcBef>
                <a:spcPts val="0"/>
              </a:spcBef>
              <a:spcAft>
                <a:spcPts val="0"/>
              </a:spcAft>
              <a:buSzPts val="1800"/>
              <a:buFont typeface="Lato"/>
              <a:buChar char="●"/>
            </a:pPr>
            <a:r>
              <a:rPr lang="fr">
                <a:latin typeface="Lato"/>
                <a:ea typeface="Lato"/>
                <a:cs typeface="Lato"/>
                <a:sym typeface="Lato"/>
              </a:rPr>
              <a:t>L</a:t>
            </a:r>
            <a:r>
              <a:rPr lang="fr">
                <a:latin typeface="Lato"/>
                <a:ea typeface="Lato"/>
                <a:cs typeface="Lato"/>
                <a:sym typeface="Lato"/>
              </a:rPr>
              <a:t>a manipulation du DOM</a:t>
            </a:r>
            <a:endParaRPr>
              <a:latin typeface="Lato"/>
              <a:ea typeface="Lato"/>
              <a:cs typeface="Lato"/>
              <a:sym typeface="Lato"/>
            </a:endParaRPr>
          </a:p>
          <a:p>
            <a:pPr indent="-342900" lvl="0" marL="457200" rtl="0" algn="l">
              <a:spcBef>
                <a:spcPts val="0"/>
              </a:spcBef>
              <a:spcAft>
                <a:spcPts val="0"/>
              </a:spcAft>
              <a:buSzPts val="1800"/>
              <a:buFont typeface="Lato"/>
              <a:buChar char="●"/>
            </a:pPr>
            <a:r>
              <a:rPr lang="fr">
                <a:latin typeface="Lato"/>
                <a:ea typeface="Lato"/>
                <a:cs typeface="Lato"/>
                <a:sym typeface="Lato"/>
              </a:rPr>
              <a:t>Aborder les requêtes asynchrones</a:t>
            </a:r>
            <a:endParaRPr>
              <a:latin typeface="Lato"/>
              <a:ea typeface="Lato"/>
              <a:cs typeface="Lato"/>
              <a:sym typeface="Lato"/>
            </a:endParaRPr>
          </a:p>
          <a:p>
            <a:pPr indent="-342900" lvl="0" marL="457200" rtl="0" algn="l">
              <a:spcBef>
                <a:spcPts val="0"/>
              </a:spcBef>
              <a:spcAft>
                <a:spcPts val="0"/>
              </a:spcAft>
              <a:buSzPts val="1800"/>
              <a:buFont typeface="Lato"/>
              <a:buChar char="●"/>
            </a:pPr>
            <a:r>
              <a:rPr lang="fr">
                <a:latin typeface="Lato"/>
                <a:ea typeface="Lato"/>
                <a:cs typeface="Lato"/>
                <a:sym typeface="Lato"/>
              </a:rPr>
              <a:t>Comprendre et utiliser les événements</a:t>
            </a:r>
            <a:endParaRPr>
              <a:latin typeface="Lato"/>
              <a:ea typeface="Lato"/>
              <a:cs typeface="Lato"/>
              <a:sym typeface="Lato"/>
            </a:endParaRPr>
          </a:p>
          <a:p>
            <a:pPr indent="-342900" lvl="0" marL="457200" rtl="0" algn="l">
              <a:spcBef>
                <a:spcPts val="0"/>
              </a:spcBef>
              <a:spcAft>
                <a:spcPts val="0"/>
              </a:spcAft>
              <a:buSzPts val="1800"/>
              <a:buFont typeface="Lato"/>
              <a:buChar char="●"/>
            </a:pPr>
            <a:r>
              <a:rPr lang="fr">
                <a:latin typeface="Lato"/>
                <a:ea typeface="Lato"/>
                <a:cs typeface="Lato"/>
                <a:sym typeface="Lato"/>
              </a:rPr>
              <a:t>Aborder l’API Canvas</a:t>
            </a:r>
            <a:endParaRPr>
              <a:latin typeface="Lato"/>
              <a:ea typeface="Lato"/>
              <a:cs typeface="Lato"/>
              <a:sym typeface="Lato"/>
            </a:endParaRPr>
          </a:p>
          <a:p>
            <a:pPr indent="-342900" lvl="0" marL="457200" rtl="0" algn="l">
              <a:spcBef>
                <a:spcPts val="0"/>
              </a:spcBef>
              <a:spcAft>
                <a:spcPts val="0"/>
              </a:spcAft>
              <a:buSzPts val="1800"/>
              <a:buFont typeface="Lato"/>
              <a:buChar char="●"/>
            </a:pPr>
            <a:r>
              <a:rPr lang="fr">
                <a:latin typeface="Lato"/>
                <a:ea typeface="Lato"/>
                <a:cs typeface="Lato"/>
                <a:sym typeface="Lato"/>
              </a:rPr>
              <a:t>Employer le pattern d’architecture </a:t>
            </a:r>
            <a:r>
              <a:rPr lang="fr">
                <a:latin typeface="Lato"/>
                <a:ea typeface="Lato"/>
                <a:cs typeface="Lato"/>
                <a:sym typeface="Lato"/>
              </a:rPr>
              <a:t>MVC (Modèle-Vue-Contrôleur) en frontend en développant une application en Javascript.</a:t>
            </a:r>
            <a:endParaRPr>
              <a:latin typeface="Lato"/>
              <a:ea typeface="Lato"/>
              <a:cs typeface="Lato"/>
              <a:sym typeface="Lato"/>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90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Connaître les bases de JavaScript - Sommaire</a:t>
            </a:r>
            <a:endParaRPr/>
          </a:p>
        </p:txBody>
      </p:sp>
      <p:sp>
        <p:nvSpPr>
          <p:cNvPr id="98" name="Google Shape;98;p15"/>
          <p:cNvSpPr txBox="1"/>
          <p:nvPr>
            <p:ph idx="1" type="body"/>
          </p:nvPr>
        </p:nvSpPr>
        <p:spPr>
          <a:xfrm>
            <a:off x="311700" y="1433350"/>
            <a:ext cx="8520600" cy="313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Introduction à JavaScript</a:t>
            </a:r>
            <a:endParaRPr/>
          </a:p>
          <a:p>
            <a:pPr indent="-342900" lvl="0" marL="457200" rtl="0" algn="l">
              <a:spcBef>
                <a:spcPts val="0"/>
              </a:spcBef>
              <a:spcAft>
                <a:spcPts val="0"/>
              </a:spcAft>
              <a:buSzPts val="1800"/>
              <a:buChar char="●"/>
            </a:pPr>
            <a:r>
              <a:rPr lang="fr"/>
              <a:t>Syntaxe de base</a:t>
            </a:r>
            <a:endParaRPr/>
          </a:p>
          <a:p>
            <a:pPr indent="-342900" lvl="0" marL="457200" rtl="0" algn="l">
              <a:spcBef>
                <a:spcPts val="0"/>
              </a:spcBef>
              <a:spcAft>
                <a:spcPts val="0"/>
              </a:spcAft>
              <a:buSzPts val="1800"/>
              <a:buChar char="●"/>
            </a:pPr>
            <a:r>
              <a:rPr lang="fr"/>
              <a:t>Fonctions</a:t>
            </a:r>
            <a:endParaRPr/>
          </a:p>
          <a:p>
            <a:pPr indent="-342900" lvl="0" marL="457200" rtl="0" algn="l">
              <a:spcBef>
                <a:spcPts val="0"/>
              </a:spcBef>
              <a:spcAft>
                <a:spcPts val="0"/>
              </a:spcAft>
              <a:buSzPts val="1800"/>
              <a:buChar char="●"/>
            </a:pPr>
            <a:r>
              <a:rPr lang="fr"/>
              <a:t>Programmation orientée objet en JavaScript</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 - Sommaire</a:t>
            </a:r>
            <a:endParaRPr/>
          </a:p>
        </p:txBody>
      </p:sp>
      <p:sp>
        <p:nvSpPr>
          <p:cNvPr id="104" name="Google Shape;104;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Qu’est-ce que JavaScript ?</a:t>
            </a:r>
            <a:endParaRPr/>
          </a:p>
          <a:p>
            <a:pPr indent="-342900" lvl="0" marL="457200" rtl="0" algn="l">
              <a:spcBef>
                <a:spcPts val="0"/>
              </a:spcBef>
              <a:spcAft>
                <a:spcPts val="0"/>
              </a:spcAft>
              <a:buSzPts val="1800"/>
              <a:buChar char="●"/>
            </a:pPr>
            <a:r>
              <a:rPr lang="fr"/>
              <a:t>Histoire et évolutions (ES5, ES6+, ECMAScript)</a:t>
            </a:r>
            <a:endParaRPr/>
          </a:p>
          <a:p>
            <a:pPr indent="-342900" lvl="0" marL="457200" rtl="0" algn="l">
              <a:spcBef>
                <a:spcPts val="0"/>
              </a:spcBef>
              <a:spcAft>
                <a:spcPts val="0"/>
              </a:spcAft>
              <a:buSzPts val="1800"/>
              <a:buChar char="●"/>
            </a:pPr>
            <a:r>
              <a:rPr lang="fr"/>
              <a:t>JS côté navigateur vs JS côté serveur (</a:t>
            </a:r>
            <a:r>
              <a:rPr lang="fr" u="sng">
                <a:solidFill>
                  <a:schemeClr val="hlink"/>
                </a:solidFill>
                <a:hlinkClick r:id="rId3"/>
              </a:rPr>
              <a:t>Node.js</a:t>
            </a:r>
            <a:r>
              <a:rPr lang="fr"/>
              <a:t>)</a:t>
            </a:r>
            <a:endParaRPr/>
          </a:p>
          <a:p>
            <a:pPr indent="-342900" lvl="0" marL="457200" rtl="0" algn="l">
              <a:spcBef>
                <a:spcPts val="0"/>
              </a:spcBef>
              <a:spcAft>
                <a:spcPts val="0"/>
              </a:spcAft>
              <a:buSzPts val="1800"/>
              <a:buChar char="●"/>
            </a:pPr>
            <a:r>
              <a:rPr lang="fr"/>
              <a:t>Où s’exécute JavaScript et comment l’intégrer dans une page HTML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a:t>
            </a:r>
            <a:endParaRPr/>
          </a:p>
        </p:txBody>
      </p:sp>
      <p:sp>
        <p:nvSpPr>
          <p:cNvPr id="110" name="Google Shape;110;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JavaScript est l’un des langages les plus importants du développement web moderne. Il est aujourd’hui utilisé partout : dans les navigateurs, sur les serveurs, dans des applications mobiles, desktop, ou même dans des objets connectés. Ce chapitre pose les bases nécessaires pour comprendre son rôle, son évolution et la manière de l’utiliser dans une page HTML.</a:t>
            </a:r>
            <a:endParaRPr/>
          </a:p>
        </p:txBody>
      </p:sp>
      <p:pic>
        <p:nvPicPr>
          <p:cNvPr descr="Mykhaylo Ryechkin | JavaScript Module Ecosystem" id="111" name="Google Shape;111;p17"/>
          <p:cNvPicPr preferRelativeResize="0"/>
          <p:nvPr/>
        </p:nvPicPr>
        <p:blipFill>
          <a:blip r:embed="rId3">
            <a:alphaModFix/>
          </a:blip>
          <a:stretch>
            <a:fillRect/>
          </a:stretch>
        </p:blipFill>
        <p:spPr>
          <a:xfrm>
            <a:off x="7136325" y="146175"/>
            <a:ext cx="1695979" cy="887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311700" y="102375"/>
            <a:ext cx="8520600" cy="97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a:t>
            </a:r>
            <a:endParaRPr/>
          </a:p>
          <a:p>
            <a:pPr indent="0" lvl="0" marL="0" rtl="0" algn="l">
              <a:spcBef>
                <a:spcPts val="0"/>
              </a:spcBef>
              <a:spcAft>
                <a:spcPts val="0"/>
              </a:spcAft>
              <a:buNone/>
            </a:pPr>
            <a:r>
              <a:rPr lang="fr"/>
              <a:t>Qu’est-ce que JavaScript ?</a:t>
            </a:r>
            <a:endParaRPr/>
          </a:p>
        </p:txBody>
      </p:sp>
      <p:sp>
        <p:nvSpPr>
          <p:cNvPr id="117" name="Google Shape;117;p18"/>
          <p:cNvSpPr txBox="1"/>
          <p:nvPr>
            <p:ph idx="1" type="body"/>
          </p:nvPr>
        </p:nvSpPr>
        <p:spPr>
          <a:xfrm>
            <a:off x="311700" y="1199325"/>
            <a:ext cx="8520600" cy="345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solidFill>
                  <a:srgbClr val="434343"/>
                </a:solidFill>
              </a:rPr>
              <a:t>JavaScript est un langage de programmation </a:t>
            </a:r>
            <a:r>
              <a:rPr lang="fr" sz="1600" u="sng">
                <a:solidFill>
                  <a:schemeClr val="hlink"/>
                </a:solidFill>
                <a:hlinkClick r:id="rId3"/>
              </a:rPr>
              <a:t>interprété</a:t>
            </a:r>
            <a:r>
              <a:rPr lang="fr" sz="1600">
                <a:solidFill>
                  <a:srgbClr val="434343"/>
                </a:solidFill>
              </a:rPr>
              <a:t>, principalement utilisé pour rendre les pages web dynamiques et interactives. Contrairement au HTML, qui structure la page et au CSS qui la met en forme, JavaScript permet de :</a:t>
            </a:r>
            <a:endParaRPr sz="1600">
              <a:solidFill>
                <a:srgbClr val="434343"/>
              </a:solidFill>
            </a:endParaRPr>
          </a:p>
          <a:p>
            <a:pPr indent="-330200" lvl="0" marL="457200" rtl="0" algn="l">
              <a:spcBef>
                <a:spcPts val="1200"/>
              </a:spcBef>
              <a:spcAft>
                <a:spcPts val="0"/>
              </a:spcAft>
              <a:buClr>
                <a:srgbClr val="434343"/>
              </a:buClr>
              <a:buSzPts val="1600"/>
              <a:buChar char="●"/>
            </a:pPr>
            <a:r>
              <a:rPr lang="fr" sz="1600">
                <a:solidFill>
                  <a:srgbClr val="434343"/>
                </a:solidFill>
              </a:rPr>
              <a:t>Modifier le contenu d’une page en temps réel</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Réagir aux actions de l’utilisateur (clics, clavier, formulaires…)</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Communiquer avec </a:t>
            </a:r>
            <a:r>
              <a:rPr lang="fr" sz="1600">
                <a:solidFill>
                  <a:srgbClr val="434343"/>
                </a:solidFill>
              </a:rPr>
              <a:t>d</a:t>
            </a:r>
            <a:r>
              <a:rPr lang="fr" sz="1600">
                <a:solidFill>
                  <a:srgbClr val="434343"/>
                </a:solidFill>
              </a:rPr>
              <a:t>es serveurs grâce à des requêtes asynchrones</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Animer des éléments (CSS, Canvas, SVG)</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Créer des applications web complètes avec une logique de programmation avancée.</a:t>
            </a:r>
            <a:endParaRPr sz="1600">
              <a:solidFill>
                <a:srgbClr val="434343"/>
              </a:solidFill>
            </a:endParaRPr>
          </a:p>
        </p:txBody>
      </p:sp>
      <p:pic>
        <p:nvPicPr>
          <p:cNvPr descr="Mykhaylo Ryechkin | JavaScript Module Ecosystem" id="118" name="Google Shape;118;p18"/>
          <p:cNvPicPr preferRelativeResize="0"/>
          <p:nvPr/>
        </p:nvPicPr>
        <p:blipFill>
          <a:blip r:embed="rId4">
            <a:alphaModFix/>
          </a:blip>
          <a:stretch>
            <a:fillRect/>
          </a:stretch>
        </p:blipFill>
        <p:spPr>
          <a:xfrm>
            <a:off x="7136325" y="146175"/>
            <a:ext cx="1695979" cy="887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311700" y="102375"/>
            <a:ext cx="8520600" cy="97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a:t>
            </a:r>
            <a:endParaRPr/>
          </a:p>
          <a:p>
            <a:pPr indent="0" lvl="0" marL="0" rtl="0" algn="l">
              <a:spcBef>
                <a:spcPts val="0"/>
              </a:spcBef>
              <a:spcAft>
                <a:spcPts val="0"/>
              </a:spcAft>
              <a:buNone/>
            </a:pPr>
            <a:r>
              <a:rPr lang="fr"/>
              <a:t>Caractéristiques principales du langage</a:t>
            </a:r>
            <a:endParaRPr/>
          </a:p>
        </p:txBody>
      </p:sp>
      <p:sp>
        <p:nvSpPr>
          <p:cNvPr id="124" name="Google Shape;124;p19"/>
          <p:cNvSpPr txBox="1"/>
          <p:nvPr>
            <p:ph idx="1" type="body"/>
          </p:nvPr>
        </p:nvSpPr>
        <p:spPr>
          <a:xfrm>
            <a:off x="311700" y="1199325"/>
            <a:ext cx="8520600" cy="3457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434343"/>
              </a:buClr>
              <a:buSzPts val="1600"/>
              <a:buChar char="●"/>
            </a:pPr>
            <a:r>
              <a:rPr lang="fr" sz="1600">
                <a:solidFill>
                  <a:srgbClr val="434343"/>
                </a:solidFill>
              </a:rPr>
              <a:t>Langage orienté objet, basé sur un système de prototypes (et non sur les classes traditionnelles des langages comme Java ou PHP avant ES6).</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Typage dynamique : pas besoin de déclarer les types de variables.</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Interprété par le navigateur : Google Chrome, Firefox, Safari, Edge, etc.</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Très flexible : un même code peut fonctionner aussi bien sur le front-end que sur le back-end (grâce à Node.js).</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JavaScript est devenu un pilier du web moderne car tous les navigateurs l’intègrent nativement. C’est aujourd’hui le seul langage capable de fonctionner directement dans un navigateur sans plugin supplémentaire.</a:t>
            </a:r>
            <a:endParaRPr sz="1600">
              <a:solidFill>
                <a:srgbClr val="434343"/>
              </a:solidFill>
            </a:endParaRPr>
          </a:p>
        </p:txBody>
      </p:sp>
      <p:pic>
        <p:nvPicPr>
          <p:cNvPr descr="Mykhaylo Ryechkin | JavaScript Module Ecosystem" id="125" name="Google Shape;125;p19"/>
          <p:cNvPicPr preferRelativeResize="0"/>
          <p:nvPr/>
        </p:nvPicPr>
        <p:blipFill>
          <a:blip r:embed="rId3">
            <a:alphaModFix/>
          </a:blip>
          <a:stretch>
            <a:fillRect/>
          </a:stretch>
        </p:blipFill>
        <p:spPr>
          <a:xfrm>
            <a:off x="7136325" y="146175"/>
            <a:ext cx="1695979" cy="887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102375"/>
            <a:ext cx="8520600" cy="88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a:t>
            </a:r>
            <a:endParaRPr/>
          </a:p>
          <a:p>
            <a:pPr indent="0" lvl="0" marL="0" rtl="0" algn="l">
              <a:spcBef>
                <a:spcPts val="0"/>
              </a:spcBef>
              <a:spcAft>
                <a:spcPts val="0"/>
              </a:spcAft>
              <a:buNone/>
            </a:pPr>
            <a:r>
              <a:rPr lang="fr"/>
              <a:t>Histoire et évolutions (ES5, ES6+, ECMA)</a:t>
            </a:r>
            <a:endParaRPr/>
          </a:p>
        </p:txBody>
      </p:sp>
      <p:sp>
        <p:nvSpPr>
          <p:cNvPr id="131" name="Google Shape;131;p20"/>
          <p:cNvSpPr txBox="1"/>
          <p:nvPr>
            <p:ph idx="1" type="body"/>
          </p:nvPr>
        </p:nvSpPr>
        <p:spPr>
          <a:xfrm>
            <a:off x="311700" y="1111575"/>
            <a:ext cx="8520600" cy="3457200"/>
          </a:xfrm>
          <a:prstGeom prst="rect">
            <a:avLst/>
          </a:prstGeom>
        </p:spPr>
        <p:txBody>
          <a:bodyPr anchorCtr="0" anchor="t" bIns="91425" lIns="91425" spcFirstLastPara="1" rIns="91425" wrap="square" tIns="91425">
            <a:noAutofit/>
          </a:bodyPr>
          <a:lstStyle/>
          <a:p>
            <a:pPr indent="-342900" lvl="0" marL="457200" rtl="0" algn="l">
              <a:spcBef>
                <a:spcPts val="1400"/>
              </a:spcBef>
              <a:spcAft>
                <a:spcPts val="0"/>
              </a:spcAft>
              <a:buClr>
                <a:srgbClr val="434343"/>
              </a:buClr>
              <a:buSzPts val="1800"/>
              <a:buChar char="●"/>
            </a:pPr>
            <a:r>
              <a:rPr lang="fr">
                <a:solidFill>
                  <a:srgbClr val="434343"/>
                </a:solidFill>
              </a:rPr>
              <a:t>ES3 (1999)</a:t>
            </a:r>
            <a:endParaRPr>
              <a:solidFill>
                <a:srgbClr val="434343"/>
              </a:solidFill>
            </a:endParaRPr>
          </a:p>
          <a:p>
            <a:pPr indent="-323850" lvl="1" marL="914400" rtl="0" algn="l">
              <a:spcBef>
                <a:spcPts val="0"/>
              </a:spcBef>
              <a:spcAft>
                <a:spcPts val="0"/>
              </a:spcAft>
              <a:buClr>
                <a:srgbClr val="434343"/>
              </a:buClr>
              <a:buSzPts val="1500"/>
              <a:buChar char="○"/>
            </a:pPr>
            <a:r>
              <a:rPr lang="fr" sz="1500">
                <a:solidFill>
                  <a:srgbClr val="434343"/>
                </a:solidFill>
              </a:rPr>
              <a:t>Première version largement utilisée. Base du JavaScript moderne.</a:t>
            </a:r>
            <a:endParaRPr sz="1500">
              <a:solidFill>
                <a:srgbClr val="434343"/>
              </a:solidFill>
            </a:endParaRPr>
          </a:p>
          <a:p>
            <a:pPr indent="-342900" lvl="0" marL="457200" rtl="0" algn="l">
              <a:spcBef>
                <a:spcPts val="0"/>
              </a:spcBef>
              <a:spcAft>
                <a:spcPts val="0"/>
              </a:spcAft>
              <a:buClr>
                <a:srgbClr val="434343"/>
              </a:buClr>
              <a:buSzPts val="1800"/>
              <a:buChar char="●"/>
            </a:pPr>
            <a:r>
              <a:rPr lang="fr">
                <a:solidFill>
                  <a:srgbClr val="434343"/>
                </a:solidFill>
              </a:rPr>
              <a:t>ES5 (2009)</a:t>
            </a:r>
            <a:endParaRPr>
              <a:solidFill>
                <a:srgbClr val="434343"/>
              </a:solidFill>
            </a:endParaRPr>
          </a:p>
          <a:p>
            <a:pPr indent="-323850" lvl="1" marL="914400" rtl="0" algn="l">
              <a:spcBef>
                <a:spcPts val="0"/>
              </a:spcBef>
              <a:spcAft>
                <a:spcPts val="0"/>
              </a:spcAft>
              <a:buClr>
                <a:srgbClr val="434343"/>
              </a:buClr>
              <a:buSzPts val="1500"/>
              <a:buChar char="○"/>
            </a:pPr>
            <a:r>
              <a:rPr lang="fr" sz="1500">
                <a:solidFill>
                  <a:srgbClr val="434343"/>
                </a:solidFill>
              </a:rPr>
              <a:t>Amélioration majeure du langage. Pendant plusieurs années, ES5 a dominé le web.</a:t>
            </a:r>
            <a:endParaRPr sz="1500">
              <a:solidFill>
                <a:srgbClr val="434343"/>
              </a:solidFill>
            </a:endParaRPr>
          </a:p>
          <a:p>
            <a:pPr indent="-342900" lvl="0" marL="457200" rtl="0" algn="l">
              <a:spcBef>
                <a:spcPts val="0"/>
              </a:spcBef>
              <a:spcAft>
                <a:spcPts val="0"/>
              </a:spcAft>
              <a:buClr>
                <a:srgbClr val="434343"/>
              </a:buClr>
              <a:buSzPts val="1800"/>
              <a:buChar char="●"/>
            </a:pPr>
            <a:r>
              <a:rPr lang="fr">
                <a:solidFill>
                  <a:srgbClr val="434343"/>
                </a:solidFill>
              </a:rPr>
              <a:t>ES6 (2015)</a:t>
            </a:r>
            <a:endParaRPr>
              <a:solidFill>
                <a:srgbClr val="434343"/>
              </a:solidFill>
            </a:endParaRPr>
          </a:p>
          <a:p>
            <a:pPr indent="-323850" lvl="1" marL="914400" rtl="0" algn="l">
              <a:spcBef>
                <a:spcPts val="0"/>
              </a:spcBef>
              <a:spcAft>
                <a:spcPts val="0"/>
              </a:spcAft>
              <a:buClr>
                <a:srgbClr val="434343"/>
              </a:buClr>
              <a:buSzPts val="1500"/>
              <a:buChar char="○"/>
            </a:pPr>
            <a:r>
              <a:rPr lang="fr" sz="1500">
                <a:solidFill>
                  <a:srgbClr val="434343"/>
                </a:solidFill>
              </a:rPr>
              <a:t>ES6 marque un tournant majeur avec l’arrivée :</a:t>
            </a:r>
            <a:endParaRPr sz="1500">
              <a:solidFill>
                <a:srgbClr val="434343"/>
              </a:solidFill>
            </a:endParaRPr>
          </a:p>
          <a:p>
            <a:pPr indent="-323850" lvl="0" marL="1371600" rtl="0" algn="l">
              <a:spcBef>
                <a:spcPts val="0"/>
              </a:spcBef>
              <a:spcAft>
                <a:spcPts val="0"/>
              </a:spcAft>
              <a:buClr>
                <a:srgbClr val="434343"/>
              </a:buClr>
              <a:buSzPts val="1500"/>
              <a:buFont typeface="Arial"/>
              <a:buChar char="●"/>
            </a:pPr>
            <a:r>
              <a:rPr lang="fr" sz="1500">
                <a:solidFill>
                  <a:srgbClr val="434343"/>
                </a:solidFill>
              </a:rPr>
              <a:t>De nouvelles déclarations de variables : let, const</a:t>
            </a:r>
            <a:endParaRPr sz="1500">
              <a:solidFill>
                <a:srgbClr val="434343"/>
              </a:solidFill>
            </a:endParaRPr>
          </a:p>
          <a:p>
            <a:pPr indent="-323850" lvl="0" marL="1371600" rtl="0" algn="l">
              <a:spcBef>
                <a:spcPts val="0"/>
              </a:spcBef>
              <a:spcAft>
                <a:spcPts val="0"/>
              </a:spcAft>
              <a:buClr>
                <a:srgbClr val="434343"/>
              </a:buClr>
              <a:buSzPts val="1500"/>
              <a:buFont typeface="Arial"/>
              <a:buChar char="●"/>
            </a:pPr>
            <a:r>
              <a:rPr lang="fr" sz="1500">
                <a:solidFill>
                  <a:srgbClr val="434343"/>
                </a:solidFill>
              </a:rPr>
              <a:t>Des </a:t>
            </a:r>
            <a:r>
              <a:rPr b="1" lang="fr" sz="1500">
                <a:solidFill>
                  <a:srgbClr val="434343"/>
                </a:solidFill>
              </a:rPr>
              <a:t>classes</a:t>
            </a:r>
            <a:endParaRPr sz="1500">
              <a:solidFill>
                <a:srgbClr val="434343"/>
              </a:solidFill>
            </a:endParaRPr>
          </a:p>
          <a:p>
            <a:pPr indent="-323850" lvl="0" marL="1371600" rtl="0" algn="l">
              <a:spcBef>
                <a:spcPts val="0"/>
              </a:spcBef>
              <a:spcAft>
                <a:spcPts val="0"/>
              </a:spcAft>
              <a:buClr>
                <a:srgbClr val="434343"/>
              </a:buClr>
              <a:buSzPts val="1500"/>
              <a:buFont typeface="Arial"/>
              <a:buChar char="●"/>
            </a:pPr>
            <a:r>
              <a:rPr lang="fr" sz="1500">
                <a:solidFill>
                  <a:srgbClr val="434343"/>
                </a:solidFill>
              </a:rPr>
              <a:t>Des </a:t>
            </a:r>
            <a:r>
              <a:rPr b="1" lang="fr" sz="1500">
                <a:solidFill>
                  <a:srgbClr val="434343"/>
                </a:solidFill>
              </a:rPr>
              <a:t>modules</a:t>
            </a:r>
            <a:r>
              <a:rPr lang="fr" sz="1500">
                <a:solidFill>
                  <a:srgbClr val="434343"/>
                </a:solidFill>
              </a:rPr>
              <a:t> (import / export)</a:t>
            </a:r>
            <a:endParaRPr sz="1500">
              <a:solidFill>
                <a:srgbClr val="434343"/>
              </a:solidFill>
            </a:endParaRPr>
          </a:p>
          <a:p>
            <a:pPr indent="-323850" lvl="0" marL="1371600" rtl="0" algn="l">
              <a:spcBef>
                <a:spcPts val="0"/>
              </a:spcBef>
              <a:spcAft>
                <a:spcPts val="0"/>
              </a:spcAft>
              <a:buClr>
                <a:srgbClr val="434343"/>
              </a:buClr>
              <a:buSzPts val="1500"/>
              <a:buFont typeface="Arial"/>
              <a:buChar char="●"/>
            </a:pPr>
            <a:r>
              <a:rPr lang="fr" sz="1500">
                <a:solidFill>
                  <a:srgbClr val="434343"/>
                </a:solidFill>
              </a:rPr>
              <a:t>Des </a:t>
            </a:r>
            <a:r>
              <a:rPr b="1" lang="fr" sz="1500">
                <a:solidFill>
                  <a:srgbClr val="434343"/>
                </a:solidFill>
              </a:rPr>
              <a:t>fonctions fléchées</a:t>
            </a:r>
            <a:r>
              <a:rPr lang="fr" sz="1500">
                <a:solidFill>
                  <a:srgbClr val="434343"/>
                </a:solidFill>
              </a:rPr>
              <a:t> (=&gt;)</a:t>
            </a:r>
            <a:endParaRPr sz="1500">
              <a:solidFill>
                <a:srgbClr val="434343"/>
              </a:solidFill>
            </a:endParaRPr>
          </a:p>
          <a:p>
            <a:pPr indent="-323850" lvl="0" marL="1371600" rtl="0" algn="l">
              <a:spcBef>
                <a:spcPts val="0"/>
              </a:spcBef>
              <a:spcAft>
                <a:spcPts val="0"/>
              </a:spcAft>
              <a:buClr>
                <a:srgbClr val="434343"/>
              </a:buClr>
              <a:buSzPts val="1500"/>
              <a:buFont typeface="Arial"/>
              <a:buChar char="●"/>
            </a:pPr>
            <a:r>
              <a:rPr lang="fr" sz="1500">
                <a:solidFill>
                  <a:srgbClr val="434343"/>
                </a:solidFill>
              </a:rPr>
              <a:t>Du </a:t>
            </a:r>
            <a:r>
              <a:rPr b="1" lang="fr" sz="1500">
                <a:solidFill>
                  <a:srgbClr val="434343"/>
                </a:solidFill>
              </a:rPr>
              <a:t>template string</a:t>
            </a:r>
            <a:r>
              <a:rPr lang="fr" sz="1500">
                <a:solidFill>
                  <a:srgbClr val="434343"/>
                </a:solidFill>
              </a:rPr>
              <a:t> (`Texte ${variable}`)</a:t>
            </a:r>
            <a:endParaRPr sz="1500">
              <a:solidFill>
                <a:srgbClr val="434343"/>
              </a:solidFill>
            </a:endParaRPr>
          </a:p>
          <a:p>
            <a:pPr indent="-323850" lvl="0" marL="1371600" rtl="0" algn="l">
              <a:spcBef>
                <a:spcPts val="0"/>
              </a:spcBef>
              <a:spcAft>
                <a:spcPts val="0"/>
              </a:spcAft>
              <a:buClr>
                <a:srgbClr val="434343"/>
              </a:buClr>
              <a:buSzPts val="1500"/>
              <a:buFont typeface="Roboto"/>
              <a:buChar char="●"/>
            </a:pPr>
            <a:r>
              <a:rPr lang="fr" sz="1500">
                <a:solidFill>
                  <a:srgbClr val="434343"/>
                </a:solidFill>
              </a:rPr>
              <a:t>Etc…</a:t>
            </a:r>
            <a:endParaRPr sz="1500">
              <a:solidFill>
                <a:srgbClr val="434343"/>
              </a:solidFill>
            </a:endParaRPr>
          </a:p>
          <a:p>
            <a:pPr indent="0" lvl="0" marL="0" rtl="0" algn="l">
              <a:spcBef>
                <a:spcPts val="1200"/>
              </a:spcBef>
              <a:spcAft>
                <a:spcPts val="1200"/>
              </a:spcAft>
              <a:buNone/>
            </a:pPr>
            <a:r>
              <a:t/>
            </a:r>
            <a:endParaRPr sz="1300">
              <a:solidFill>
                <a:srgbClr val="434343"/>
              </a:solidFill>
            </a:endParaRPr>
          </a:p>
        </p:txBody>
      </p:sp>
      <p:pic>
        <p:nvPicPr>
          <p:cNvPr id="132" name="Google Shape;132;p20"/>
          <p:cNvPicPr preferRelativeResize="0"/>
          <p:nvPr/>
        </p:nvPicPr>
        <p:blipFill>
          <a:blip r:embed="rId3">
            <a:alphaModFix/>
          </a:blip>
          <a:stretch>
            <a:fillRect/>
          </a:stretch>
        </p:blipFill>
        <p:spPr>
          <a:xfrm>
            <a:off x="6810700" y="193025"/>
            <a:ext cx="2187026" cy="918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311700" y="102375"/>
            <a:ext cx="8520600" cy="88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a:t>
            </a:r>
            <a:endParaRPr/>
          </a:p>
          <a:p>
            <a:pPr indent="0" lvl="0" marL="0" rtl="0" algn="l">
              <a:spcBef>
                <a:spcPts val="0"/>
              </a:spcBef>
              <a:spcAft>
                <a:spcPts val="0"/>
              </a:spcAft>
              <a:buNone/>
            </a:pPr>
            <a:r>
              <a:rPr lang="fr"/>
              <a:t>JS côté navigateur vs JS côté serveur (Node.js)</a:t>
            </a:r>
            <a:endParaRPr/>
          </a:p>
        </p:txBody>
      </p:sp>
      <p:sp>
        <p:nvSpPr>
          <p:cNvPr id="138" name="Google Shape;138;p21"/>
          <p:cNvSpPr txBox="1"/>
          <p:nvPr>
            <p:ph idx="1" type="body"/>
          </p:nvPr>
        </p:nvSpPr>
        <p:spPr>
          <a:xfrm>
            <a:off x="311700" y="1111575"/>
            <a:ext cx="8520600" cy="345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fr" sz="1600">
                <a:solidFill>
                  <a:srgbClr val="434343"/>
                </a:solidFill>
              </a:rPr>
              <a:t>À l’origine, JavaScript était </a:t>
            </a:r>
            <a:r>
              <a:rPr b="1" lang="fr" sz="1600">
                <a:solidFill>
                  <a:srgbClr val="434343"/>
                </a:solidFill>
              </a:rPr>
              <a:t>exclusivement un langage interprété côté navigateur</a:t>
            </a:r>
            <a:r>
              <a:rPr lang="fr" sz="1600">
                <a:solidFill>
                  <a:srgbClr val="434343"/>
                </a:solidFill>
              </a:rPr>
              <a:t>.</a:t>
            </a:r>
            <a:br>
              <a:rPr lang="fr" sz="1600">
                <a:solidFill>
                  <a:srgbClr val="434343"/>
                </a:solidFill>
              </a:rPr>
            </a:br>
            <a:r>
              <a:rPr lang="fr" sz="1600">
                <a:solidFill>
                  <a:srgbClr val="434343"/>
                </a:solidFill>
              </a:rPr>
              <a:t> Aujourd’hui, il est aussi utilisé </a:t>
            </a:r>
            <a:r>
              <a:rPr b="1" lang="fr" sz="1600">
                <a:solidFill>
                  <a:srgbClr val="434343"/>
                </a:solidFill>
              </a:rPr>
              <a:t>côté serveur</a:t>
            </a:r>
            <a:r>
              <a:rPr lang="fr" sz="1600">
                <a:solidFill>
                  <a:srgbClr val="434343"/>
                </a:solidFill>
              </a:rPr>
              <a:t> grâce à </a:t>
            </a:r>
            <a:r>
              <a:rPr lang="fr" sz="1600" u="sng">
                <a:solidFill>
                  <a:schemeClr val="hlink"/>
                </a:solidFill>
                <a:hlinkClick r:id="rId3"/>
              </a:rPr>
              <a:t>Node</a:t>
            </a:r>
            <a:r>
              <a:rPr lang="fr" sz="1600" u="sng">
                <a:solidFill>
                  <a:schemeClr val="hlink"/>
                </a:solidFill>
                <a:hlinkClick r:id="rId4"/>
              </a:rPr>
              <a:t> JS</a:t>
            </a:r>
            <a:r>
              <a:rPr lang="fr" sz="1600">
                <a:solidFill>
                  <a:srgbClr val="434343"/>
                </a:solidFill>
              </a:rPr>
              <a:t>.</a:t>
            </a:r>
            <a:endParaRPr sz="1600">
              <a:solidFill>
                <a:srgbClr val="434343"/>
              </a:solidFill>
            </a:endParaRPr>
          </a:p>
          <a:p>
            <a:pPr indent="0" lvl="0" marL="0" rtl="0" algn="l">
              <a:spcBef>
                <a:spcPts val="1200"/>
              </a:spcBef>
              <a:spcAft>
                <a:spcPts val="0"/>
              </a:spcAft>
              <a:buNone/>
            </a:pPr>
            <a:r>
              <a:t/>
            </a:r>
            <a:endParaRPr sz="1600">
              <a:solidFill>
                <a:srgbClr val="434343"/>
              </a:solidFill>
            </a:endParaRPr>
          </a:p>
          <a:p>
            <a:pPr indent="0" lvl="0" marL="0" rtl="0" algn="l">
              <a:spcBef>
                <a:spcPts val="1200"/>
              </a:spcBef>
              <a:spcAft>
                <a:spcPts val="1200"/>
              </a:spcAft>
              <a:buNone/>
            </a:pPr>
            <a:r>
              <a:t/>
            </a:r>
            <a:endParaRPr sz="1600">
              <a:solidFill>
                <a:srgbClr val="434343"/>
              </a:solidFill>
            </a:endParaRPr>
          </a:p>
        </p:txBody>
      </p:sp>
      <p:pic>
        <p:nvPicPr>
          <p:cNvPr id="139" name="Google Shape;139;p21" title="frontend-vs-bancend.jpg"/>
          <p:cNvPicPr preferRelativeResize="0"/>
          <p:nvPr/>
        </p:nvPicPr>
        <p:blipFill>
          <a:blip r:embed="rId5">
            <a:alphaModFix/>
          </a:blip>
          <a:stretch>
            <a:fillRect/>
          </a:stretch>
        </p:blipFill>
        <p:spPr>
          <a:xfrm>
            <a:off x="1871302" y="2066350"/>
            <a:ext cx="5401401" cy="2702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311700" y="102375"/>
            <a:ext cx="8520600" cy="88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a:t>
            </a:r>
            <a:endParaRPr/>
          </a:p>
          <a:p>
            <a:pPr indent="0" lvl="0" marL="0" rtl="0" algn="l">
              <a:spcBef>
                <a:spcPts val="0"/>
              </a:spcBef>
              <a:spcAft>
                <a:spcPts val="0"/>
              </a:spcAft>
              <a:buNone/>
            </a:pPr>
            <a:r>
              <a:rPr lang="fr"/>
              <a:t>JavaScript côté navigateur : Front-End</a:t>
            </a:r>
            <a:endParaRPr/>
          </a:p>
        </p:txBody>
      </p:sp>
      <p:sp>
        <p:nvSpPr>
          <p:cNvPr id="145" name="Google Shape;145;p22"/>
          <p:cNvSpPr txBox="1"/>
          <p:nvPr>
            <p:ph idx="1" type="body"/>
          </p:nvPr>
        </p:nvSpPr>
        <p:spPr>
          <a:xfrm>
            <a:off x="311700" y="1111575"/>
            <a:ext cx="8520600" cy="345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fr" sz="1600">
                <a:solidFill>
                  <a:srgbClr val="434343"/>
                </a:solidFill>
              </a:rPr>
              <a:t>Il permet de :</a:t>
            </a:r>
            <a:endParaRPr sz="1600">
              <a:solidFill>
                <a:srgbClr val="434343"/>
              </a:solidFill>
            </a:endParaRPr>
          </a:p>
          <a:p>
            <a:pPr indent="-330200" lvl="0" marL="457200" rtl="0" algn="l">
              <a:spcBef>
                <a:spcPts val="1200"/>
              </a:spcBef>
              <a:spcAft>
                <a:spcPts val="0"/>
              </a:spcAft>
              <a:buClr>
                <a:srgbClr val="434343"/>
              </a:buClr>
              <a:buSzPts val="1600"/>
              <a:buChar char="●"/>
            </a:pPr>
            <a:r>
              <a:rPr lang="fr" sz="1600">
                <a:solidFill>
                  <a:srgbClr val="434343"/>
                </a:solidFill>
              </a:rPr>
              <a:t>Manipuler le DOM (Document Object Model)</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Gérer les événements utilisateurs</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Réaliser des requêtes </a:t>
            </a:r>
            <a:r>
              <a:rPr lang="fr" sz="1600" u="sng">
                <a:solidFill>
                  <a:schemeClr val="hlink"/>
                </a:solidFill>
                <a:hlinkClick r:id="rId3"/>
              </a:rPr>
              <a:t>AJAX</a:t>
            </a:r>
            <a:r>
              <a:rPr lang="fr" sz="1600">
                <a:solidFill>
                  <a:srgbClr val="434343"/>
                </a:solidFill>
              </a:rPr>
              <a:t> ou </a:t>
            </a:r>
            <a:r>
              <a:rPr lang="fr" sz="1600" u="sng">
                <a:solidFill>
                  <a:schemeClr val="hlink"/>
                </a:solidFill>
                <a:hlinkClick r:id="rId4"/>
              </a:rPr>
              <a:t>Fetch</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Animer la page</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Interagir avec l’API du navigateur (géolocalisation, stockage, canvas…).</a:t>
            </a:r>
            <a:endParaRPr sz="1600">
              <a:solidFill>
                <a:srgbClr val="434343"/>
              </a:solidFill>
            </a:endParaRPr>
          </a:p>
          <a:p>
            <a:pPr indent="0" lvl="0" marL="0" rtl="0" algn="l">
              <a:spcBef>
                <a:spcPts val="1200"/>
              </a:spcBef>
              <a:spcAft>
                <a:spcPts val="0"/>
              </a:spcAft>
              <a:buNone/>
            </a:pPr>
            <a:r>
              <a:rPr lang="fr" sz="1600">
                <a:solidFill>
                  <a:srgbClr val="434343"/>
                </a:solidFill>
              </a:rPr>
              <a:t>Il est exécuté par le moteur JavaScript intégré au navigateur :</a:t>
            </a:r>
            <a:endParaRPr sz="1600">
              <a:solidFill>
                <a:srgbClr val="434343"/>
              </a:solidFill>
            </a:endParaRPr>
          </a:p>
          <a:p>
            <a:pPr indent="-330200" lvl="0" marL="457200" rtl="0" algn="l">
              <a:spcBef>
                <a:spcPts val="1200"/>
              </a:spcBef>
              <a:spcAft>
                <a:spcPts val="0"/>
              </a:spcAft>
              <a:buClr>
                <a:srgbClr val="434343"/>
              </a:buClr>
              <a:buSzPts val="1600"/>
              <a:buChar char="●"/>
            </a:pPr>
            <a:r>
              <a:rPr lang="fr" sz="1600">
                <a:solidFill>
                  <a:srgbClr val="434343"/>
                </a:solidFill>
              </a:rPr>
              <a:t>V8 (Chrome, Edge)</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SpiderMonkey (Firefox)</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JavaScriptCore (Safari).</a:t>
            </a:r>
            <a:endParaRPr sz="1600">
              <a:solidFill>
                <a:srgbClr val="43434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311700" y="48750"/>
            <a:ext cx="8520600" cy="88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a:t>
            </a:r>
            <a:endParaRPr/>
          </a:p>
          <a:p>
            <a:pPr indent="0" lvl="0" marL="0" rtl="0" algn="l">
              <a:spcBef>
                <a:spcPts val="0"/>
              </a:spcBef>
              <a:spcAft>
                <a:spcPts val="0"/>
              </a:spcAft>
              <a:buNone/>
            </a:pPr>
            <a:r>
              <a:rPr lang="fr"/>
              <a:t>JavaScript côté serveur : Backend avec Node.js</a:t>
            </a:r>
            <a:endParaRPr/>
          </a:p>
        </p:txBody>
      </p:sp>
      <p:sp>
        <p:nvSpPr>
          <p:cNvPr id="151" name="Google Shape;151;p23"/>
          <p:cNvSpPr txBox="1"/>
          <p:nvPr>
            <p:ph idx="1" type="body"/>
          </p:nvPr>
        </p:nvSpPr>
        <p:spPr>
          <a:xfrm>
            <a:off x="311700" y="1028700"/>
            <a:ext cx="8520600" cy="345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fr" sz="1600">
                <a:solidFill>
                  <a:srgbClr val="434343"/>
                </a:solidFill>
              </a:rPr>
              <a:t>Node.js (2009) permet d’exécuter JavaScript </a:t>
            </a:r>
            <a:r>
              <a:rPr b="1" lang="fr" sz="1600">
                <a:solidFill>
                  <a:srgbClr val="434343"/>
                </a:solidFill>
              </a:rPr>
              <a:t>en dehors du navigateur</a:t>
            </a:r>
            <a:r>
              <a:rPr lang="fr" sz="1600">
                <a:solidFill>
                  <a:srgbClr val="434343"/>
                </a:solidFill>
              </a:rPr>
              <a:t>, dans un environnement serveur.</a:t>
            </a:r>
            <a:endParaRPr sz="1600">
              <a:solidFill>
                <a:srgbClr val="434343"/>
              </a:solidFill>
            </a:endParaRPr>
          </a:p>
          <a:p>
            <a:pPr indent="0" lvl="0" marL="0" rtl="0" algn="l">
              <a:spcBef>
                <a:spcPts val="1200"/>
              </a:spcBef>
              <a:spcAft>
                <a:spcPts val="0"/>
              </a:spcAft>
              <a:buNone/>
            </a:pPr>
            <a:r>
              <a:rPr lang="fr" sz="1600">
                <a:solidFill>
                  <a:srgbClr val="434343"/>
                </a:solidFill>
              </a:rPr>
              <a:t>Avec Node.js, on peut :</a:t>
            </a:r>
            <a:endParaRPr sz="1600">
              <a:solidFill>
                <a:srgbClr val="434343"/>
              </a:solidFill>
            </a:endParaRPr>
          </a:p>
          <a:p>
            <a:pPr indent="-330200" lvl="0" marL="457200" rtl="0" algn="l">
              <a:spcBef>
                <a:spcPts val="1200"/>
              </a:spcBef>
              <a:spcAft>
                <a:spcPts val="0"/>
              </a:spcAft>
              <a:buClr>
                <a:srgbClr val="434343"/>
              </a:buClr>
              <a:buSzPts val="1600"/>
              <a:buFont typeface="Roboto"/>
              <a:buChar char="●"/>
            </a:pPr>
            <a:r>
              <a:rPr lang="fr" sz="1600">
                <a:solidFill>
                  <a:srgbClr val="434343"/>
                </a:solidFill>
              </a:rPr>
              <a:t>Créer des serveurs web,</a:t>
            </a:r>
            <a:endParaRPr sz="1600">
              <a:solidFill>
                <a:srgbClr val="434343"/>
              </a:solidFill>
            </a:endParaRPr>
          </a:p>
          <a:p>
            <a:pPr indent="-330200" lvl="0" marL="457200" rtl="0" algn="l">
              <a:spcBef>
                <a:spcPts val="0"/>
              </a:spcBef>
              <a:spcAft>
                <a:spcPts val="0"/>
              </a:spcAft>
              <a:buClr>
                <a:srgbClr val="434343"/>
              </a:buClr>
              <a:buSzPts val="1600"/>
              <a:buFont typeface="Roboto"/>
              <a:buChar char="●"/>
            </a:pPr>
            <a:r>
              <a:rPr lang="fr" sz="1600">
                <a:solidFill>
                  <a:srgbClr val="434343"/>
                </a:solidFill>
              </a:rPr>
              <a:t>Gérer des bases de données,</a:t>
            </a:r>
            <a:endParaRPr sz="1600">
              <a:solidFill>
                <a:srgbClr val="434343"/>
              </a:solidFill>
            </a:endParaRPr>
          </a:p>
          <a:p>
            <a:pPr indent="-330200" lvl="0" marL="457200" rtl="0" algn="l">
              <a:spcBef>
                <a:spcPts val="0"/>
              </a:spcBef>
              <a:spcAft>
                <a:spcPts val="0"/>
              </a:spcAft>
              <a:buClr>
                <a:srgbClr val="434343"/>
              </a:buClr>
              <a:buSzPts val="1600"/>
              <a:buFont typeface="Roboto"/>
              <a:buChar char="●"/>
            </a:pPr>
            <a:r>
              <a:rPr lang="fr" sz="1600">
                <a:solidFill>
                  <a:srgbClr val="434343"/>
                </a:solidFill>
              </a:rPr>
              <a:t>Construire des API,</a:t>
            </a:r>
            <a:endParaRPr sz="1600">
              <a:solidFill>
                <a:srgbClr val="434343"/>
              </a:solidFill>
            </a:endParaRPr>
          </a:p>
          <a:p>
            <a:pPr indent="-330200" lvl="0" marL="457200" rtl="0" algn="l">
              <a:spcBef>
                <a:spcPts val="0"/>
              </a:spcBef>
              <a:spcAft>
                <a:spcPts val="0"/>
              </a:spcAft>
              <a:buClr>
                <a:srgbClr val="434343"/>
              </a:buClr>
              <a:buSzPts val="1600"/>
              <a:buFont typeface="Roboto"/>
              <a:buChar char="●"/>
            </a:pPr>
            <a:r>
              <a:rPr lang="fr" sz="1600">
                <a:solidFill>
                  <a:srgbClr val="434343"/>
                </a:solidFill>
              </a:rPr>
              <a:t>Automatiser des tâches,</a:t>
            </a:r>
            <a:endParaRPr sz="1600">
              <a:solidFill>
                <a:srgbClr val="434343"/>
              </a:solidFill>
            </a:endParaRPr>
          </a:p>
          <a:p>
            <a:pPr indent="-330200" lvl="0" marL="457200" rtl="0" algn="l">
              <a:spcBef>
                <a:spcPts val="0"/>
              </a:spcBef>
              <a:spcAft>
                <a:spcPts val="0"/>
              </a:spcAft>
              <a:buClr>
                <a:srgbClr val="434343"/>
              </a:buClr>
              <a:buSzPts val="1600"/>
              <a:buFont typeface="Roboto"/>
              <a:buChar char="●"/>
            </a:pPr>
            <a:r>
              <a:rPr lang="fr" sz="1600">
                <a:solidFill>
                  <a:srgbClr val="434343"/>
                </a:solidFill>
              </a:rPr>
              <a:t>Utiliser des outils de build (npm, Vite, Webpack…).</a:t>
            </a:r>
            <a:endParaRPr sz="1600">
              <a:solidFill>
                <a:srgbClr val="434343"/>
              </a:solidFill>
            </a:endParaRPr>
          </a:p>
          <a:p>
            <a:pPr indent="0" lvl="0" marL="0" rtl="0" algn="l">
              <a:spcBef>
                <a:spcPts val="1200"/>
              </a:spcBef>
              <a:spcAft>
                <a:spcPts val="0"/>
              </a:spcAft>
              <a:buNone/>
            </a:pPr>
            <a:r>
              <a:rPr lang="fr" sz="1600">
                <a:solidFill>
                  <a:srgbClr val="434343"/>
                </a:solidFill>
              </a:rPr>
              <a:t>C’est grâce à Node.js que JavaScript est devenu un langage </a:t>
            </a:r>
            <a:r>
              <a:rPr b="1" lang="fr" sz="1600" u="sng">
                <a:solidFill>
                  <a:schemeClr val="hlink"/>
                </a:solidFill>
                <a:hlinkClick r:id="rId3"/>
              </a:rPr>
              <a:t>full-stack</a:t>
            </a:r>
            <a:r>
              <a:rPr lang="fr" sz="1600">
                <a:solidFill>
                  <a:srgbClr val="434343"/>
                </a:solidFill>
              </a:rPr>
              <a:t>,</a:t>
            </a:r>
            <a:endParaRPr sz="1600">
              <a:solidFill>
                <a:srgbClr val="434343"/>
              </a:solidFill>
            </a:endParaRPr>
          </a:p>
          <a:p>
            <a:pPr indent="0" lvl="0" marL="0" rtl="0" algn="l">
              <a:spcBef>
                <a:spcPts val="1200"/>
              </a:spcBef>
              <a:spcAft>
                <a:spcPts val="1200"/>
              </a:spcAft>
              <a:buNone/>
            </a:pPr>
            <a:r>
              <a:rPr lang="fr" sz="1600">
                <a:solidFill>
                  <a:srgbClr val="434343"/>
                </a:solidFill>
              </a:rPr>
              <a:t>c’est-à-dire utilisé sur tout le cycle de développement web.</a:t>
            </a:r>
            <a:endParaRPr sz="1600">
              <a:solidFill>
                <a:srgbClr val="43434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311700" y="102375"/>
            <a:ext cx="8520600" cy="88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a:t>
            </a:r>
            <a:endParaRPr/>
          </a:p>
          <a:p>
            <a:pPr indent="0" lvl="0" marL="0" rtl="0" algn="l">
              <a:spcBef>
                <a:spcPts val="0"/>
              </a:spcBef>
              <a:spcAft>
                <a:spcPts val="0"/>
              </a:spcAft>
              <a:buNone/>
            </a:pPr>
            <a:r>
              <a:rPr lang="fr"/>
              <a:t>Où s’exécute JavaScript - Intégration dans HTML</a:t>
            </a:r>
            <a:endParaRPr/>
          </a:p>
        </p:txBody>
      </p:sp>
      <p:sp>
        <p:nvSpPr>
          <p:cNvPr id="157" name="Google Shape;157;p24"/>
          <p:cNvSpPr txBox="1"/>
          <p:nvPr>
            <p:ph idx="1" type="body"/>
          </p:nvPr>
        </p:nvSpPr>
        <p:spPr>
          <a:xfrm>
            <a:off x="311700" y="1111575"/>
            <a:ext cx="8520600" cy="345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fr" sz="1600">
                <a:solidFill>
                  <a:srgbClr val="434343"/>
                </a:solidFill>
                <a:latin typeface="Arial"/>
                <a:ea typeface="Arial"/>
                <a:cs typeface="Arial"/>
                <a:sym typeface="Arial"/>
              </a:rPr>
              <a:t>JavaScript peut donc s’exécuter directement dans :</a:t>
            </a:r>
            <a:endParaRPr sz="1600">
              <a:solidFill>
                <a:srgbClr val="434343"/>
              </a:solidFill>
              <a:latin typeface="Arial"/>
              <a:ea typeface="Arial"/>
              <a:cs typeface="Arial"/>
              <a:sym typeface="Arial"/>
            </a:endParaRPr>
          </a:p>
          <a:p>
            <a:pPr indent="-330200" lvl="0" marL="457200" rtl="0" algn="l">
              <a:spcBef>
                <a:spcPts val="1200"/>
              </a:spcBef>
              <a:spcAft>
                <a:spcPts val="0"/>
              </a:spcAft>
              <a:buClr>
                <a:srgbClr val="434343"/>
              </a:buClr>
              <a:buSzPts val="1600"/>
              <a:buFont typeface="Arial"/>
              <a:buChar char="●"/>
            </a:pPr>
            <a:r>
              <a:rPr lang="fr" sz="1600">
                <a:solidFill>
                  <a:srgbClr val="434343"/>
                </a:solidFill>
                <a:latin typeface="Arial"/>
                <a:ea typeface="Arial"/>
                <a:cs typeface="Arial"/>
                <a:sym typeface="Arial"/>
              </a:rPr>
              <a:t>un navigateur</a:t>
            </a:r>
            <a:r>
              <a:rPr lang="fr" sz="1600">
                <a:solidFill>
                  <a:srgbClr val="434343"/>
                </a:solidFill>
                <a:latin typeface="Arial"/>
                <a:ea typeface="Arial"/>
                <a:cs typeface="Arial"/>
                <a:sym typeface="Arial"/>
              </a:rPr>
              <a:t>,</a:t>
            </a:r>
            <a:endParaRPr sz="1600">
              <a:solidFill>
                <a:srgbClr val="434343"/>
              </a:solidFill>
              <a:latin typeface="Arial"/>
              <a:ea typeface="Arial"/>
              <a:cs typeface="Arial"/>
              <a:sym typeface="Arial"/>
            </a:endParaRPr>
          </a:p>
          <a:p>
            <a:pPr indent="-330200" lvl="0" marL="457200" rtl="0" algn="l">
              <a:spcBef>
                <a:spcPts val="0"/>
              </a:spcBef>
              <a:spcAft>
                <a:spcPts val="0"/>
              </a:spcAft>
              <a:buClr>
                <a:srgbClr val="434343"/>
              </a:buClr>
              <a:buSzPts val="1600"/>
              <a:buFont typeface="Arial"/>
              <a:buChar char="●"/>
            </a:pPr>
            <a:r>
              <a:rPr lang="fr" sz="1600">
                <a:solidFill>
                  <a:srgbClr val="434343"/>
                </a:solidFill>
                <a:latin typeface="Arial"/>
                <a:ea typeface="Arial"/>
                <a:cs typeface="Arial"/>
                <a:sym typeface="Arial"/>
              </a:rPr>
              <a:t>un terminal (via Node.js),</a:t>
            </a:r>
            <a:endParaRPr sz="1600">
              <a:solidFill>
                <a:srgbClr val="434343"/>
              </a:solidFill>
              <a:latin typeface="Arial"/>
              <a:ea typeface="Arial"/>
              <a:cs typeface="Arial"/>
              <a:sym typeface="Arial"/>
            </a:endParaRPr>
          </a:p>
          <a:p>
            <a:pPr indent="-330200" lvl="0" marL="457200" rtl="0" algn="l">
              <a:spcBef>
                <a:spcPts val="0"/>
              </a:spcBef>
              <a:spcAft>
                <a:spcPts val="0"/>
              </a:spcAft>
              <a:buClr>
                <a:srgbClr val="434343"/>
              </a:buClr>
              <a:buSzPts val="1600"/>
              <a:buFont typeface="Arial"/>
              <a:buChar char="●"/>
            </a:pPr>
            <a:r>
              <a:rPr lang="fr" sz="1600">
                <a:solidFill>
                  <a:srgbClr val="434343"/>
                </a:solidFill>
                <a:latin typeface="Arial"/>
                <a:ea typeface="Arial"/>
                <a:cs typeface="Arial"/>
                <a:sym typeface="Arial"/>
              </a:rPr>
              <a:t>un outil en ligne (comme CodePen ou JSFiddle).</a:t>
            </a:r>
            <a:endParaRPr sz="1600">
              <a:solidFill>
                <a:srgbClr val="434343"/>
              </a:solidFill>
              <a:latin typeface="Arial"/>
              <a:ea typeface="Arial"/>
              <a:cs typeface="Arial"/>
              <a:sym typeface="Arial"/>
            </a:endParaRPr>
          </a:p>
          <a:p>
            <a:pPr indent="0" lvl="0" marL="0" rtl="0" algn="l">
              <a:spcBef>
                <a:spcPts val="1200"/>
              </a:spcBef>
              <a:spcAft>
                <a:spcPts val="0"/>
              </a:spcAft>
              <a:buNone/>
            </a:pPr>
            <a:r>
              <a:t/>
            </a:r>
            <a:endParaRPr sz="1600">
              <a:solidFill>
                <a:srgbClr val="434343"/>
              </a:solidFill>
              <a:latin typeface="Arial"/>
              <a:ea typeface="Arial"/>
              <a:cs typeface="Arial"/>
              <a:sym typeface="Arial"/>
            </a:endParaRPr>
          </a:p>
          <a:p>
            <a:pPr indent="0" lvl="0" marL="0" rtl="0" algn="l">
              <a:spcBef>
                <a:spcPts val="1400"/>
              </a:spcBef>
              <a:spcAft>
                <a:spcPts val="0"/>
              </a:spcAft>
              <a:buNone/>
            </a:pPr>
            <a:r>
              <a:rPr b="1" lang="fr" sz="1600">
                <a:solidFill>
                  <a:srgbClr val="434343"/>
                </a:solidFill>
                <a:latin typeface="Arial"/>
                <a:ea typeface="Arial"/>
                <a:cs typeface="Arial"/>
                <a:sym typeface="Arial"/>
              </a:rPr>
              <a:t>Dans une page HTML :</a:t>
            </a:r>
            <a:endParaRPr b="1" sz="1600">
              <a:solidFill>
                <a:srgbClr val="434343"/>
              </a:solidFill>
              <a:latin typeface="Arial"/>
              <a:ea typeface="Arial"/>
              <a:cs typeface="Arial"/>
              <a:sym typeface="Arial"/>
            </a:endParaRPr>
          </a:p>
          <a:p>
            <a:pPr indent="0" lvl="0" marL="0" rtl="0" algn="l">
              <a:spcBef>
                <a:spcPts val="1200"/>
              </a:spcBef>
              <a:spcAft>
                <a:spcPts val="0"/>
              </a:spcAft>
              <a:buNone/>
            </a:pPr>
            <a:r>
              <a:rPr lang="fr" sz="1600">
                <a:solidFill>
                  <a:srgbClr val="434343"/>
                </a:solidFill>
                <a:latin typeface="Arial"/>
                <a:ea typeface="Arial"/>
                <a:cs typeface="Arial"/>
                <a:sym typeface="Arial"/>
              </a:rPr>
              <a:t>Il existe deux manières principales d’inclure du JavaScript dans une page HTML afin de l’exécuter dans un navigateur.</a:t>
            </a:r>
            <a:endParaRPr sz="1600">
              <a:solidFill>
                <a:srgbClr val="434343"/>
              </a:solidFill>
              <a:latin typeface="Arial"/>
              <a:ea typeface="Arial"/>
              <a:cs typeface="Arial"/>
              <a:sym typeface="Arial"/>
            </a:endParaRPr>
          </a:p>
          <a:p>
            <a:pPr indent="0" lvl="0" marL="0" rtl="0" algn="l">
              <a:spcBef>
                <a:spcPts val="1200"/>
              </a:spcBef>
              <a:spcAft>
                <a:spcPts val="1200"/>
              </a:spcAft>
              <a:buNone/>
            </a:pPr>
            <a:r>
              <a:t/>
            </a:r>
            <a:endParaRPr sz="160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title"/>
          </p:nvPr>
        </p:nvSpPr>
        <p:spPr>
          <a:xfrm>
            <a:off x="311700" y="102375"/>
            <a:ext cx="8520600" cy="88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a:t>
            </a:r>
            <a:endParaRPr/>
          </a:p>
          <a:p>
            <a:pPr indent="0" lvl="0" marL="0" rtl="0" algn="l">
              <a:spcBef>
                <a:spcPts val="0"/>
              </a:spcBef>
              <a:spcAft>
                <a:spcPts val="0"/>
              </a:spcAft>
              <a:buNone/>
            </a:pPr>
            <a:r>
              <a:rPr lang="fr"/>
              <a:t>Où s’exécute JavaScript - Script interne dans HTML</a:t>
            </a:r>
            <a:endParaRPr/>
          </a:p>
        </p:txBody>
      </p:sp>
      <p:sp>
        <p:nvSpPr>
          <p:cNvPr id="163" name="Google Shape;163;p25"/>
          <p:cNvSpPr txBox="1"/>
          <p:nvPr>
            <p:ph idx="1" type="body"/>
          </p:nvPr>
        </p:nvSpPr>
        <p:spPr>
          <a:xfrm>
            <a:off x="311700" y="1404050"/>
            <a:ext cx="4236900" cy="345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fr" sz="1600">
                <a:solidFill>
                  <a:srgbClr val="434343"/>
                </a:solidFill>
                <a:latin typeface="Arial"/>
                <a:ea typeface="Arial"/>
                <a:cs typeface="Arial"/>
                <a:sym typeface="Arial"/>
              </a:rPr>
              <a:t>On peut directement exécuter du code JavaScript dans une page HTML en l’insérant dans une balise </a:t>
            </a:r>
            <a:r>
              <a:rPr b="1" i="1" lang="fr" sz="1600">
                <a:solidFill>
                  <a:srgbClr val="434343"/>
                </a:solidFill>
                <a:latin typeface="Arial"/>
                <a:ea typeface="Arial"/>
                <a:cs typeface="Arial"/>
                <a:sym typeface="Arial"/>
              </a:rPr>
              <a:t>&lt;script&gt;</a:t>
            </a:r>
            <a:r>
              <a:rPr lang="fr" sz="1600">
                <a:solidFill>
                  <a:srgbClr val="434343"/>
                </a:solidFill>
                <a:latin typeface="Arial"/>
                <a:ea typeface="Arial"/>
                <a:cs typeface="Arial"/>
                <a:sym typeface="Arial"/>
              </a:rPr>
              <a:t>.</a:t>
            </a:r>
            <a:endParaRPr sz="1600">
              <a:solidFill>
                <a:srgbClr val="434343"/>
              </a:solidFill>
              <a:latin typeface="Arial"/>
              <a:ea typeface="Arial"/>
              <a:cs typeface="Arial"/>
              <a:sym typeface="Arial"/>
            </a:endParaRPr>
          </a:p>
          <a:p>
            <a:pPr indent="0" lvl="0" marL="0" rtl="0" algn="l">
              <a:spcBef>
                <a:spcPts val="1200"/>
              </a:spcBef>
              <a:spcAft>
                <a:spcPts val="0"/>
              </a:spcAft>
              <a:buNone/>
            </a:pPr>
            <a:r>
              <a:rPr lang="fr" sz="1600">
                <a:solidFill>
                  <a:srgbClr val="434343"/>
                </a:solidFill>
                <a:latin typeface="Arial"/>
                <a:ea typeface="Arial"/>
                <a:cs typeface="Arial"/>
                <a:sym typeface="Arial"/>
              </a:rPr>
              <a:t>Cette méthode est essentiellement utilisée pour des scripts courts ou des tests rapides.</a:t>
            </a:r>
            <a:endParaRPr sz="1600">
              <a:solidFill>
                <a:srgbClr val="434343"/>
              </a:solidFill>
              <a:latin typeface="Arial"/>
              <a:ea typeface="Arial"/>
              <a:cs typeface="Arial"/>
              <a:sym typeface="Arial"/>
            </a:endParaRPr>
          </a:p>
          <a:p>
            <a:pPr indent="0" lvl="0" marL="0" rtl="0" algn="l">
              <a:spcBef>
                <a:spcPts val="1200"/>
              </a:spcBef>
              <a:spcAft>
                <a:spcPts val="1200"/>
              </a:spcAft>
              <a:buNone/>
            </a:pPr>
            <a:r>
              <a:t/>
            </a:r>
            <a:endParaRPr sz="1600">
              <a:solidFill>
                <a:srgbClr val="000000"/>
              </a:solidFill>
              <a:latin typeface="Arial"/>
              <a:ea typeface="Arial"/>
              <a:cs typeface="Arial"/>
              <a:sym typeface="Arial"/>
            </a:endParaRPr>
          </a:p>
        </p:txBody>
      </p:sp>
      <p:pic>
        <p:nvPicPr>
          <p:cNvPr id="164" name="Google Shape;164;p25"/>
          <p:cNvPicPr preferRelativeResize="0"/>
          <p:nvPr/>
        </p:nvPicPr>
        <p:blipFill>
          <a:blip r:embed="rId3">
            <a:alphaModFix/>
          </a:blip>
          <a:stretch>
            <a:fillRect/>
          </a:stretch>
        </p:blipFill>
        <p:spPr>
          <a:xfrm>
            <a:off x="4730802" y="1404050"/>
            <a:ext cx="4413200" cy="349413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311700" y="102375"/>
            <a:ext cx="8520600" cy="88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a:t>
            </a:r>
            <a:endParaRPr/>
          </a:p>
          <a:p>
            <a:pPr indent="0" lvl="0" marL="0" rtl="0" algn="l">
              <a:spcBef>
                <a:spcPts val="0"/>
              </a:spcBef>
              <a:spcAft>
                <a:spcPts val="0"/>
              </a:spcAft>
              <a:buNone/>
            </a:pPr>
            <a:r>
              <a:rPr lang="fr"/>
              <a:t>Où s’exécute JavaScript - Script externe (fichier .js)</a:t>
            </a:r>
            <a:endParaRPr/>
          </a:p>
        </p:txBody>
      </p:sp>
      <p:sp>
        <p:nvSpPr>
          <p:cNvPr id="170" name="Google Shape;170;p26"/>
          <p:cNvSpPr txBox="1"/>
          <p:nvPr>
            <p:ph idx="1" type="body"/>
          </p:nvPr>
        </p:nvSpPr>
        <p:spPr>
          <a:xfrm>
            <a:off x="311700" y="1111575"/>
            <a:ext cx="4817100" cy="345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fr" sz="1600">
                <a:solidFill>
                  <a:srgbClr val="434343"/>
                </a:solidFill>
              </a:rPr>
              <a:t>Il est également possible d’exécuter du code JS stocké dans un fichier </a:t>
            </a:r>
            <a:r>
              <a:rPr b="1" lang="fr" sz="1600">
                <a:solidFill>
                  <a:srgbClr val="434343"/>
                </a:solidFill>
              </a:rPr>
              <a:t>.js</a:t>
            </a:r>
            <a:r>
              <a:rPr lang="fr" sz="1600">
                <a:solidFill>
                  <a:srgbClr val="434343"/>
                </a:solidFill>
              </a:rPr>
              <a:t> en passant le chemin de ce fichier dans l’attribut </a:t>
            </a:r>
            <a:r>
              <a:rPr b="1" lang="fr" sz="1600">
                <a:solidFill>
                  <a:srgbClr val="434343"/>
                </a:solidFill>
              </a:rPr>
              <a:t>src </a:t>
            </a:r>
            <a:r>
              <a:rPr lang="fr" sz="1600">
                <a:solidFill>
                  <a:srgbClr val="434343"/>
                </a:solidFill>
              </a:rPr>
              <a:t>de la balise </a:t>
            </a:r>
            <a:r>
              <a:rPr b="1" i="1" lang="fr" sz="1600">
                <a:solidFill>
                  <a:srgbClr val="434343"/>
                </a:solidFill>
              </a:rPr>
              <a:t>&lt;script&gt;</a:t>
            </a:r>
            <a:endParaRPr b="1" i="1" sz="1600">
              <a:solidFill>
                <a:srgbClr val="434343"/>
              </a:solidFill>
            </a:endParaRPr>
          </a:p>
          <a:p>
            <a:pPr indent="0" lvl="0" marL="0" rtl="0" algn="l">
              <a:spcBef>
                <a:spcPts val="1200"/>
              </a:spcBef>
              <a:spcAft>
                <a:spcPts val="0"/>
              </a:spcAft>
              <a:buNone/>
            </a:pPr>
            <a:r>
              <a:rPr lang="fr" sz="1600">
                <a:solidFill>
                  <a:srgbClr val="434343"/>
                </a:solidFill>
              </a:rPr>
              <a:t>C’est la méthode </a:t>
            </a:r>
            <a:r>
              <a:rPr b="1" lang="fr" sz="1600">
                <a:solidFill>
                  <a:srgbClr val="434343"/>
                </a:solidFill>
              </a:rPr>
              <a:t>recommandée</a:t>
            </a:r>
            <a:r>
              <a:rPr lang="fr" sz="1600">
                <a:solidFill>
                  <a:srgbClr val="434343"/>
                </a:solidFill>
              </a:rPr>
              <a:t> :</a:t>
            </a:r>
            <a:endParaRPr sz="1600">
              <a:solidFill>
                <a:srgbClr val="434343"/>
              </a:solidFill>
            </a:endParaRPr>
          </a:p>
          <a:p>
            <a:pPr indent="-330200" lvl="0" marL="457200" rtl="0" algn="l">
              <a:spcBef>
                <a:spcPts val="1200"/>
              </a:spcBef>
              <a:spcAft>
                <a:spcPts val="0"/>
              </a:spcAft>
              <a:buClr>
                <a:srgbClr val="434343"/>
              </a:buClr>
              <a:buSzPts val="1600"/>
              <a:buFont typeface="Roboto"/>
              <a:buChar char="●"/>
            </a:pPr>
            <a:r>
              <a:rPr lang="fr" sz="1600">
                <a:solidFill>
                  <a:srgbClr val="434343"/>
                </a:solidFill>
              </a:rPr>
              <a:t>Meilleure organisation</a:t>
            </a:r>
            <a:endParaRPr sz="1600">
              <a:solidFill>
                <a:srgbClr val="434343"/>
              </a:solidFill>
            </a:endParaRPr>
          </a:p>
          <a:p>
            <a:pPr indent="-330200" lvl="0" marL="457200" rtl="0" algn="l">
              <a:spcBef>
                <a:spcPts val="0"/>
              </a:spcBef>
              <a:spcAft>
                <a:spcPts val="0"/>
              </a:spcAft>
              <a:buClr>
                <a:srgbClr val="434343"/>
              </a:buClr>
              <a:buSzPts val="1600"/>
              <a:buFont typeface="Roboto"/>
              <a:buChar char="●"/>
            </a:pPr>
            <a:r>
              <a:rPr lang="fr" sz="1600">
                <a:solidFill>
                  <a:srgbClr val="434343"/>
                </a:solidFill>
              </a:rPr>
              <a:t>Meilleure maintenance</a:t>
            </a:r>
            <a:endParaRPr sz="1600">
              <a:solidFill>
                <a:srgbClr val="434343"/>
              </a:solidFill>
            </a:endParaRPr>
          </a:p>
          <a:p>
            <a:pPr indent="-330200" lvl="0" marL="457200" rtl="0" algn="l">
              <a:spcBef>
                <a:spcPts val="0"/>
              </a:spcBef>
              <a:spcAft>
                <a:spcPts val="0"/>
              </a:spcAft>
              <a:buClr>
                <a:srgbClr val="434343"/>
              </a:buClr>
              <a:buSzPts val="1600"/>
              <a:buFont typeface="Roboto"/>
              <a:buChar char="●"/>
            </a:pPr>
            <a:r>
              <a:rPr lang="fr" sz="1600">
                <a:solidFill>
                  <a:srgbClr val="434343"/>
                </a:solidFill>
              </a:rPr>
              <a:t>Chargement optimisé</a:t>
            </a:r>
            <a:endParaRPr sz="1600">
              <a:solidFill>
                <a:srgbClr val="434343"/>
              </a:solidFill>
            </a:endParaRPr>
          </a:p>
          <a:p>
            <a:pPr indent="0" lvl="0" marL="0" rtl="0" algn="l">
              <a:spcBef>
                <a:spcPts val="1200"/>
              </a:spcBef>
              <a:spcAft>
                <a:spcPts val="0"/>
              </a:spcAft>
              <a:buNone/>
            </a:pPr>
            <a:r>
              <a:t/>
            </a:r>
            <a:endParaRPr sz="1300">
              <a:solidFill>
                <a:srgbClr val="434343"/>
              </a:solidFill>
              <a:latin typeface="Arial"/>
              <a:ea typeface="Arial"/>
              <a:cs typeface="Arial"/>
              <a:sym typeface="Arial"/>
            </a:endParaRPr>
          </a:p>
          <a:p>
            <a:pPr indent="0" lvl="0" marL="0" rtl="0" algn="l">
              <a:spcBef>
                <a:spcPts val="1200"/>
              </a:spcBef>
              <a:spcAft>
                <a:spcPts val="1200"/>
              </a:spcAft>
              <a:buNone/>
            </a:pPr>
            <a:r>
              <a:t/>
            </a:r>
            <a:endParaRPr sz="1600">
              <a:solidFill>
                <a:srgbClr val="000000"/>
              </a:solidFill>
              <a:latin typeface="Arial"/>
              <a:ea typeface="Arial"/>
              <a:cs typeface="Arial"/>
              <a:sym typeface="Arial"/>
            </a:endParaRPr>
          </a:p>
        </p:txBody>
      </p:sp>
      <p:pic>
        <p:nvPicPr>
          <p:cNvPr id="171" name="Google Shape;171;p26"/>
          <p:cNvPicPr preferRelativeResize="0"/>
          <p:nvPr/>
        </p:nvPicPr>
        <p:blipFill>
          <a:blip r:embed="rId3">
            <a:alphaModFix/>
          </a:blip>
          <a:stretch>
            <a:fillRect/>
          </a:stretch>
        </p:blipFill>
        <p:spPr>
          <a:xfrm>
            <a:off x="5001775" y="1111575"/>
            <a:ext cx="4142200" cy="1751408"/>
          </a:xfrm>
          <a:prstGeom prst="rect">
            <a:avLst/>
          </a:prstGeom>
          <a:noFill/>
          <a:ln>
            <a:noFill/>
          </a:ln>
        </p:spPr>
      </p:pic>
      <p:pic>
        <p:nvPicPr>
          <p:cNvPr id="172" name="Google Shape;172;p26"/>
          <p:cNvPicPr preferRelativeResize="0"/>
          <p:nvPr/>
        </p:nvPicPr>
        <p:blipFill>
          <a:blip r:embed="rId4">
            <a:alphaModFix/>
          </a:blip>
          <a:stretch>
            <a:fillRect/>
          </a:stretch>
        </p:blipFill>
        <p:spPr>
          <a:xfrm>
            <a:off x="5001763" y="2906875"/>
            <a:ext cx="4142225" cy="22366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311700" y="102375"/>
            <a:ext cx="8520600" cy="88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à JavaScript</a:t>
            </a:r>
            <a:endParaRPr/>
          </a:p>
          <a:p>
            <a:pPr indent="0" lvl="0" marL="0" rtl="0" algn="l">
              <a:spcBef>
                <a:spcPts val="0"/>
              </a:spcBef>
              <a:spcAft>
                <a:spcPts val="0"/>
              </a:spcAft>
              <a:buNone/>
            </a:pPr>
            <a:r>
              <a:rPr lang="fr"/>
              <a:t>Où s’exécute JavaScript - L’ordre compte !</a:t>
            </a:r>
            <a:endParaRPr/>
          </a:p>
        </p:txBody>
      </p:sp>
      <p:sp>
        <p:nvSpPr>
          <p:cNvPr id="178" name="Google Shape;178;p27"/>
          <p:cNvSpPr txBox="1"/>
          <p:nvPr>
            <p:ph idx="1" type="body"/>
          </p:nvPr>
        </p:nvSpPr>
        <p:spPr>
          <a:xfrm>
            <a:off x="311700" y="1111575"/>
            <a:ext cx="8463900" cy="3457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fr" sz="1600">
                <a:solidFill>
                  <a:srgbClr val="434343"/>
                </a:solidFill>
              </a:rPr>
              <a:t>Position du script : head vs body</a:t>
            </a:r>
            <a:endParaRPr b="1" sz="1600">
              <a:solidFill>
                <a:srgbClr val="434343"/>
              </a:solidFill>
            </a:endParaRPr>
          </a:p>
          <a:p>
            <a:pPr indent="0" lvl="0" marL="0" rtl="0" algn="l">
              <a:spcBef>
                <a:spcPts val="1400"/>
              </a:spcBef>
              <a:spcAft>
                <a:spcPts val="0"/>
              </a:spcAft>
              <a:buNone/>
            </a:pPr>
            <a:r>
              <a:rPr lang="fr" sz="1600">
                <a:solidFill>
                  <a:srgbClr val="434343"/>
                </a:solidFill>
              </a:rPr>
              <a:t>Le placement de la balise</a:t>
            </a:r>
            <a:r>
              <a:rPr b="1" lang="fr" sz="1600">
                <a:solidFill>
                  <a:srgbClr val="434343"/>
                </a:solidFill>
              </a:rPr>
              <a:t> </a:t>
            </a:r>
            <a:r>
              <a:rPr b="1" i="1" lang="fr" sz="1600">
                <a:solidFill>
                  <a:srgbClr val="434343"/>
                </a:solidFill>
              </a:rPr>
              <a:t>&lt;script&gt;</a:t>
            </a:r>
            <a:r>
              <a:rPr b="1" lang="fr" sz="1600">
                <a:solidFill>
                  <a:srgbClr val="434343"/>
                </a:solidFill>
              </a:rPr>
              <a:t> </a:t>
            </a:r>
            <a:r>
              <a:rPr lang="fr" sz="1600">
                <a:solidFill>
                  <a:srgbClr val="434343"/>
                </a:solidFill>
              </a:rPr>
              <a:t>permettant d’exécuter du code JS doit être considérée pour s’assurer que notre script fonctionne correctement.</a:t>
            </a:r>
            <a:endParaRPr sz="1600">
              <a:solidFill>
                <a:srgbClr val="434343"/>
              </a:solidFill>
            </a:endParaRPr>
          </a:p>
          <a:p>
            <a:pPr indent="-330200" lvl="0" marL="457200" rtl="0" algn="l">
              <a:spcBef>
                <a:spcPts val="1200"/>
              </a:spcBef>
              <a:spcAft>
                <a:spcPts val="0"/>
              </a:spcAft>
              <a:buClr>
                <a:srgbClr val="434343"/>
              </a:buClr>
              <a:buSzPts val="1600"/>
              <a:buFont typeface="Arial"/>
              <a:buChar char="●"/>
            </a:pPr>
            <a:r>
              <a:rPr b="1" i="1" lang="fr" sz="1600">
                <a:solidFill>
                  <a:srgbClr val="434343"/>
                </a:solidFill>
              </a:rPr>
              <a:t>&lt;head&gt;</a:t>
            </a:r>
            <a:r>
              <a:rPr lang="fr" sz="1600">
                <a:solidFill>
                  <a:srgbClr val="434343"/>
                </a:solidFill>
              </a:rPr>
              <a:t> : script chargé au début → peut bloquer le rendu de la page.</a:t>
            </a:r>
            <a:endParaRPr sz="1600">
              <a:solidFill>
                <a:srgbClr val="434343"/>
              </a:solidFill>
            </a:endParaRPr>
          </a:p>
          <a:p>
            <a:pPr indent="-330200" lvl="0" marL="457200" rtl="0" algn="l">
              <a:spcBef>
                <a:spcPts val="0"/>
              </a:spcBef>
              <a:spcAft>
                <a:spcPts val="0"/>
              </a:spcAft>
              <a:buClr>
                <a:srgbClr val="434343"/>
              </a:buClr>
              <a:buSzPts val="1600"/>
              <a:buFont typeface="Arial"/>
              <a:buChar char="●"/>
            </a:pPr>
            <a:r>
              <a:rPr lang="fr" sz="1600">
                <a:solidFill>
                  <a:srgbClr val="434343"/>
                </a:solidFill>
              </a:rPr>
              <a:t>juste avant </a:t>
            </a:r>
            <a:r>
              <a:rPr b="1" i="1" lang="fr" sz="1600">
                <a:solidFill>
                  <a:srgbClr val="434343"/>
                </a:solidFill>
              </a:rPr>
              <a:t>&lt;/body&gt; </a:t>
            </a:r>
            <a:r>
              <a:rPr lang="fr" sz="1600">
                <a:solidFill>
                  <a:srgbClr val="434343"/>
                </a:solidFill>
              </a:rPr>
              <a:t>: scripts chargés après le code HTML → recommandé car non bloquant.</a:t>
            </a:r>
            <a:endParaRPr sz="1600">
              <a:solidFill>
                <a:srgbClr val="434343"/>
              </a:solidFill>
            </a:endParaRPr>
          </a:p>
          <a:p>
            <a:pPr indent="0" lvl="0" marL="0" rtl="0" algn="l">
              <a:spcBef>
                <a:spcPts val="1200"/>
              </a:spcBef>
              <a:spcAft>
                <a:spcPts val="0"/>
              </a:spcAft>
              <a:buNone/>
            </a:pPr>
            <a:r>
              <a:rPr lang="fr" sz="1600">
                <a:solidFill>
                  <a:srgbClr val="434343"/>
                </a:solidFill>
              </a:rPr>
              <a:t>On peut également utiliser l’attribut </a:t>
            </a:r>
            <a:r>
              <a:rPr b="1" lang="fr" sz="1600">
                <a:solidFill>
                  <a:srgbClr val="434343"/>
                </a:solidFill>
              </a:rPr>
              <a:t>defer, </a:t>
            </a:r>
            <a:r>
              <a:rPr lang="fr" sz="1600">
                <a:solidFill>
                  <a:srgbClr val="434343"/>
                </a:solidFill>
              </a:rPr>
              <a:t>qui permet d’exécuter le script après le chargement du code HTML, et ce même si la balise se trouve dans </a:t>
            </a:r>
            <a:r>
              <a:rPr b="1" i="1" lang="fr" sz="1600">
                <a:solidFill>
                  <a:srgbClr val="434343"/>
                </a:solidFill>
              </a:rPr>
              <a:t>&lt;head&gt;</a:t>
            </a:r>
            <a:r>
              <a:rPr lang="fr" sz="1600">
                <a:solidFill>
                  <a:srgbClr val="434343"/>
                </a:solidFill>
              </a:rPr>
              <a:t> :</a:t>
            </a:r>
            <a:endParaRPr sz="1600">
              <a:solidFill>
                <a:srgbClr val="434343"/>
              </a:solidFill>
            </a:endParaRPr>
          </a:p>
          <a:p>
            <a:pPr indent="0" lvl="0" marL="0" rtl="0" algn="l">
              <a:spcBef>
                <a:spcPts val="1200"/>
              </a:spcBef>
              <a:spcAft>
                <a:spcPts val="0"/>
              </a:spcAft>
              <a:buNone/>
            </a:pPr>
            <a:r>
              <a:t/>
            </a:r>
            <a:endParaRPr sz="1300">
              <a:solidFill>
                <a:srgbClr val="434343"/>
              </a:solidFill>
              <a:latin typeface="Arial"/>
              <a:ea typeface="Arial"/>
              <a:cs typeface="Arial"/>
              <a:sym typeface="Arial"/>
            </a:endParaRPr>
          </a:p>
          <a:p>
            <a:pPr indent="0" lvl="0" marL="0" rtl="0" algn="l">
              <a:spcBef>
                <a:spcPts val="1200"/>
              </a:spcBef>
              <a:spcAft>
                <a:spcPts val="1200"/>
              </a:spcAft>
              <a:buNone/>
            </a:pPr>
            <a:r>
              <a:t/>
            </a:r>
            <a:endParaRPr sz="1600">
              <a:solidFill>
                <a:srgbClr val="000000"/>
              </a:solidFill>
              <a:latin typeface="Arial"/>
              <a:ea typeface="Arial"/>
              <a:cs typeface="Arial"/>
              <a:sym typeface="Arial"/>
            </a:endParaRPr>
          </a:p>
        </p:txBody>
      </p:sp>
      <p:pic>
        <p:nvPicPr>
          <p:cNvPr id="179" name="Google Shape;179;p27"/>
          <p:cNvPicPr preferRelativeResize="0"/>
          <p:nvPr/>
        </p:nvPicPr>
        <p:blipFill>
          <a:blip r:embed="rId3">
            <a:alphaModFix/>
          </a:blip>
          <a:stretch>
            <a:fillRect/>
          </a:stretch>
        </p:blipFill>
        <p:spPr>
          <a:xfrm>
            <a:off x="311688" y="4097125"/>
            <a:ext cx="6994875" cy="426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r>
              <a:rPr lang="fr"/>
              <a:t> - Sommaire</a:t>
            </a:r>
            <a:endParaRPr/>
          </a:p>
        </p:txBody>
      </p:sp>
      <p:sp>
        <p:nvSpPr>
          <p:cNvPr id="185" name="Google Shape;185;p2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87350" lvl="0" marL="457200" rtl="0" algn="l">
              <a:spcBef>
                <a:spcPts val="0"/>
              </a:spcBef>
              <a:spcAft>
                <a:spcPts val="0"/>
              </a:spcAft>
              <a:buClr>
                <a:srgbClr val="434343"/>
              </a:buClr>
              <a:buSzPts val="2500"/>
              <a:buChar char="●"/>
            </a:pPr>
            <a:r>
              <a:rPr lang="fr">
                <a:solidFill>
                  <a:srgbClr val="434343"/>
                </a:solidFill>
              </a:rPr>
              <a:t>Variables (var, let, const)</a:t>
            </a:r>
            <a:endParaRPr>
              <a:solidFill>
                <a:srgbClr val="434343"/>
              </a:solidFill>
            </a:endParaRPr>
          </a:p>
          <a:p>
            <a:pPr indent="-387350" lvl="0" marL="457200" rtl="0" algn="l">
              <a:spcBef>
                <a:spcPts val="0"/>
              </a:spcBef>
              <a:spcAft>
                <a:spcPts val="0"/>
              </a:spcAft>
              <a:buClr>
                <a:srgbClr val="434343"/>
              </a:buClr>
              <a:buSzPts val="2500"/>
              <a:buChar char="●"/>
            </a:pPr>
            <a:r>
              <a:rPr lang="fr">
                <a:solidFill>
                  <a:srgbClr val="434343"/>
                </a:solidFill>
              </a:rPr>
              <a:t>Types de données primitifs</a:t>
            </a:r>
            <a:endParaRPr>
              <a:solidFill>
                <a:srgbClr val="434343"/>
              </a:solidFill>
            </a:endParaRPr>
          </a:p>
          <a:p>
            <a:pPr indent="-387350" lvl="0" marL="457200" rtl="0" algn="l">
              <a:spcBef>
                <a:spcPts val="0"/>
              </a:spcBef>
              <a:spcAft>
                <a:spcPts val="0"/>
              </a:spcAft>
              <a:buClr>
                <a:srgbClr val="434343"/>
              </a:buClr>
              <a:buSzPts val="2500"/>
              <a:buChar char="●"/>
            </a:pPr>
            <a:r>
              <a:rPr lang="fr">
                <a:solidFill>
                  <a:srgbClr val="434343"/>
                </a:solidFill>
              </a:rPr>
              <a:t>Opérateurs (arithmétiques, logiques, comparaison)</a:t>
            </a:r>
            <a:endParaRPr>
              <a:solidFill>
                <a:srgbClr val="434343"/>
              </a:solidFill>
            </a:endParaRPr>
          </a:p>
          <a:p>
            <a:pPr indent="-387350" lvl="0" marL="457200" rtl="0" algn="l">
              <a:spcBef>
                <a:spcPts val="0"/>
              </a:spcBef>
              <a:spcAft>
                <a:spcPts val="0"/>
              </a:spcAft>
              <a:buClr>
                <a:srgbClr val="434343"/>
              </a:buClr>
              <a:buSzPts val="2500"/>
              <a:buChar char="●"/>
            </a:pPr>
            <a:r>
              <a:rPr lang="fr">
                <a:solidFill>
                  <a:srgbClr val="434343"/>
                </a:solidFill>
              </a:rPr>
              <a:t>Structures de contrôle : if, switch, while, for</a:t>
            </a:r>
            <a:endParaRPr>
              <a:solidFill>
                <a:srgbClr val="434343"/>
              </a:solidFill>
            </a:endParaRPr>
          </a:p>
          <a:p>
            <a:pPr indent="-387350" lvl="0" marL="457200" rtl="0" algn="l">
              <a:spcBef>
                <a:spcPts val="0"/>
              </a:spcBef>
              <a:spcAft>
                <a:spcPts val="0"/>
              </a:spcAft>
              <a:buClr>
                <a:srgbClr val="434343"/>
              </a:buClr>
              <a:buSzPts val="2500"/>
              <a:buChar char="●"/>
            </a:pPr>
            <a:r>
              <a:rPr lang="fr">
                <a:solidFill>
                  <a:srgbClr val="434343"/>
                </a:solidFill>
              </a:rPr>
              <a:t>Tableaux et objets simples</a:t>
            </a:r>
            <a:endParaRPr sz="2500">
              <a:solidFill>
                <a:srgbClr val="43434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 - Sommaire</a:t>
            </a:r>
            <a:endParaRPr/>
          </a:p>
        </p:txBody>
      </p:sp>
      <p:sp>
        <p:nvSpPr>
          <p:cNvPr id="191" name="Google Shape;191;p2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solidFill>
                  <a:srgbClr val="434343"/>
                </a:solidFill>
              </a:rPr>
              <a:t>Ce chapitre présente les bases indispensables pour écrire du code JavaScript :</a:t>
            </a:r>
            <a:endParaRPr>
              <a:solidFill>
                <a:srgbClr val="434343"/>
              </a:solidFill>
            </a:endParaRPr>
          </a:p>
          <a:p>
            <a:pPr indent="-342900" lvl="0" marL="457200" rtl="0" algn="l">
              <a:spcBef>
                <a:spcPts val="1200"/>
              </a:spcBef>
              <a:spcAft>
                <a:spcPts val="0"/>
              </a:spcAft>
              <a:buClr>
                <a:srgbClr val="434343"/>
              </a:buClr>
              <a:buSzPts val="1800"/>
              <a:buChar char="●"/>
            </a:pPr>
            <a:r>
              <a:rPr lang="fr">
                <a:solidFill>
                  <a:srgbClr val="434343"/>
                </a:solidFill>
              </a:rPr>
              <a:t> Déclarer des variables</a:t>
            </a:r>
            <a:endParaRPr>
              <a:solidFill>
                <a:srgbClr val="434343"/>
              </a:solidFill>
            </a:endParaRPr>
          </a:p>
          <a:p>
            <a:pPr indent="-342900" lvl="0" marL="457200" rtl="0" algn="l">
              <a:spcBef>
                <a:spcPts val="0"/>
              </a:spcBef>
              <a:spcAft>
                <a:spcPts val="0"/>
              </a:spcAft>
              <a:buClr>
                <a:srgbClr val="434343"/>
              </a:buClr>
              <a:buSzPts val="1800"/>
              <a:buChar char="●"/>
            </a:pPr>
            <a:r>
              <a:rPr lang="fr">
                <a:solidFill>
                  <a:srgbClr val="434343"/>
                </a:solidFill>
              </a:rPr>
              <a:t>Manipuler différents types de données</a:t>
            </a:r>
            <a:endParaRPr>
              <a:solidFill>
                <a:srgbClr val="434343"/>
              </a:solidFill>
            </a:endParaRPr>
          </a:p>
          <a:p>
            <a:pPr indent="-342900" lvl="0" marL="457200" rtl="0" algn="l">
              <a:spcBef>
                <a:spcPts val="0"/>
              </a:spcBef>
              <a:spcAft>
                <a:spcPts val="0"/>
              </a:spcAft>
              <a:buClr>
                <a:srgbClr val="434343"/>
              </a:buClr>
              <a:buSzPts val="1800"/>
              <a:buChar char="●"/>
            </a:pPr>
            <a:r>
              <a:rPr lang="fr">
                <a:solidFill>
                  <a:srgbClr val="434343"/>
                </a:solidFill>
              </a:rPr>
              <a:t>Utiliser les opérateurs</a:t>
            </a:r>
            <a:endParaRPr>
              <a:solidFill>
                <a:srgbClr val="434343"/>
              </a:solidFill>
            </a:endParaRPr>
          </a:p>
          <a:p>
            <a:pPr indent="-342900" lvl="0" marL="457200" rtl="0" algn="l">
              <a:spcBef>
                <a:spcPts val="0"/>
              </a:spcBef>
              <a:spcAft>
                <a:spcPts val="0"/>
              </a:spcAft>
              <a:buClr>
                <a:srgbClr val="434343"/>
              </a:buClr>
              <a:buSzPts val="1800"/>
              <a:buChar char="●"/>
            </a:pPr>
            <a:r>
              <a:rPr lang="fr">
                <a:solidFill>
                  <a:srgbClr val="434343"/>
                </a:solidFill>
              </a:rPr>
              <a:t>Contrôler le flux d’exécution grâce aux conditions et boucles.</a:t>
            </a:r>
            <a:endParaRPr>
              <a:solidFill>
                <a:srgbClr val="434343"/>
              </a:solidFill>
            </a:endParaRPr>
          </a:p>
          <a:p>
            <a:pPr indent="0" lvl="0" marL="0" rtl="0" algn="l">
              <a:spcBef>
                <a:spcPts val="1200"/>
              </a:spcBef>
              <a:spcAft>
                <a:spcPts val="1200"/>
              </a:spcAft>
              <a:buNone/>
            </a:pPr>
            <a:r>
              <a:rPr lang="fr">
                <a:solidFill>
                  <a:srgbClr val="434343"/>
                </a:solidFill>
              </a:rPr>
              <a:t>Il se termine par une introduction aux tableaux et aux objets, deux structures essentielles du langage.</a:t>
            </a:r>
            <a:endParaRPr>
              <a:solidFill>
                <a:srgbClr val="43434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type="title"/>
          </p:nvPr>
        </p:nvSpPr>
        <p:spPr>
          <a:xfrm>
            <a:off x="311700" y="1711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Variables (var, let, const)</a:t>
            </a:r>
            <a:endParaRPr/>
          </a:p>
          <a:p>
            <a:pPr indent="0" lvl="0" marL="0" rtl="0" algn="l">
              <a:spcBef>
                <a:spcPts val="0"/>
              </a:spcBef>
              <a:spcAft>
                <a:spcPts val="0"/>
              </a:spcAft>
              <a:buNone/>
            </a:pPr>
            <a:r>
              <a:t/>
            </a:r>
            <a:endParaRPr/>
          </a:p>
        </p:txBody>
      </p:sp>
      <p:sp>
        <p:nvSpPr>
          <p:cNvPr id="197" name="Google Shape;197;p30"/>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En JavaScript, comme dans d’autres langages, une variable sert à stocker une valeur que l’on pourra réutiliser plus tard. Il existe trois façons principales de déclarer une variable en JS :</a:t>
            </a:r>
            <a:endParaRPr sz="1600"/>
          </a:p>
          <a:p>
            <a:pPr indent="-330200" lvl="0" marL="457200" rtl="0" algn="l">
              <a:spcBef>
                <a:spcPts val="1200"/>
              </a:spcBef>
              <a:spcAft>
                <a:spcPts val="0"/>
              </a:spcAft>
              <a:buSzPts val="1600"/>
              <a:buChar char="●"/>
            </a:pPr>
            <a:r>
              <a:rPr lang="fr" sz="1600"/>
              <a:t>En utilisant </a:t>
            </a:r>
            <a:r>
              <a:rPr b="1" lang="fr" sz="1600"/>
              <a:t>var</a:t>
            </a:r>
            <a:endParaRPr b="1" sz="1600"/>
          </a:p>
          <a:p>
            <a:pPr indent="-304800" lvl="1" marL="914400" rtl="0" algn="l">
              <a:spcBef>
                <a:spcPts val="0"/>
              </a:spcBef>
              <a:spcAft>
                <a:spcPts val="0"/>
              </a:spcAft>
              <a:buSzPts val="1200"/>
              <a:buChar char="○"/>
            </a:pPr>
            <a:r>
              <a:rPr lang="fr" sz="1200"/>
              <a:t>Méthode traditionnelle de déclaration avant ES6. Déconseillée de nos jours car obsolète et peu intuitive.</a:t>
            </a:r>
            <a:endParaRPr sz="1200"/>
          </a:p>
          <a:p>
            <a:pPr indent="-330200" lvl="0" marL="457200" rtl="0" algn="l">
              <a:spcBef>
                <a:spcPts val="0"/>
              </a:spcBef>
              <a:spcAft>
                <a:spcPts val="0"/>
              </a:spcAft>
              <a:buSzPts val="1600"/>
              <a:buChar char="●"/>
            </a:pPr>
            <a:r>
              <a:rPr lang="fr" sz="1600"/>
              <a:t>En utilisant </a:t>
            </a:r>
            <a:r>
              <a:rPr b="1" lang="fr" sz="1600"/>
              <a:t>let</a:t>
            </a:r>
            <a:endParaRPr b="1" sz="1600"/>
          </a:p>
          <a:p>
            <a:pPr indent="-304800" lvl="1" marL="914400" rtl="0" algn="l">
              <a:spcBef>
                <a:spcPts val="0"/>
              </a:spcBef>
              <a:spcAft>
                <a:spcPts val="0"/>
              </a:spcAft>
              <a:buSzPts val="1200"/>
              <a:buChar char="○"/>
            </a:pPr>
            <a:r>
              <a:rPr lang="fr" sz="1200"/>
              <a:t>La variable moderne introduite avec ES6. Contrairement à une variable déclarée avec </a:t>
            </a:r>
            <a:r>
              <a:rPr b="1" lang="fr" sz="1200"/>
              <a:t>var</a:t>
            </a:r>
            <a:r>
              <a:rPr lang="fr" sz="1200"/>
              <a:t>, elle ne peut pas être re-</a:t>
            </a:r>
            <a:r>
              <a:rPr lang="fr" sz="1200"/>
              <a:t>déclarée</a:t>
            </a:r>
            <a:r>
              <a:rPr lang="fr" sz="1200"/>
              <a:t> dans le même bloc.</a:t>
            </a:r>
            <a:endParaRPr sz="1200"/>
          </a:p>
          <a:p>
            <a:pPr indent="-330200" lvl="0" marL="457200" rtl="0" algn="l">
              <a:spcBef>
                <a:spcPts val="0"/>
              </a:spcBef>
              <a:spcAft>
                <a:spcPts val="0"/>
              </a:spcAft>
              <a:buSzPts val="1600"/>
              <a:buChar char="●"/>
            </a:pPr>
            <a:r>
              <a:rPr lang="fr" sz="1600"/>
              <a:t>En utilisant </a:t>
            </a:r>
            <a:r>
              <a:rPr b="1" lang="fr" sz="1600"/>
              <a:t>const</a:t>
            </a:r>
            <a:endParaRPr b="1" sz="1600"/>
          </a:p>
          <a:p>
            <a:pPr indent="-304800" lvl="1" marL="914400" rtl="0" algn="l">
              <a:spcBef>
                <a:spcPts val="0"/>
              </a:spcBef>
              <a:spcAft>
                <a:spcPts val="0"/>
              </a:spcAft>
              <a:buSzPts val="1200"/>
              <a:buChar char="○"/>
            </a:pPr>
            <a:r>
              <a:rPr lang="fr" sz="1200"/>
              <a:t>Déclaration de variables constantes, également introduites par ES6.</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title"/>
          </p:nvPr>
        </p:nvSpPr>
        <p:spPr>
          <a:xfrm>
            <a:off x="311700" y="171100"/>
            <a:ext cx="8520600" cy="97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Variables : let</a:t>
            </a:r>
            <a:endParaRPr/>
          </a:p>
          <a:p>
            <a:pPr indent="0" lvl="0" marL="0" rtl="0" algn="l">
              <a:spcBef>
                <a:spcPts val="0"/>
              </a:spcBef>
              <a:spcAft>
                <a:spcPts val="0"/>
              </a:spcAft>
              <a:buNone/>
            </a:pPr>
            <a:r>
              <a:t/>
            </a:r>
            <a:endParaRPr/>
          </a:p>
        </p:txBody>
      </p:sp>
      <p:sp>
        <p:nvSpPr>
          <p:cNvPr id="203" name="Google Shape;203;p31"/>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200"/>
              <a:t>Voici un exemple de déclaration de variable avec </a:t>
            </a:r>
            <a:r>
              <a:rPr b="1" lang="fr" sz="1200"/>
              <a:t>let</a:t>
            </a:r>
            <a:r>
              <a:rPr lang="fr" sz="1200"/>
              <a:t>. Ici, on utilise console.log() pour afficher la valeur de la variable dans la console du navigateur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1200"/>
              </a:spcAft>
              <a:buNone/>
            </a:pPr>
            <a:r>
              <a:rPr lang="fr" sz="1200"/>
              <a:t>Observons le résultat de ce script dans la console (F12 pour ouvrir les outils de développeurs -&gt; Onglet Console) :</a:t>
            </a:r>
            <a:endParaRPr sz="1200"/>
          </a:p>
        </p:txBody>
      </p:sp>
      <p:pic>
        <p:nvPicPr>
          <p:cNvPr id="204" name="Google Shape;204;p31"/>
          <p:cNvPicPr preferRelativeResize="0"/>
          <p:nvPr/>
        </p:nvPicPr>
        <p:blipFill>
          <a:blip r:embed="rId3">
            <a:alphaModFix/>
          </a:blip>
          <a:stretch>
            <a:fillRect/>
          </a:stretch>
        </p:blipFill>
        <p:spPr>
          <a:xfrm>
            <a:off x="2881475" y="1795025"/>
            <a:ext cx="3381050" cy="933825"/>
          </a:xfrm>
          <a:prstGeom prst="rect">
            <a:avLst/>
          </a:prstGeom>
          <a:noFill/>
          <a:ln>
            <a:noFill/>
          </a:ln>
        </p:spPr>
      </p:pic>
      <p:pic>
        <p:nvPicPr>
          <p:cNvPr id="205" name="Google Shape;205;p31"/>
          <p:cNvPicPr preferRelativeResize="0"/>
          <p:nvPr/>
        </p:nvPicPr>
        <p:blipFill>
          <a:blip r:embed="rId4">
            <a:alphaModFix/>
          </a:blip>
          <a:stretch>
            <a:fillRect/>
          </a:stretch>
        </p:blipFill>
        <p:spPr>
          <a:xfrm>
            <a:off x="2881472" y="3433425"/>
            <a:ext cx="3381050" cy="91495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ph type="title"/>
          </p:nvPr>
        </p:nvSpPr>
        <p:spPr>
          <a:xfrm>
            <a:off x="311700" y="171100"/>
            <a:ext cx="8520600" cy="97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Variables : const</a:t>
            </a:r>
            <a:endParaRPr/>
          </a:p>
          <a:p>
            <a:pPr indent="0" lvl="0" marL="0" rtl="0" algn="l">
              <a:spcBef>
                <a:spcPts val="0"/>
              </a:spcBef>
              <a:spcAft>
                <a:spcPts val="0"/>
              </a:spcAft>
              <a:buNone/>
            </a:pPr>
            <a:r>
              <a:t/>
            </a:r>
            <a:endParaRPr/>
          </a:p>
        </p:txBody>
      </p:sp>
      <p:sp>
        <p:nvSpPr>
          <p:cNvPr id="211" name="Google Shape;211;p32"/>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200"/>
              <a:t>Voici un second exemple de déclaration de variable avec </a:t>
            </a:r>
            <a:r>
              <a:rPr b="1" lang="fr" sz="1200"/>
              <a:t>const</a:t>
            </a:r>
            <a:r>
              <a:rPr lang="fr" sz="1200"/>
              <a:t>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rPr lang="fr" sz="1200"/>
              <a:t>\</a:t>
            </a:r>
            <a:endParaRPr sz="1200"/>
          </a:p>
          <a:p>
            <a:pPr indent="0" lvl="0" marL="0" rtl="0" algn="l">
              <a:spcBef>
                <a:spcPts val="1200"/>
              </a:spcBef>
              <a:spcAft>
                <a:spcPts val="1200"/>
              </a:spcAft>
              <a:buNone/>
            </a:pPr>
            <a:r>
              <a:rPr lang="fr" sz="1200"/>
              <a:t>Ici, nous pouvons voir que JavaScript lève une erreur dans la console, en nous indiquant le type d’erreur avec un  message explicatif, ainsi que la source de l’erreur dans le code avec le fichier et la ligne de code concernée :</a:t>
            </a:r>
            <a:endParaRPr sz="1200"/>
          </a:p>
        </p:txBody>
      </p:sp>
      <p:pic>
        <p:nvPicPr>
          <p:cNvPr id="212" name="Google Shape;212;p32"/>
          <p:cNvPicPr preferRelativeResize="0"/>
          <p:nvPr/>
        </p:nvPicPr>
        <p:blipFill>
          <a:blip r:embed="rId3">
            <a:alphaModFix/>
          </a:blip>
          <a:stretch>
            <a:fillRect/>
          </a:stretch>
        </p:blipFill>
        <p:spPr>
          <a:xfrm>
            <a:off x="311688" y="1665175"/>
            <a:ext cx="1841475" cy="906575"/>
          </a:xfrm>
          <a:prstGeom prst="rect">
            <a:avLst/>
          </a:prstGeom>
          <a:noFill/>
          <a:ln>
            <a:noFill/>
          </a:ln>
        </p:spPr>
      </p:pic>
      <p:pic>
        <p:nvPicPr>
          <p:cNvPr id="213" name="Google Shape;213;p32"/>
          <p:cNvPicPr preferRelativeResize="0"/>
          <p:nvPr/>
        </p:nvPicPr>
        <p:blipFill>
          <a:blip r:embed="rId4">
            <a:alphaModFix/>
          </a:blip>
          <a:stretch>
            <a:fillRect/>
          </a:stretch>
        </p:blipFill>
        <p:spPr>
          <a:xfrm>
            <a:off x="2" y="3361300"/>
            <a:ext cx="9143999" cy="1544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3"/>
          <p:cNvSpPr txBox="1"/>
          <p:nvPr>
            <p:ph type="title"/>
          </p:nvPr>
        </p:nvSpPr>
        <p:spPr>
          <a:xfrm>
            <a:off x="311700" y="171100"/>
            <a:ext cx="8520600" cy="97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Variables : Constant != Immuable</a:t>
            </a:r>
            <a:endParaRPr/>
          </a:p>
          <a:p>
            <a:pPr indent="0" lvl="0" marL="0" rtl="0" algn="l">
              <a:spcBef>
                <a:spcPts val="0"/>
              </a:spcBef>
              <a:spcAft>
                <a:spcPts val="0"/>
              </a:spcAft>
              <a:buNone/>
            </a:pPr>
            <a:r>
              <a:t/>
            </a:r>
            <a:endParaRPr/>
          </a:p>
        </p:txBody>
      </p:sp>
      <p:sp>
        <p:nvSpPr>
          <p:cNvPr id="219" name="Google Shape;219;p33"/>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200">
                <a:solidFill>
                  <a:srgbClr val="434343"/>
                </a:solidFill>
              </a:rPr>
              <a:t>“Constante” ne signifie pas "immuable" : </a:t>
            </a:r>
            <a:r>
              <a:rPr lang="fr" sz="1100">
                <a:solidFill>
                  <a:srgbClr val="434343"/>
                </a:solidFill>
                <a:latin typeface="Arial"/>
                <a:ea typeface="Arial"/>
                <a:cs typeface="Arial"/>
                <a:sym typeface="Arial"/>
              </a:rPr>
              <a:t>pour un objet ou un tableau, </a:t>
            </a:r>
            <a:r>
              <a:rPr b="1" lang="fr" sz="1100">
                <a:solidFill>
                  <a:srgbClr val="434343"/>
                </a:solidFill>
                <a:latin typeface="Arial"/>
                <a:ea typeface="Arial"/>
                <a:cs typeface="Arial"/>
                <a:sym typeface="Arial"/>
              </a:rPr>
              <a:t>le contenu peut changer</a:t>
            </a:r>
            <a:r>
              <a:rPr lang="fr" sz="1100">
                <a:solidFill>
                  <a:srgbClr val="434343"/>
                </a:solidFill>
                <a:latin typeface="Arial"/>
                <a:ea typeface="Arial"/>
                <a:cs typeface="Arial"/>
                <a:sym typeface="Arial"/>
              </a:rPr>
              <a:t>, mais pas la variable elle-même : </a:t>
            </a:r>
            <a:endParaRPr sz="1100">
              <a:solidFill>
                <a:srgbClr val="434343"/>
              </a:solidFill>
              <a:latin typeface="Arial"/>
              <a:ea typeface="Arial"/>
              <a:cs typeface="Arial"/>
              <a:sym typeface="Arial"/>
            </a:endParaRPr>
          </a:p>
          <a:p>
            <a:pPr indent="0" lvl="0" marL="0" rtl="0" algn="l">
              <a:spcBef>
                <a:spcPts val="1200"/>
              </a:spcBef>
              <a:spcAft>
                <a:spcPts val="0"/>
              </a:spcAft>
              <a:buNone/>
            </a:pPr>
            <a:r>
              <a:t/>
            </a:r>
            <a:endParaRPr sz="1100">
              <a:solidFill>
                <a:srgbClr val="434343"/>
              </a:solidFill>
              <a:latin typeface="Arial"/>
              <a:ea typeface="Arial"/>
              <a:cs typeface="Arial"/>
              <a:sym typeface="Arial"/>
            </a:endParaRPr>
          </a:p>
          <a:p>
            <a:pPr indent="0" lvl="0" marL="0" rtl="0" algn="l">
              <a:spcBef>
                <a:spcPts val="1200"/>
              </a:spcBef>
              <a:spcAft>
                <a:spcPts val="0"/>
              </a:spcAft>
              <a:buNone/>
            </a:pPr>
            <a:r>
              <a:t/>
            </a:r>
            <a:endParaRPr sz="1100">
              <a:solidFill>
                <a:srgbClr val="434343"/>
              </a:solidFill>
              <a:latin typeface="Arial"/>
              <a:ea typeface="Arial"/>
              <a:cs typeface="Arial"/>
              <a:sym typeface="Arial"/>
            </a:endParaRPr>
          </a:p>
          <a:p>
            <a:pPr indent="0" lvl="0" marL="0" rtl="0" algn="l">
              <a:spcBef>
                <a:spcPts val="1200"/>
              </a:spcBef>
              <a:spcAft>
                <a:spcPts val="0"/>
              </a:spcAft>
              <a:buNone/>
            </a:pPr>
            <a:r>
              <a:t/>
            </a:r>
            <a:endParaRPr sz="1100">
              <a:solidFill>
                <a:srgbClr val="434343"/>
              </a:solidFill>
              <a:latin typeface="Arial"/>
              <a:ea typeface="Arial"/>
              <a:cs typeface="Arial"/>
              <a:sym typeface="Arial"/>
            </a:endParaRPr>
          </a:p>
          <a:p>
            <a:pPr indent="0" lvl="0" marL="0" rtl="0" algn="l">
              <a:spcBef>
                <a:spcPts val="1200"/>
              </a:spcBef>
              <a:spcAft>
                <a:spcPts val="0"/>
              </a:spcAft>
              <a:buNone/>
            </a:pPr>
            <a:r>
              <a:rPr lang="fr" sz="1100">
                <a:solidFill>
                  <a:srgbClr val="434343"/>
                </a:solidFill>
                <a:latin typeface="Arial"/>
                <a:ea typeface="Arial"/>
                <a:cs typeface="Arial"/>
                <a:sym typeface="Arial"/>
              </a:rPr>
              <a:t>Encore une fois, JavaScript lève une erreur en console :</a:t>
            </a:r>
            <a:endParaRPr sz="1100">
              <a:solidFill>
                <a:srgbClr val="434343"/>
              </a:solidFill>
              <a:latin typeface="Arial"/>
              <a:ea typeface="Arial"/>
              <a:cs typeface="Arial"/>
              <a:sym typeface="Arial"/>
            </a:endParaRPr>
          </a:p>
          <a:p>
            <a:pPr indent="0" lvl="0" marL="0" rtl="0" algn="l">
              <a:spcBef>
                <a:spcPts val="1200"/>
              </a:spcBef>
              <a:spcAft>
                <a:spcPts val="1200"/>
              </a:spcAft>
              <a:buNone/>
            </a:pPr>
            <a:r>
              <a:t/>
            </a:r>
            <a:endParaRPr sz="1100">
              <a:solidFill>
                <a:srgbClr val="434343"/>
              </a:solidFill>
              <a:latin typeface="Arial"/>
              <a:ea typeface="Arial"/>
              <a:cs typeface="Arial"/>
              <a:sym typeface="Arial"/>
            </a:endParaRPr>
          </a:p>
        </p:txBody>
      </p:sp>
      <p:pic>
        <p:nvPicPr>
          <p:cNvPr id="220" name="Google Shape;220;p33"/>
          <p:cNvPicPr preferRelativeResize="0"/>
          <p:nvPr/>
        </p:nvPicPr>
        <p:blipFill>
          <a:blip r:embed="rId3">
            <a:alphaModFix/>
          </a:blip>
          <a:stretch>
            <a:fillRect/>
          </a:stretch>
        </p:blipFill>
        <p:spPr>
          <a:xfrm>
            <a:off x="311688" y="1532638"/>
            <a:ext cx="2809875" cy="1114425"/>
          </a:xfrm>
          <a:prstGeom prst="rect">
            <a:avLst/>
          </a:prstGeom>
          <a:noFill/>
          <a:ln>
            <a:noFill/>
          </a:ln>
        </p:spPr>
      </p:pic>
      <p:pic>
        <p:nvPicPr>
          <p:cNvPr id="221" name="Google Shape;221;p33"/>
          <p:cNvPicPr preferRelativeResize="0"/>
          <p:nvPr/>
        </p:nvPicPr>
        <p:blipFill>
          <a:blip r:embed="rId4">
            <a:alphaModFix/>
          </a:blip>
          <a:stretch>
            <a:fillRect/>
          </a:stretch>
        </p:blipFill>
        <p:spPr>
          <a:xfrm>
            <a:off x="0" y="3141177"/>
            <a:ext cx="9144001" cy="174442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type="title"/>
          </p:nvPr>
        </p:nvSpPr>
        <p:spPr>
          <a:xfrm>
            <a:off x="311700" y="1711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Types de données primitifs</a:t>
            </a:r>
            <a:endParaRPr/>
          </a:p>
          <a:p>
            <a:pPr indent="0" lvl="0" marL="0" rtl="0" algn="l">
              <a:spcBef>
                <a:spcPts val="0"/>
              </a:spcBef>
              <a:spcAft>
                <a:spcPts val="0"/>
              </a:spcAft>
              <a:buNone/>
            </a:pPr>
            <a:r>
              <a:t/>
            </a:r>
            <a:endParaRPr/>
          </a:p>
        </p:txBody>
      </p:sp>
      <p:sp>
        <p:nvSpPr>
          <p:cNvPr id="227" name="Google Shape;227;p34"/>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fr" sz="1600">
                <a:solidFill>
                  <a:srgbClr val="434343"/>
                </a:solidFill>
              </a:rPr>
              <a:t>JavaScript possède 7 types primitifs :</a:t>
            </a:r>
            <a:endParaRPr sz="1600">
              <a:solidFill>
                <a:srgbClr val="434343"/>
              </a:solidFill>
            </a:endParaRPr>
          </a:p>
          <a:p>
            <a:pPr indent="-330200" lvl="0" marL="457200" rtl="0" algn="l">
              <a:spcBef>
                <a:spcPts val="1200"/>
              </a:spcBef>
              <a:spcAft>
                <a:spcPts val="0"/>
              </a:spcAft>
              <a:buClr>
                <a:srgbClr val="434343"/>
              </a:buClr>
              <a:buSzPts val="1600"/>
              <a:buChar char="●"/>
            </a:pPr>
            <a:r>
              <a:rPr b="1" lang="fr" sz="1600">
                <a:solidFill>
                  <a:srgbClr val="434343"/>
                </a:solidFill>
              </a:rPr>
              <a:t>number</a:t>
            </a:r>
            <a:r>
              <a:rPr lang="fr" sz="1600">
                <a:solidFill>
                  <a:srgbClr val="434343"/>
                </a:solidFill>
              </a:rPr>
              <a:t> — pour les nombres (entiers et flottants)</a:t>
            </a:r>
            <a:endParaRPr sz="1600">
              <a:solidFill>
                <a:srgbClr val="434343"/>
              </a:solidFill>
            </a:endParaRPr>
          </a:p>
          <a:p>
            <a:pPr indent="-330200" lvl="0" marL="457200" rtl="0" algn="l">
              <a:spcBef>
                <a:spcPts val="0"/>
              </a:spcBef>
              <a:spcAft>
                <a:spcPts val="0"/>
              </a:spcAft>
              <a:buClr>
                <a:srgbClr val="434343"/>
              </a:buClr>
              <a:buSzPts val="1600"/>
              <a:buChar char="●"/>
            </a:pPr>
            <a:r>
              <a:rPr b="1" lang="fr" sz="1600">
                <a:solidFill>
                  <a:srgbClr val="434343"/>
                </a:solidFill>
              </a:rPr>
              <a:t>string</a:t>
            </a:r>
            <a:r>
              <a:rPr lang="fr" sz="1600">
                <a:solidFill>
                  <a:srgbClr val="434343"/>
                </a:solidFill>
              </a:rPr>
              <a:t> — pour les chaînes de caractères</a:t>
            </a:r>
            <a:endParaRPr sz="1600">
              <a:solidFill>
                <a:srgbClr val="434343"/>
              </a:solidFill>
            </a:endParaRPr>
          </a:p>
          <a:p>
            <a:pPr indent="-330200" lvl="0" marL="457200" rtl="0" algn="l">
              <a:spcBef>
                <a:spcPts val="0"/>
              </a:spcBef>
              <a:spcAft>
                <a:spcPts val="0"/>
              </a:spcAft>
              <a:buClr>
                <a:srgbClr val="434343"/>
              </a:buClr>
              <a:buSzPts val="1600"/>
              <a:buChar char="●"/>
            </a:pPr>
            <a:r>
              <a:rPr b="1" lang="fr" sz="1600">
                <a:solidFill>
                  <a:srgbClr val="434343"/>
                </a:solidFill>
              </a:rPr>
              <a:t>boolean</a:t>
            </a:r>
            <a:r>
              <a:rPr lang="fr" sz="1600">
                <a:solidFill>
                  <a:srgbClr val="434343"/>
                </a:solidFill>
              </a:rPr>
              <a:t> — vrai/faux</a:t>
            </a:r>
            <a:endParaRPr sz="1600">
              <a:solidFill>
                <a:srgbClr val="434343"/>
              </a:solidFill>
            </a:endParaRPr>
          </a:p>
          <a:p>
            <a:pPr indent="-330200" lvl="0" marL="457200" rtl="0" algn="l">
              <a:spcBef>
                <a:spcPts val="0"/>
              </a:spcBef>
              <a:spcAft>
                <a:spcPts val="0"/>
              </a:spcAft>
              <a:buClr>
                <a:srgbClr val="434343"/>
              </a:buClr>
              <a:buSzPts val="1600"/>
              <a:buChar char="●"/>
            </a:pPr>
            <a:r>
              <a:rPr b="1" lang="fr" sz="1600">
                <a:solidFill>
                  <a:srgbClr val="434343"/>
                </a:solidFill>
              </a:rPr>
              <a:t>null</a:t>
            </a:r>
            <a:r>
              <a:rPr lang="fr" sz="1600">
                <a:solidFill>
                  <a:srgbClr val="434343"/>
                </a:solidFill>
              </a:rPr>
              <a:t> </a:t>
            </a:r>
            <a:r>
              <a:rPr lang="fr" sz="1600">
                <a:solidFill>
                  <a:srgbClr val="434343"/>
                </a:solidFill>
              </a:rPr>
              <a:t>—</a:t>
            </a:r>
            <a:r>
              <a:rPr lang="fr" sz="1600">
                <a:solidFill>
                  <a:srgbClr val="434343"/>
                </a:solidFill>
              </a:rPr>
              <a:t> valeur vide intentionnelle</a:t>
            </a:r>
            <a:endParaRPr sz="1600">
              <a:solidFill>
                <a:srgbClr val="434343"/>
              </a:solidFill>
            </a:endParaRPr>
          </a:p>
          <a:p>
            <a:pPr indent="-330200" lvl="0" marL="457200" rtl="0" algn="l">
              <a:spcBef>
                <a:spcPts val="0"/>
              </a:spcBef>
              <a:spcAft>
                <a:spcPts val="0"/>
              </a:spcAft>
              <a:buClr>
                <a:srgbClr val="434343"/>
              </a:buClr>
              <a:buSzPts val="1600"/>
              <a:buChar char="●"/>
            </a:pPr>
            <a:r>
              <a:rPr b="1" lang="fr" sz="1600">
                <a:solidFill>
                  <a:srgbClr val="434343"/>
                </a:solidFill>
              </a:rPr>
              <a:t>undefined</a:t>
            </a:r>
            <a:r>
              <a:rPr lang="fr" sz="1600">
                <a:solidFill>
                  <a:srgbClr val="434343"/>
                </a:solidFill>
              </a:rPr>
              <a:t> — variable déclarée mais sans valeur</a:t>
            </a:r>
            <a:endParaRPr sz="1600">
              <a:solidFill>
                <a:srgbClr val="434343"/>
              </a:solidFill>
            </a:endParaRPr>
          </a:p>
          <a:p>
            <a:pPr indent="-330200" lvl="0" marL="457200" rtl="0" algn="l">
              <a:spcBef>
                <a:spcPts val="0"/>
              </a:spcBef>
              <a:spcAft>
                <a:spcPts val="0"/>
              </a:spcAft>
              <a:buClr>
                <a:srgbClr val="434343"/>
              </a:buClr>
              <a:buSzPts val="1600"/>
              <a:buChar char="●"/>
            </a:pPr>
            <a:r>
              <a:rPr b="1" lang="fr" sz="1600">
                <a:solidFill>
                  <a:srgbClr val="434343"/>
                </a:solidFill>
              </a:rPr>
              <a:t>symbol</a:t>
            </a:r>
            <a:r>
              <a:rPr lang="fr" sz="1600">
                <a:solidFill>
                  <a:srgbClr val="434343"/>
                </a:solidFill>
              </a:rPr>
              <a:t> — identifiants uniques</a:t>
            </a:r>
            <a:endParaRPr sz="1600">
              <a:solidFill>
                <a:srgbClr val="434343"/>
              </a:solidFill>
            </a:endParaRPr>
          </a:p>
          <a:p>
            <a:pPr indent="-330200" lvl="0" marL="457200" rtl="0" algn="l">
              <a:spcBef>
                <a:spcPts val="0"/>
              </a:spcBef>
              <a:spcAft>
                <a:spcPts val="0"/>
              </a:spcAft>
              <a:buClr>
                <a:srgbClr val="434343"/>
              </a:buClr>
              <a:buSzPts val="1600"/>
              <a:buChar char="●"/>
            </a:pPr>
            <a:r>
              <a:rPr b="1" lang="fr" sz="1600">
                <a:solidFill>
                  <a:srgbClr val="434343"/>
                </a:solidFill>
              </a:rPr>
              <a:t>bigint</a:t>
            </a:r>
            <a:r>
              <a:rPr lang="fr" sz="1600">
                <a:solidFill>
                  <a:srgbClr val="434343"/>
                </a:solidFill>
              </a:rPr>
              <a:t> — pour les très grands nombres</a:t>
            </a:r>
            <a:endParaRPr sz="1600">
              <a:solidFill>
                <a:srgbClr val="434343"/>
              </a:solidFill>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311700" y="171100"/>
            <a:ext cx="8520600" cy="930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Types de données primitifs : Typage Dynamique</a:t>
            </a:r>
            <a:endParaRPr/>
          </a:p>
          <a:p>
            <a:pPr indent="0" lvl="0" marL="0" rtl="0" algn="l">
              <a:spcBef>
                <a:spcPts val="0"/>
              </a:spcBef>
              <a:spcAft>
                <a:spcPts val="0"/>
              </a:spcAft>
              <a:buNone/>
            </a:pPr>
            <a:r>
              <a:t/>
            </a:r>
            <a:endParaRPr/>
          </a:p>
        </p:txBody>
      </p:sp>
      <p:sp>
        <p:nvSpPr>
          <p:cNvPr id="233" name="Google Shape;233;p35"/>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fr" sz="1400">
                <a:solidFill>
                  <a:srgbClr val="434343"/>
                </a:solidFill>
              </a:rPr>
              <a:t>JavaScript est, à l’instar de Python, un langage interprété typé dynamiquement, ce qui signifie qu’il détectera automatiquement le type à attribuer à une variable en fonction de la valeur qui lui est attribuée :</a:t>
            </a:r>
            <a:endParaRPr sz="1400">
              <a:solidFill>
                <a:srgbClr val="434343"/>
              </a:solidFill>
            </a:endParaRPr>
          </a:p>
          <a:p>
            <a:pPr indent="0" lvl="0" marL="0" rtl="0" algn="l">
              <a:spcBef>
                <a:spcPts val="1200"/>
              </a:spcBef>
              <a:spcAft>
                <a:spcPts val="0"/>
              </a:spcAft>
              <a:buNone/>
            </a:pPr>
            <a:r>
              <a:t/>
            </a:r>
            <a:endParaRPr sz="1600">
              <a:solidFill>
                <a:srgbClr val="434343"/>
              </a:solidFill>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fr" sz="1400"/>
              <a:t>Et que le type associé à une variable évolue en fonction de la valeur qui lui est attribuée :</a:t>
            </a:r>
            <a:endParaRPr sz="1400"/>
          </a:p>
        </p:txBody>
      </p:sp>
      <p:pic>
        <p:nvPicPr>
          <p:cNvPr id="234" name="Google Shape;234;p35"/>
          <p:cNvPicPr preferRelativeResize="0"/>
          <p:nvPr/>
        </p:nvPicPr>
        <p:blipFill>
          <a:blip r:embed="rId3">
            <a:alphaModFix/>
          </a:blip>
          <a:stretch>
            <a:fillRect/>
          </a:stretch>
        </p:blipFill>
        <p:spPr>
          <a:xfrm>
            <a:off x="2690800" y="1971075"/>
            <a:ext cx="3762375" cy="1143000"/>
          </a:xfrm>
          <a:prstGeom prst="rect">
            <a:avLst/>
          </a:prstGeom>
          <a:noFill/>
          <a:ln>
            <a:noFill/>
          </a:ln>
        </p:spPr>
      </p:pic>
      <p:pic>
        <p:nvPicPr>
          <p:cNvPr id="235" name="Google Shape;235;p35"/>
          <p:cNvPicPr preferRelativeResize="0"/>
          <p:nvPr/>
        </p:nvPicPr>
        <p:blipFill>
          <a:blip r:embed="rId4">
            <a:alphaModFix/>
          </a:blip>
          <a:stretch>
            <a:fillRect/>
          </a:stretch>
        </p:blipFill>
        <p:spPr>
          <a:xfrm>
            <a:off x="1108838" y="3775525"/>
            <a:ext cx="6926299" cy="520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6"/>
          <p:cNvSpPr txBox="1"/>
          <p:nvPr>
            <p:ph type="title"/>
          </p:nvPr>
        </p:nvSpPr>
        <p:spPr>
          <a:xfrm>
            <a:off x="311700" y="1711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Opérateurs (logiques, arithmétiques, comparaison)</a:t>
            </a:r>
            <a:endParaRPr/>
          </a:p>
          <a:p>
            <a:pPr indent="0" lvl="0" marL="0" rtl="0" algn="l">
              <a:spcBef>
                <a:spcPts val="0"/>
              </a:spcBef>
              <a:spcAft>
                <a:spcPts val="0"/>
              </a:spcAft>
              <a:buNone/>
            </a:pPr>
            <a:r>
              <a:t/>
            </a:r>
            <a:endParaRPr/>
          </a:p>
        </p:txBody>
      </p:sp>
      <p:sp>
        <p:nvSpPr>
          <p:cNvPr id="241" name="Google Shape;241;p36"/>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Les opérateurs permettent, en JavaScript comme dans tout autre langage </a:t>
            </a:r>
            <a:r>
              <a:rPr lang="fr" sz="1600" u="sng">
                <a:solidFill>
                  <a:schemeClr val="hlink"/>
                </a:solidFill>
                <a:hlinkClick r:id="rId3"/>
              </a:rPr>
              <a:t>fonctionnel</a:t>
            </a:r>
            <a:r>
              <a:rPr lang="fr" sz="1600"/>
              <a:t> / </a:t>
            </a:r>
            <a:r>
              <a:rPr lang="fr" sz="1600" u="sng">
                <a:solidFill>
                  <a:schemeClr val="hlink"/>
                </a:solidFill>
                <a:hlinkClick r:id="rId4"/>
              </a:rPr>
              <a:t>orienté objet</a:t>
            </a:r>
            <a:r>
              <a:rPr lang="fr" sz="1600"/>
              <a:t>, de former des structures de </a:t>
            </a:r>
            <a:r>
              <a:rPr lang="fr" sz="1600"/>
              <a:t>contrôle</a:t>
            </a:r>
            <a:r>
              <a:rPr lang="fr" sz="1600"/>
              <a:t> comme des blocs conditionnels, itératifs, et autres.</a:t>
            </a:r>
            <a:endParaRPr sz="1600"/>
          </a:p>
          <a:p>
            <a:pPr indent="0" lvl="0" marL="0" rtl="0" algn="l">
              <a:spcBef>
                <a:spcPts val="1200"/>
              </a:spcBef>
              <a:spcAft>
                <a:spcPts val="0"/>
              </a:spcAft>
              <a:buNone/>
            </a:pPr>
            <a:r>
              <a:rPr lang="fr" sz="1400"/>
              <a:t>Nous aborderons dans cette section les trois grands types d’opérateurs utilisables en JavaScript :</a:t>
            </a:r>
            <a:endParaRPr sz="1400"/>
          </a:p>
          <a:p>
            <a:pPr indent="-317500" lvl="0" marL="457200" rtl="0" algn="l">
              <a:spcBef>
                <a:spcPts val="1200"/>
              </a:spcBef>
              <a:spcAft>
                <a:spcPts val="0"/>
              </a:spcAft>
              <a:buSzPts val="1400"/>
              <a:buChar char="●"/>
            </a:pPr>
            <a:r>
              <a:rPr lang="fr" sz="1400"/>
              <a:t>Les opérateurs arithmétiques</a:t>
            </a:r>
            <a:endParaRPr sz="1400"/>
          </a:p>
          <a:p>
            <a:pPr indent="-317500" lvl="0" marL="457200" rtl="0" algn="l">
              <a:spcBef>
                <a:spcPts val="0"/>
              </a:spcBef>
              <a:spcAft>
                <a:spcPts val="0"/>
              </a:spcAft>
              <a:buSzPts val="1400"/>
              <a:buChar char="●"/>
            </a:pPr>
            <a:r>
              <a:rPr lang="fr" sz="1400"/>
              <a:t>Les opérateurs logiques</a:t>
            </a:r>
            <a:endParaRPr sz="1400"/>
          </a:p>
          <a:p>
            <a:pPr indent="-317500" lvl="0" marL="457200" rtl="0" algn="l">
              <a:spcBef>
                <a:spcPts val="0"/>
              </a:spcBef>
              <a:spcAft>
                <a:spcPts val="0"/>
              </a:spcAft>
              <a:buSzPts val="1400"/>
              <a:buChar char="●"/>
            </a:pPr>
            <a:r>
              <a:rPr lang="fr" sz="1400"/>
              <a:t>Les opérateurs de comparaison</a:t>
            </a:r>
            <a:endParaRPr sz="1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ph type="title"/>
          </p:nvPr>
        </p:nvSpPr>
        <p:spPr>
          <a:xfrm>
            <a:off x="311700" y="171100"/>
            <a:ext cx="8520600" cy="935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Opérateurs Arithmétiques</a:t>
            </a:r>
            <a:endParaRPr/>
          </a:p>
          <a:p>
            <a:pPr indent="0" lvl="0" marL="0" rtl="0" algn="l">
              <a:spcBef>
                <a:spcPts val="0"/>
              </a:spcBef>
              <a:spcAft>
                <a:spcPts val="0"/>
              </a:spcAft>
              <a:buNone/>
            </a:pPr>
            <a:r>
              <a:t/>
            </a:r>
            <a:endParaRPr/>
          </a:p>
        </p:txBody>
      </p:sp>
      <p:sp>
        <p:nvSpPr>
          <p:cNvPr id="247" name="Google Shape;247;p37"/>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b="1" lang="fr" sz="1200">
                <a:solidFill>
                  <a:srgbClr val="000000"/>
                </a:solidFill>
              </a:rPr>
              <a:t>+</a:t>
            </a:r>
            <a:r>
              <a:rPr lang="fr" sz="1200">
                <a:solidFill>
                  <a:srgbClr val="000000"/>
                </a:solidFill>
              </a:rPr>
              <a:t> pour l’addition</a:t>
            </a:r>
            <a:endParaRPr sz="1200">
              <a:solidFill>
                <a:srgbClr val="000000"/>
              </a:solidFill>
            </a:endParaRPr>
          </a:p>
          <a:p>
            <a:pPr indent="-323850" lvl="0" marL="457200" rtl="0" algn="l">
              <a:spcBef>
                <a:spcPts val="0"/>
              </a:spcBef>
              <a:spcAft>
                <a:spcPts val="0"/>
              </a:spcAft>
              <a:buSzPts val="1500"/>
              <a:buChar char="●"/>
            </a:pPr>
            <a:r>
              <a:rPr b="1" lang="fr" sz="1200">
                <a:solidFill>
                  <a:schemeClr val="dk1"/>
                </a:solidFill>
              </a:rPr>
              <a:t>-</a:t>
            </a:r>
            <a:r>
              <a:rPr lang="fr" sz="1200">
                <a:solidFill>
                  <a:srgbClr val="000000"/>
                </a:solidFill>
              </a:rPr>
              <a:t> </a:t>
            </a:r>
            <a:r>
              <a:rPr lang="fr" sz="1200">
                <a:solidFill>
                  <a:srgbClr val="000000"/>
                </a:solidFill>
              </a:rPr>
              <a:t>pour la </a:t>
            </a:r>
            <a:r>
              <a:rPr lang="fr" sz="1200">
                <a:solidFill>
                  <a:srgbClr val="000000"/>
                </a:solidFill>
              </a:rPr>
              <a:t>soustraction</a:t>
            </a:r>
            <a:endParaRPr sz="1200">
              <a:solidFill>
                <a:srgbClr val="000000"/>
              </a:solidFill>
            </a:endParaRPr>
          </a:p>
          <a:p>
            <a:pPr indent="-323850" lvl="0" marL="457200" rtl="0" algn="l">
              <a:spcBef>
                <a:spcPts val="0"/>
              </a:spcBef>
              <a:spcAft>
                <a:spcPts val="0"/>
              </a:spcAft>
              <a:buSzPts val="1500"/>
              <a:buChar char="●"/>
            </a:pPr>
            <a:r>
              <a:rPr b="1" lang="fr" sz="1200">
                <a:solidFill>
                  <a:srgbClr val="000000"/>
                </a:solidFill>
              </a:rPr>
              <a:t>*</a:t>
            </a:r>
            <a:r>
              <a:rPr lang="fr" sz="1200">
                <a:solidFill>
                  <a:srgbClr val="000000"/>
                </a:solidFill>
              </a:rPr>
              <a:t> </a:t>
            </a:r>
            <a:r>
              <a:rPr lang="fr" sz="1200">
                <a:solidFill>
                  <a:srgbClr val="000000"/>
                </a:solidFill>
              </a:rPr>
              <a:t>pour la </a:t>
            </a:r>
            <a:r>
              <a:rPr lang="fr" sz="1200">
                <a:solidFill>
                  <a:srgbClr val="000000"/>
                </a:solidFill>
              </a:rPr>
              <a:t>multiplication</a:t>
            </a:r>
            <a:endParaRPr sz="1200">
              <a:solidFill>
                <a:srgbClr val="000000"/>
              </a:solidFill>
            </a:endParaRPr>
          </a:p>
          <a:p>
            <a:pPr indent="-323850" lvl="0" marL="457200" rtl="0" algn="l">
              <a:spcBef>
                <a:spcPts val="0"/>
              </a:spcBef>
              <a:spcAft>
                <a:spcPts val="0"/>
              </a:spcAft>
              <a:buSzPts val="1500"/>
              <a:buChar char="●"/>
            </a:pPr>
            <a:r>
              <a:rPr b="1" lang="fr" sz="1200">
                <a:solidFill>
                  <a:srgbClr val="000000"/>
                </a:solidFill>
              </a:rPr>
              <a:t>/</a:t>
            </a:r>
            <a:r>
              <a:rPr lang="fr" sz="1200">
                <a:solidFill>
                  <a:srgbClr val="000000"/>
                </a:solidFill>
              </a:rPr>
              <a:t> </a:t>
            </a:r>
            <a:r>
              <a:rPr lang="fr" sz="1200">
                <a:solidFill>
                  <a:srgbClr val="000000"/>
                </a:solidFill>
              </a:rPr>
              <a:t>pour la </a:t>
            </a:r>
            <a:r>
              <a:rPr lang="fr" sz="1200">
                <a:solidFill>
                  <a:srgbClr val="000000"/>
                </a:solidFill>
              </a:rPr>
              <a:t>division</a:t>
            </a:r>
            <a:endParaRPr sz="1200">
              <a:solidFill>
                <a:srgbClr val="000000"/>
              </a:solidFill>
            </a:endParaRPr>
          </a:p>
          <a:p>
            <a:pPr indent="-323850" lvl="0" marL="457200" rtl="0" algn="l">
              <a:spcBef>
                <a:spcPts val="0"/>
              </a:spcBef>
              <a:spcAft>
                <a:spcPts val="0"/>
              </a:spcAft>
              <a:buSzPts val="1500"/>
              <a:buChar char="●"/>
            </a:pPr>
            <a:r>
              <a:rPr b="1" lang="fr" sz="1200">
                <a:solidFill>
                  <a:srgbClr val="000000"/>
                </a:solidFill>
              </a:rPr>
              <a:t>%</a:t>
            </a:r>
            <a:r>
              <a:rPr lang="fr" sz="1200">
                <a:solidFill>
                  <a:srgbClr val="000000"/>
                </a:solidFill>
              </a:rPr>
              <a:t> </a:t>
            </a:r>
            <a:r>
              <a:rPr lang="fr" sz="1200">
                <a:solidFill>
                  <a:srgbClr val="000000"/>
                </a:solidFill>
              </a:rPr>
              <a:t>pour le </a:t>
            </a:r>
            <a:r>
              <a:rPr lang="fr" sz="1200">
                <a:solidFill>
                  <a:srgbClr val="000000"/>
                </a:solidFill>
              </a:rPr>
              <a:t>modulo</a:t>
            </a:r>
            <a:endParaRPr sz="1200">
              <a:solidFill>
                <a:srgbClr val="000000"/>
              </a:solidFill>
            </a:endParaRPr>
          </a:p>
          <a:p>
            <a:pPr indent="-323850" lvl="0" marL="457200" rtl="0" algn="l">
              <a:spcBef>
                <a:spcPts val="0"/>
              </a:spcBef>
              <a:spcAft>
                <a:spcPts val="0"/>
              </a:spcAft>
              <a:buSzPts val="1500"/>
              <a:buChar char="●"/>
            </a:pPr>
            <a:r>
              <a:rPr b="1" lang="fr" sz="1200">
                <a:solidFill>
                  <a:srgbClr val="000000"/>
                </a:solidFill>
              </a:rPr>
              <a:t>**</a:t>
            </a:r>
            <a:r>
              <a:rPr lang="fr" sz="1200">
                <a:solidFill>
                  <a:srgbClr val="000000"/>
                </a:solidFill>
              </a:rPr>
              <a:t> </a:t>
            </a:r>
            <a:r>
              <a:rPr lang="fr" sz="1200">
                <a:solidFill>
                  <a:srgbClr val="000000"/>
                </a:solidFill>
              </a:rPr>
              <a:t>pour la </a:t>
            </a:r>
            <a:r>
              <a:rPr lang="fr" sz="1200">
                <a:solidFill>
                  <a:srgbClr val="000000"/>
                </a:solidFill>
              </a:rPr>
              <a:t>puissance</a:t>
            </a:r>
            <a:endParaRPr sz="1500"/>
          </a:p>
        </p:txBody>
      </p:sp>
      <p:pic>
        <p:nvPicPr>
          <p:cNvPr id="248" name="Google Shape;248;p37"/>
          <p:cNvPicPr preferRelativeResize="0"/>
          <p:nvPr/>
        </p:nvPicPr>
        <p:blipFill>
          <a:blip r:embed="rId3">
            <a:alphaModFix/>
          </a:blip>
          <a:stretch>
            <a:fillRect/>
          </a:stretch>
        </p:blipFill>
        <p:spPr>
          <a:xfrm>
            <a:off x="311688" y="3279100"/>
            <a:ext cx="2733675" cy="1162050"/>
          </a:xfrm>
          <a:prstGeom prst="rect">
            <a:avLst/>
          </a:prstGeom>
          <a:noFill/>
          <a:ln>
            <a:noFill/>
          </a:ln>
        </p:spPr>
      </p:pic>
      <p:cxnSp>
        <p:nvCxnSpPr>
          <p:cNvPr id="249" name="Google Shape;249;p37"/>
          <p:cNvCxnSpPr/>
          <p:nvPr/>
        </p:nvCxnSpPr>
        <p:spPr>
          <a:xfrm>
            <a:off x="3144600" y="3817400"/>
            <a:ext cx="955500" cy="4800"/>
          </a:xfrm>
          <a:prstGeom prst="straightConnector1">
            <a:avLst/>
          </a:prstGeom>
          <a:noFill/>
          <a:ln cap="flat" cmpd="sng" w="9525">
            <a:solidFill>
              <a:schemeClr val="dk2"/>
            </a:solidFill>
            <a:prstDash val="solid"/>
            <a:round/>
            <a:headEnd len="med" w="med" type="none"/>
            <a:tailEnd len="med" w="med" type="triangle"/>
          </a:ln>
        </p:spPr>
      </p:cxnSp>
      <p:pic>
        <p:nvPicPr>
          <p:cNvPr id="250" name="Google Shape;250;p37"/>
          <p:cNvPicPr preferRelativeResize="0"/>
          <p:nvPr/>
        </p:nvPicPr>
        <p:blipFill>
          <a:blip r:embed="rId4">
            <a:alphaModFix/>
          </a:blip>
          <a:stretch>
            <a:fillRect/>
          </a:stretch>
        </p:blipFill>
        <p:spPr>
          <a:xfrm>
            <a:off x="4199325" y="3205425"/>
            <a:ext cx="2800350" cy="12287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type="title"/>
          </p:nvPr>
        </p:nvSpPr>
        <p:spPr>
          <a:xfrm>
            <a:off x="311700" y="171100"/>
            <a:ext cx="8520600" cy="935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Opérateurs Logiques</a:t>
            </a:r>
            <a:endParaRPr/>
          </a:p>
          <a:p>
            <a:pPr indent="0" lvl="0" marL="0" rtl="0" algn="l">
              <a:spcBef>
                <a:spcPts val="0"/>
              </a:spcBef>
              <a:spcAft>
                <a:spcPts val="0"/>
              </a:spcAft>
              <a:buNone/>
            </a:pPr>
            <a:r>
              <a:t/>
            </a:r>
            <a:endParaRPr/>
          </a:p>
        </p:txBody>
      </p:sp>
      <p:sp>
        <p:nvSpPr>
          <p:cNvPr id="256" name="Google Shape;256;p38"/>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434343"/>
              </a:buClr>
              <a:buSzPts val="1600"/>
              <a:buChar char="●"/>
            </a:pPr>
            <a:r>
              <a:rPr lang="fr" sz="1600"/>
              <a:t>AND : </a:t>
            </a:r>
            <a:r>
              <a:rPr b="1" lang="fr" sz="1600">
                <a:solidFill>
                  <a:srgbClr val="000000"/>
                </a:solidFill>
              </a:rPr>
              <a:t>&amp;&amp; </a:t>
            </a:r>
            <a:endParaRPr sz="1600">
              <a:solidFill>
                <a:srgbClr val="434343"/>
              </a:solidFill>
            </a:endParaRPr>
          </a:p>
          <a:p>
            <a:pPr indent="-330200" lvl="0" marL="457200" rtl="0" algn="l">
              <a:spcBef>
                <a:spcPts val="0"/>
              </a:spcBef>
              <a:spcAft>
                <a:spcPts val="0"/>
              </a:spcAft>
              <a:buClr>
                <a:srgbClr val="434343"/>
              </a:buClr>
              <a:buSzPts val="1600"/>
              <a:buChar char="●"/>
            </a:pPr>
            <a:r>
              <a:rPr lang="fr" sz="1600"/>
              <a:t>OR : </a:t>
            </a:r>
            <a:r>
              <a:rPr b="1" lang="fr" sz="1600">
                <a:solidFill>
                  <a:srgbClr val="000000"/>
                </a:solidFill>
              </a:rPr>
              <a:t>||</a:t>
            </a:r>
            <a:endParaRPr sz="1600">
              <a:solidFill>
                <a:srgbClr val="434343"/>
              </a:solidFill>
            </a:endParaRPr>
          </a:p>
          <a:p>
            <a:pPr indent="-330200" lvl="0" marL="457200" rtl="0" algn="l">
              <a:spcBef>
                <a:spcPts val="0"/>
              </a:spcBef>
              <a:spcAft>
                <a:spcPts val="0"/>
              </a:spcAft>
              <a:buClr>
                <a:srgbClr val="434343"/>
              </a:buClr>
              <a:buSzPts val="1600"/>
              <a:buChar char="●"/>
            </a:pPr>
            <a:r>
              <a:rPr lang="fr" sz="1600">
                <a:solidFill>
                  <a:srgbClr val="434343"/>
                </a:solidFill>
              </a:rPr>
              <a:t>NOT :</a:t>
            </a:r>
            <a:r>
              <a:rPr b="1" lang="fr" sz="1600">
                <a:solidFill>
                  <a:srgbClr val="000000"/>
                </a:solidFill>
              </a:rPr>
              <a:t> </a:t>
            </a:r>
            <a:r>
              <a:rPr b="1" lang="fr" sz="1600">
                <a:solidFill>
                  <a:srgbClr val="000000"/>
                </a:solidFill>
              </a:rPr>
              <a:t>! </a:t>
            </a:r>
            <a:endParaRPr sz="1600">
              <a:solidFill>
                <a:srgbClr val="434343"/>
              </a:solidFill>
            </a:endParaRPr>
          </a:p>
        </p:txBody>
      </p:sp>
      <p:pic>
        <p:nvPicPr>
          <p:cNvPr id="257" name="Google Shape;257;p38"/>
          <p:cNvPicPr preferRelativeResize="0"/>
          <p:nvPr/>
        </p:nvPicPr>
        <p:blipFill>
          <a:blip r:embed="rId3">
            <a:alphaModFix/>
          </a:blip>
          <a:stretch>
            <a:fillRect/>
          </a:stretch>
        </p:blipFill>
        <p:spPr>
          <a:xfrm>
            <a:off x="311688" y="2648688"/>
            <a:ext cx="2447925" cy="733425"/>
          </a:xfrm>
          <a:prstGeom prst="rect">
            <a:avLst/>
          </a:prstGeom>
          <a:noFill/>
          <a:ln>
            <a:noFill/>
          </a:ln>
        </p:spPr>
      </p:pic>
      <p:cxnSp>
        <p:nvCxnSpPr>
          <p:cNvPr id="258" name="Google Shape;258;p38"/>
          <p:cNvCxnSpPr/>
          <p:nvPr/>
        </p:nvCxnSpPr>
        <p:spPr>
          <a:xfrm>
            <a:off x="2852075" y="3022725"/>
            <a:ext cx="921600" cy="9900"/>
          </a:xfrm>
          <a:prstGeom prst="straightConnector1">
            <a:avLst/>
          </a:prstGeom>
          <a:noFill/>
          <a:ln cap="flat" cmpd="sng" w="9525">
            <a:solidFill>
              <a:schemeClr val="dk2"/>
            </a:solidFill>
            <a:prstDash val="solid"/>
            <a:round/>
            <a:headEnd len="med" w="med" type="none"/>
            <a:tailEnd len="med" w="med" type="triangle"/>
          </a:ln>
        </p:spPr>
      </p:cxnSp>
      <p:pic>
        <p:nvPicPr>
          <p:cNvPr id="259" name="Google Shape;259;p38"/>
          <p:cNvPicPr preferRelativeResize="0"/>
          <p:nvPr/>
        </p:nvPicPr>
        <p:blipFill>
          <a:blip r:embed="rId4">
            <a:alphaModFix/>
          </a:blip>
          <a:stretch>
            <a:fillRect/>
          </a:stretch>
        </p:blipFill>
        <p:spPr>
          <a:xfrm>
            <a:off x="4089323" y="2435448"/>
            <a:ext cx="2360775" cy="1184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9"/>
          <p:cNvSpPr txBox="1"/>
          <p:nvPr>
            <p:ph type="title"/>
          </p:nvPr>
        </p:nvSpPr>
        <p:spPr>
          <a:xfrm>
            <a:off x="311700" y="171100"/>
            <a:ext cx="8520600" cy="935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Opérateurs de comparaison</a:t>
            </a:r>
            <a:endParaRPr/>
          </a:p>
          <a:p>
            <a:pPr indent="0" lvl="0" marL="0" rtl="0" algn="l">
              <a:spcBef>
                <a:spcPts val="0"/>
              </a:spcBef>
              <a:spcAft>
                <a:spcPts val="0"/>
              </a:spcAft>
              <a:buNone/>
            </a:pPr>
            <a:r>
              <a:t/>
            </a:r>
            <a:endParaRPr/>
          </a:p>
        </p:txBody>
      </p:sp>
      <p:sp>
        <p:nvSpPr>
          <p:cNvPr id="265" name="Google Shape;265;p39"/>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434343"/>
              </a:buClr>
              <a:buSzPts val="1700"/>
              <a:buChar char="●"/>
            </a:pPr>
            <a:r>
              <a:rPr lang="fr" sz="1400">
                <a:solidFill>
                  <a:srgbClr val="000000"/>
                </a:solidFill>
              </a:rPr>
              <a:t>== </a:t>
            </a:r>
            <a:r>
              <a:rPr lang="fr" sz="1400">
                <a:solidFill>
                  <a:srgbClr val="434343"/>
                </a:solidFill>
              </a:rPr>
              <a:t>comparateur d’égalité abstraite (convertit les types) → </a:t>
            </a:r>
            <a:r>
              <a:rPr b="1" lang="fr" sz="1400">
                <a:solidFill>
                  <a:srgbClr val="434343"/>
                </a:solidFill>
              </a:rPr>
              <a:t>à éviter</a:t>
            </a:r>
            <a:endParaRPr b="1" sz="1400">
              <a:solidFill>
                <a:srgbClr val="434343"/>
              </a:solidFill>
            </a:endParaRPr>
          </a:p>
          <a:p>
            <a:pPr indent="-336550" lvl="0" marL="457200" rtl="0" algn="l">
              <a:spcBef>
                <a:spcPts val="0"/>
              </a:spcBef>
              <a:spcAft>
                <a:spcPts val="0"/>
              </a:spcAft>
              <a:buClr>
                <a:srgbClr val="434343"/>
              </a:buClr>
              <a:buSzPts val="1700"/>
              <a:buChar char="●"/>
            </a:pPr>
            <a:r>
              <a:rPr lang="fr" sz="1400">
                <a:solidFill>
                  <a:srgbClr val="000000"/>
                </a:solidFill>
              </a:rPr>
              <a:t>===</a:t>
            </a:r>
            <a:r>
              <a:rPr lang="fr" sz="1400">
                <a:solidFill>
                  <a:srgbClr val="434343"/>
                </a:solidFill>
              </a:rPr>
              <a:t> comparateur </a:t>
            </a:r>
            <a:r>
              <a:rPr lang="fr" sz="1400"/>
              <a:t>d’égalité </a:t>
            </a:r>
            <a:r>
              <a:rPr lang="fr" sz="1400">
                <a:solidFill>
                  <a:srgbClr val="434343"/>
                </a:solidFill>
              </a:rPr>
              <a:t>stricte (ne convertit pas les types) → </a:t>
            </a:r>
            <a:r>
              <a:rPr b="1" lang="fr" sz="1400">
                <a:solidFill>
                  <a:srgbClr val="434343"/>
                </a:solidFill>
              </a:rPr>
              <a:t>recommandé</a:t>
            </a:r>
            <a:endParaRPr b="1" sz="1400">
              <a:solidFill>
                <a:srgbClr val="434343"/>
              </a:solidFill>
            </a:endParaRPr>
          </a:p>
          <a:p>
            <a:pPr indent="-336550" lvl="0" marL="457200" rtl="0" algn="l">
              <a:spcBef>
                <a:spcPts val="0"/>
              </a:spcBef>
              <a:spcAft>
                <a:spcPts val="0"/>
              </a:spcAft>
              <a:buClr>
                <a:srgbClr val="000000"/>
              </a:buClr>
              <a:buSzPts val="1700"/>
              <a:buChar char="●"/>
            </a:pPr>
            <a:r>
              <a:rPr lang="fr" sz="1400">
                <a:solidFill>
                  <a:srgbClr val="000000"/>
                </a:solidFill>
              </a:rPr>
              <a:t>!= et !=</a:t>
            </a:r>
            <a:r>
              <a:rPr lang="fr" sz="1400">
                <a:solidFill>
                  <a:srgbClr val="000000"/>
                </a:solidFill>
              </a:rPr>
              <a:t>= </a:t>
            </a:r>
            <a:r>
              <a:rPr lang="fr" sz="1400"/>
              <a:t>comparateurs de différence abstraite / stricte</a:t>
            </a:r>
            <a:endParaRPr sz="1400">
              <a:solidFill>
                <a:srgbClr val="000000"/>
              </a:solidFill>
            </a:endParaRPr>
          </a:p>
          <a:p>
            <a:pPr indent="-336550" lvl="0" marL="457200" rtl="0" algn="l">
              <a:spcBef>
                <a:spcPts val="0"/>
              </a:spcBef>
              <a:spcAft>
                <a:spcPts val="0"/>
              </a:spcAft>
              <a:buClr>
                <a:srgbClr val="000000"/>
              </a:buClr>
              <a:buSzPts val="1700"/>
              <a:buChar char="●"/>
            </a:pPr>
            <a:r>
              <a:rPr lang="fr" sz="1400">
                <a:solidFill>
                  <a:srgbClr val="000000"/>
                </a:solidFill>
              </a:rPr>
              <a:t>&lt; et &gt; </a:t>
            </a:r>
            <a:r>
              <a:rPr lang="fr" sz="1400"/>
              <a:t>comparateurs d'infériorité et de supériorité</a:t>
            </a:r>
            <a:endParaRPr sz="1400">
              <a:solidFill>
                <a:srgbClr val="000000"/>
              </a:solidFill>
            </a:endParaRPr>
          </a:p>
          <a:p>
            <a:pPr indent="-336550" lvl="0" marL="457200" rtl="0" algn="l">
              <a:spcBef>
                <a:spcPts val="0"/>
              </a:spcBef>
              <a:spcAft>
                <a:spcPts val="0"/>
              </a:spcAft>
              <a:buClr>
                <a:srgbClr val="000000"/>
              </a:buClr>
              <a:buSzPts val="1700"/>
              <a:buChar char="●"/>
            </a:pPr>
            <a:r>
              <a:rPr lang="fr" sz="1400">
                <a:solidFill>
                  <a:srgbClr val="000000"/>
                </a:solidFill>
              </a:rPr>
              <a:t>&lt;= et &gt;= </a:t>
            </a:r>
            <a:r>
              <a:rPr lang="fr" sz="1400"/>
              <a:t>comparateurs “inférieur ou égal” et “supérieur ou égal”</a:t>
            </a:r>
            <a:endParaRPr sz="1700">
              <a:solidFill>
                <a:srgbClr val="000000"/>
              </a:solidFill>
            </a:endParaRPr>
          </a:p>
        </p:txBody>
      </p:sp>
      <p:pic>
        <p:nvPicPr>
          <p:cNvPr id="266" name="Google Shape;266;p39"/>
          <p:cNvPicPr preferRelativeResize="0"/>
          <p:nvPr/>
        </p:nvPicPr>
        <p:blipFill>
          <a:blip r:embed="rId3">
            <a:alphaModFix/>
          </a:blip>
          <a:stretch>
            <a:fillRect/>
          </a:stretch>
        </p:blipFill>
        <p:spPr>
          <a:xfrm>
            <a:off x="311688" y="3204700"/>
            <a:ext cx="2181225" cy="1466850"/>
          </a:xfrm>
          <a:prstGeom prst="rect">
            <a:avLst/>
          </a:prstGeom>
          <a:noFill/>
          <a:ln>
            <a:noFill/>
          </a:ln>
        </p:spPr>
      </p:pic>
      <p:pic>
        <p:nvPicPr>
          <p:cNvPr id="267" name="Google Shape;267;p39"/>
          <p:cNvPicPr preferRelativeResize="0"/>
          <p:nvPr/>
        </p:nvPicPr>
        <p:blipFill>
          <a:blip r:embed="rId4">
            <a:alphaModFix/>
          </a:blip>
          <a:stretch>
            <a:fillRect/>
          </a:stretch>
        </p:blipFill>
        <p:spPr>
          <a:xfrm>
            <a:off x="3009725" y="2898875"/>
            <a:ext cx="2504325" cy="1979375"/>
          </a:xfrm>
          <a:prstGeom prst="rect">
            <a:avLst/>
          </a:prstGeom>
          <a:noFill/>
          <a:ln>
            <a:noFill/>
          </a:ln>
        </p:spPr>
      </p:pic>
      <p:cxnSp>
        <p:nvCxnSpPr>
          <p:cNvPr id="268" name="Google Shape;268;p39"/>
          <p:cNvCxnSpPr/>
          <p:nvPr/>
        </p:nvCxnSpPr>
        <p:spPr>
          <a:xfrm>
            <a:off x="2602663" y="3938125"/>
            <a:ext cx="2973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0"/>
          <p:cNvSpPr txBox="1"/>
          <p:nvPr>
            <p:ph type="title"/>
          </p:nvPr>
        </p:nvSpPr>
        <p:spPr>
          <a:xfrm>
            <a:off x="311700" y="1711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Structures de contrôle : if, switch, for, while</a:t>
            </a:r>
            <a:endParaRPr/>
          </a:p>
          <a:p>
            <a:pPr indent="0" lvl="0" marL="0" rtl="0" algn="l">
              <a:spcBef>
                <a:spcPts val="0"/>
              </a:spcBef>
              <a:spcAft>
                <a:spcPts val="0"/>
              </a:spcAft>
              <a:buNone/>
            </a:pPr>
            <a:r>
              <a:t/>
            </a:r>
            <a:endParaRPr/>
          </a:p>
        </p:txBody>
      </p:sp>
      <p:sp>
        <p:nvSpPr>
          <p:cNvPr id="274" name="Google Shape;274;p40"/>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structures de contrôle permettent d’exécuter du code de manière conditionnelle et / ou répétée. Elles sont essentielles pour rendre l’exécution d’un code </a:t>
            </a:r>
            <a:r>
              <a:rPr b="1" lang="fr"/>
              <a:t>dynamique, </a:t>
            </a:r>
            <a:r>
              <a:rPr lang="fr"/>
              <a:t>et comprennent :</a:t>
            </a:r>
            <a:endParaRPr/>
          </a:p>
          <a:p>
            <a:pPr indent="-342900" lvl="0" marL="457200" rtl="0" algn="l">
              <a:spcBef>
                <a:spcPts val="1200"/>
              </a:spcBef>
              <a:spcAft>
                <a:spcPts val="0"/>
              </a:spcAft>
              <a:buSzPts val="1800"/>
              <a:buChar char="●"/>
            </a:pPr>
            <a:r>
              <a:rPr lang="fr"/>
              <a:t>Les structures conditionnelles (if, else if, else, switch)</a:t>
            </a:r>
            <a:endParaRPr/>
          </a:p>
          <a:p>
            <a:pPr indent="-342900" lvl="0" marL="457200" rtl="0" algn="l">
              <a:spcBef>
                <a:spcPts val="0"/>
              </a:spcBef>
              <a:spcAft>
                <a:spcPts val="0"/>
              </a:spcAft>
              <a:buSzPts val="1800"/>
              <a:buChar char="●"/>
            </a:pPr>
            <a:r>
              <a:rPr lang="fr"/>
              <a:t>Les structures itératives (for, while)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1"/>
          <p:cNvSpPr txBox="1"/>
          <p:nvPr>
            <p:ph type="title"/>
          </p:nvPr>
        </p:nvSpPr>
        <p:spPr>
          <a:xfrm>
            <a:off x="311700" y="171100"/>
            <a:ext cx="8520600" cy="979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La base du bloc conditionnel : L’opérateur if</a:t>
            </a:r>
            <a:endParaRPr/>
          </a:p>
          <a:p>
            <a:pPr indent="0" lvl="0" marL="0" rtl="0" algn="l">
              <a:spcBef>
                <a:spcPts val="0"/>
              </a:spcBef>
              <a:spcAft>
                <a:spcPts val="0"/>
              </a:spcAft>
              <a:buNone/>
            </a:pPr>
            <a:r>
              <a:t/>
            </a:r>
            <a:endParaRPr/>
          </a:p>
        </p:txBody>
      </p:sp>
      <p:sp>
        <p:nvSpPr>
          <p:cNvPr id="280" name="Google Shape;280;p41"/>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600"/>
              <a:t>Les structures conditionnelles en JavaScript permettent d’exécuter du code si une expression est vraie. </a:t>
            </a:r>
            <a:r>
              <a:rPr lang="fr" sz="1600">
                <a:solidFill>
                  <a:srgbClr val="434343"/>
                </a:solidFill>
              </a:rPr>
              <a:t>La condition suivant un if est évaluée en tant qu’expression </a:t>
            </a:r>
            <a:r>
              <a:rPr b="1" lang="fr" sz="1600">
                <a:solidFill>
                  <a:srgbClr val="434343"/>
                </a:solidFill>
              </a:rPr>
              <a:t>booléenne</a:t>
            </a:r>
            <a:r>
              <a:rPr lang="fr" sz="1600">
                <a:solidFill>
                  <a:srgbClr val="434343"/>
                </a:solidFill>
              </a:rPr>
              <a:t>. Si la condition est vraie, le bloc associé entre accolades est exécuté. Si la condition est fausse, le programme passe à la suite du code :</a:t>
            </a:r>
            <a:endParaRPr sz="1600">
              <a:solidFill>
                <a:srgbClr val="434343"/>
              </a:solidFill>
            </a:endParaRPr>
          </a:p>
        </p:txBody>
      </p:sp>
      <p:pic>
        <p:nvPicPr>
          <p:cNvPr id="281" name="Google Shape;281;p41"/>
          <p:cNvPicPr preferRelativeResize="0"/>
          <p:nvPr/>
        </p:nvPicPr>
        <p:blipFill>
          <a:blip r:embed="rId3">
            <a:alphaModFix/>
          </a:blip>
          <a:stretch>
            <a:fillRect/>
          </a:stretch>
        </p:blipFill>
        <p:spPr>
          <a:xfrm>
            <a:off x="433575" y="2754575"/>
            <a:ext cx="2615475" cy="1814375"/>
          </a:xfrm>
          <a:prstGeom prst="rect">
            <a:avLst/>
          </a:prstGeom>
          <a:noFill/>
          <a:ln>
            <a:noFill/>
          </a:ln>
        </p:spPr>
      </p:pic>
      <p:pic>
        <p:nvPicPr>
          <p:cNvPr id="282" name="Google Shape;282;p41"/>
          <p:cNvPicPr preferRelativeResize="0"/>
          <p:nvPr/>
        </p:nvPicPr>
        <p:blipFill>
          <a:blip r:embed="rId4">
            <a:alphaModFix/>
          </a:blip>
          <a:stretch>
            <a:fillRect/>
          </a:stretch>
        </p:blipFill>
        <p:spPr>
          <a:xfrm>
            <a:off x="4513850" y="3147413"/>
            <a:ext cx="1981200" cy="1028700"/>
          </a:xfrm>
          <a:prstGeom prst="rect">
            <a:avLst/>
          </a:prstGeom>
          <a:noFill/>
          <a:ln>
            <a:noFill/>
          </a:ln>
        </p:spPr>
      </p:pic>
      <p:cxnSp>
        <p:nvCxnSpPr>
          <p:cNvPr id="283" name="Google Shape;283;p41"/>
          <p:cNvCxnSpPr/>
          <p:nvPr/>
        </p:nvCxnSpPr>
        <p:spPr>
          <a:xfrm flipH="1" rot="10800000">
            <a:off x="3170925" y="3661600"/>
            <a:ext cx="1163100" cy="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type="title"/>
          </p:nvPr>
        </p:nvSpPr>
        <p:spPr>
          <a:xfrm>
            <a:off x="311700" y="171100"/>
            <a:ext cx="8520600" cy="979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Le bloc conditionnel if / else if</a:t>
            </a:r>
            <a:endParaRPr/>
          </a:p>
          <a:p>
            <a:pPr indent="0" lvl="0" marL="0" rtl="0" algn="l">
              <a:spcBef>
                <a:spcPts val="0"/>
              </a:spcBef>
              <a:spcAft>
                <a:spcPts val="0"/>
              </a:spcAft>
              <a:buNone/>
            </a:pPr>
            <a:r>
              <a:t/>
            </a:r>
            <a:endParaRPr/>
          </a:p>
        </p:txBody>
      </p:sp>
      <p:sp>
        <p:nvSpPr>
          <p:cNvPr id="289" name="Google Shape;289;p42"/>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600"/>
              <a:t>Un bloc conditionnel ne se résume pas à une seule évaluation de condition associée à un seul bloc ; on peut également faire comprendre à JavaScript qu’il faut choisir </a:t>
            </a:r>
            <a:r>
              <a:rPr lang="fr" sz="1600" u="sng"/>
              <a:t>une seule</a:t>
            </a:r>
            <a:r>
              <a:rPr lang="fr" sz="1600"/>
              <a:t> option parmis plusieurs conditions avec le mot clé </a:t>
            </a:r>
            <a:r>
              <a:rPr b="1" lang="fr" sz="1600"/>
              <a:t>else if</a:t>
            </a:r>
            <a:r>
              <a:rPr lang="fr" sz="1600"/>
              <a:t> :</a:t>
            </a:r>
            <a:endParaRPr sz="1600">
              <a:solidFill>
                <a:srgbClr val="434343"/>
              </a:solidFill>
            </a:endParaRPr>
          </a:p>
        </p:txBody>
      </p:sp>
      <p:pic>
        <p:nvPicPr>
          <p:cNvPr id="290" name="Google Shape;290;p42"/>
          <p:cNvPicPr preferRelativeResize="0"/>
          <p:nvPr/>
        </p:nvPicPr>
        <p:blipFill>
          <a:blip r:embed="rId3">
            <a:alphaModFix/>
          </a:blip>
          <a:stretch>
            <a:fillRect/>
          </a:stretch>
        </p:blipFill>
        <p:spPr>
          <a:xfrm>
            <a:off x="4377075" y="2856863"/>
            <a:ext cx="2781300" cy="1019175"/>
          </a:xfrm>
          <a:prstGeom prst="rect">
            <a:avLst/>
          </a:prstGeom>
          <a:noFill/>
          <a:ln>
            <a:noFill/>
          </a:ln>
        </p:spPr>
      </p:pic>
      <p:pic>
        <p:nvPicPr>
          <p:cNvPr id="291" name="Google Shape;291;p42"/>
          <p:cNvPicPr preferRelativeResize="0"/>
          <p:nvPr/>
        </p:nvPicPr>
        <p:blipFill>
          <a:blip r:embed="rId4">
            <a:alphaModFix/>
          </a:blip>
          <a:stretch>
            <a:fillRect/>
          </a:stretch>
        </p:blipFill>
        <p:spPr>
          <a:xfrm>
            <a:off x="311688" y="2271088"/>
            <a:ext cx="2981325" cy="2190750"/>
          </a:xfrm>
          <a:prstGeom prst="rect">
            <a:avLst/>
          </a:prstGeom>
          <a:noFill/>
          <a:ln>
            <a:noFill/>
          </a:ln>
        </p:spPr>
      </p:pic>
      <p:cxnSp>
        <p:nvCxnSpPr>
          <p:cNvPr id="292" name="Google Shape;292;p42"/>
          <p:cNvCxnSpPr/>
          <p:nvPr/>
        </p:nvCxnSpPr>
        <p:spPr>
          <a:xfrm>
            <a:off x="3419238" y="3365250"/>
            <a:ext cx="831600" cy="2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3"/>
          <p:cNvSpPr txBox="1"/>
          <p:nvPr>
            <p:ph type="title"/>
          </p:nvPr>
        </p:nvSpPr>
        <p:spPr>
          <a:xfrm>
            <a:off x="311700" y="171100"/>
            <a:ext cx="8520600" cy="979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Le mot-clé else</a:t>
            </a:r>
            <a:endParaRPr/>
          </a:p>
          <a:p>
            <a:pPr indent="0" lvl="0" marL="0" rtl="0" algn="l">
              <a:spcBef>
                <a:spcPts val="0"/>
              </a:spcBef>
              <a:spcAft>
                <a:spcPts val="0"/>
              </a:spcAft>
              <a:buNone/>
            </a:pPr>
            <a:r>
              <a:t/>
            </a:r>
            <a:endParaRPr/>
          </a:p>
        </p:txBody>
      </p:sp>
      <p:sp>
        <p:nvSpPr>
          <p:cNvPr id="298" name="Google Shape;298;p43"/>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600"/>
              <a:t>Le mot-clé </a:t>
            </a:r>
            <a:r>
              <a:rPr b="1" lang="fr" sz="1600"/>
              <a:t>else </a:t>
            </a:r>
            <a:r>
              <a:rPr lang="fr" sz="1600"/>
              <a:t>permet de définir le bloc de code qui sera exécuté lorsque toutes les conditions précédentes sont fausses. Il ne contient pas de condition : il représente le cas par défaut. Si aucune des expressions évaluées avec </a:t>
            </a:r>
            <a:r>
              <a:rPr b="1" lang="fr" sz="1600"/>
              <a:t>if </a:t>
            </a:r>
            <a:r>
              <a:rPr lang="fr" sz="1600"/>
              <a:t>ou </a:t>
            </a:r>
            <a:r>
              <a:rPr b="1" lang="fr" sz="1600"/>
              <a:t>else if</a:t>
            </a:r>
            <a:r>
              <a:rPr lang="fr" sz="1600"/>
              <a:t> n’est vraie, alors le bloc else est exécuté :</a:t>
            </a:r>
            <a:endParaRPr sz="1600">
              <a:solidFill>
                <a:srgbClr val="434343"/>
              </a:solidFill>
            </a:endParaRPr>
          </a:p>
        </p:txBody>
      </p:sp>
      <p:pic>
        <p:nvPicPr>
          <p:cNvPr id="299" name="Google Shape;299;p43"/>
          <p:cNvPicPr preferRelativeResize="0"/>
          <p:nvPr/>
        </p:nvPicPr>
        <p:blipFill>
          <a:blip r:embed="rId3">
            <a:alphaModFix/>
          </a:blip>
          <a:stretch>
            <a:fillRect/>
          </a:stretch>
        </p:blipFill>
        <p:spPr>
          <a:xfrm>
            <a:off x="311697" y="2625372"/>
            <a:ext cx="2058875" cy="1255400"/>
          </a:xfrm>
          <a:prstGeom prst="rect">
            <a:avLst/>
          </a:prstGeom>
          <a:noFill/>
          <a:ln>
            <a:noFill/>
          </a:ln>
        </p:spPr>
      </p:pic>
      <p:pic>
        <p:nvPicPr>
          <p:cNvPr id="300" name="Google Shape;300;p43"/>
          <p:cNvPicPr preferRelativeResize="0"/>
          <p:nvPr/>
        </p:nvPicPr>
        <p:blipFill>
          <a:blip r:embed="rId4">
            <a:alphaModFix/>
          </a:blip>
          <a:stretch>
            <a:fillRect/>
          </a:stretch>
        </p:blipFill>
        <p:spPr>
          <a:xfrm>
            <a:off x="3484875" y="2743488"/>
            <a:ext cx="2781300" cy="1019175"/>
          </a:xfrm>
          <a:prstGeom prst="rect">
            <a:avLst/>
          </a:prstGeom>
          <a:noFill/>
          <a:ln>
            <a:noFill/>
          </a:ln>
        </p:spPr>
      </p:pic>
      <p:cxnSp>
        <p:nvCxnSpPr>
          <p:cNvPr id="301" name="Google Shape;301;p43"/>
          <p:cNvCxnSpPr/>
          <p:nvPr/>
        </p:nvCxnSpPr>
        <p:spPr>
          <a:xfrm>
            <a:off x="2527038" y="3251875"/>
            <a:ext cx="831600" cy="2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4"/>
          <p:cNvSpPr txBox="1"/>
          <p:nvPr>
            <p:ph type="title"/>
          </p:nvPr>
        </p:nvSpPr>
        <p:spPr>
          <a:xfrm>
            <a:off x="311700" y="171100"/>
            <a:ext cx="8520600" cy="101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Le bloc conditionnel switch</a:t>
            </a:r>
            <a:endParaRPr/>
          </a:p>
          <a:p>
            <a:pPr indent="0" lvl="0" marL="0" rtl="0" algn="l">
              <a:spcBef>
                <a:spcPts val="0"/>
              </a:spcBef>
              <a:spcAft>
                <a:spcPts val="0"/>
              </a:spcAft>
              <a:buNone/>
            </a:pPr>
            <a:r>
              <a:t/>
            </a:r>
            <a:endParaRPr/>
          </a:p>
        </p:txBody>
      </p:sp>
      <p:sp>
        <p:nvSpPr>
          <p:cNvPr id="307" name="Google Shape;307;p44"/>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600"/>
              <a:t>La structure conditionnelle </a:t>
            </a:r>
            <a:r>
              <a:rPr b="1" lang="fr" sz="1600"/>
              <a:t>switch </a:t>
            </a:r>
            <a:r>
              <a:rPr lang="fr" sz="1600"/>
              <a:t>permet de comparer la valeur d’une expression à plusieurs cas possibles. Chaque cas est défini avec le mot-clé </a:t>
            </a:r>
            <a:r>
              <a:rPr b="1" lang="fr" sz="1600"/>
              <a:t>case</a:t>
            </a:r>
            <a:r>
              <a:rPr lang="fr" sz="1600"/>
              <a:t>. Lorsque la valeur correspond à un </a:t>
            </a:r>
            <a:r>
              <a:rPr b="1" lang="fr" sz="1600"/>
              <a:t>case</a:t>
            </a:r>
            <a:r>
              <a:rPr lang="fr" sz="1600"/>
              <a:t>, le bloc de code associé est exécuté. Le mot-clé </a:t>
            </a:r>
            <a:r>
              <a:rPr b="1" lang="fr" sz="1600"/>
              <a:t>break </a:t>
            </a:r>
            <a:r>
              <a:rPr lang="fr" sz="1600"/>
              <a:t>permet d’arrêter l’exécution du switch une fois un cas trouvé. Si aucun cas ne correspond, le bloc </a:t>
            </a:r>
            <a:r>
              <a:rPr b="1" lang="fr" sz="1600"/>
              <a:t>default </a:t>
            </a:r>
            <a:r>
              <a:rPr lang="fr" sz="1600"/>
              <a:t>est exécuté ; il représente le comportement par défaut :</a:t>
            </a:r>
            <a:endParaRPr sz="1600"/>
          </a:p>
        </p:txBody>
      </p:sp>
      <p:pic>
        <p:nvPicPr>
          <p:cNvPr id="308" name="Google Shape;308;p44"/>
          <p:cNvPicPr preferRelativeResize="0"/>
          <p:nvPr/>
        </p:nvPicPr>
        <p:blipFill>
          <a:blip r:embed="rId3">
            <a:alphaModFix/>
          </a:blip>
          <a:stretch>
            <a:fillRect/>
          </a:stretch>
        </p:blipFill>
        <p:spPr>
          <a:xfrm>
            <a:off x="4551013" y="3353688"/>
            <a:ext cx="1933575" cy="981075"/>
          </a:xfrm>
          <a:prstGeom prst="rect">
            <a:avLst/>
          </a:prstGeom>
          <a:noFill/>
          <a:ln>
            <a:noFill/>
          </a:ln>
        </p:spPr>
      </p:pic>
      <p:pic>
        <p:nvPicPr>
          <p:cNvPr id="309" name="Google Shape;309;p44"/>
          <p:cNvPicPr preferRelativeResize="0"/>
          <p:nvPr/>
        </p:nvPicPr>
        <p:blipFill>
          <a:blip r:embed="rId4">
            <a:alphaModFix/>
          </a:blip>
          <a:stretch>
            <a:fillRect/>
          </a:stretch>
        </p:blipFill>
        <p:spPr>
          <a:xfrm>
            <a:off x="1037797" y="2965675"/>
            <a:ext cx="2056950" cy="1757125"/>
          </a:xfrm>
          <a:prstGeom prst="rect">
            <a:avLst/>
          </a:prstGeom>
          <a:noFill/>
          <a:ln>
            <a:noFill/>
          </a:ln>
        </p:spPr>
      </p:pic>
      <p:cxnSp>
        <p:nvCxnSpPr>
          <p:cNvPr id="310" name="Google Shape;310;p44"/>
          <p:cNvCxnSpPr/>
          <p:nvPr/>
        </p:nvCxnSpPr>
        <p:spPr>
          <a:xfrm>
            <a:off x="3210434" y="3840650"/>
            <a:ext cx="1224900" cy="7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5"/>
          <p:cNvSpPr txBox="1"/>
          <p:nvPr>
            <p:ph type="title"/>
          </p:nvPr>
        </p:nvSpPr>
        <p:spPr>
          <a:xfrm>
            <a:off x="311700" y="171100"/>
            <a:ext cx="8520600" cy="979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La base du bloc itératif : L’opérateur while</a:t>
            </a:r>
            <a:endParaRPr/>
          </a:p>
          <a:p>
            <a:pPr indent="0" lvl="0" marL="0" rtl="0" algn="l">
              <a:spcBef>
                <a:spcPts val="0"/>
              </a:spcBef>
              <a:spcAft>
                <a:spcPts val="0"/>
              </a:spcAft>
              <a:buNone/>
            </a:pPr>
            <a:r>
              <a:t/>
            </a:r>
            <a:endParaRPr/>
          </a:p>
        </p:txBody>
      </p:sp>
      <p:sp>
        <p:nvSpPr>
          <p:cNvPr id="316" name="Google Shape;316;p45"/>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600"/>
              <a:t>La boucle </a:t>
            </a:r>
            <a:r>
              <a:rPr b="1" lang="fr" sz="1600"/>
              <a:t>while </a:t>
            </a:r>
            <a:r>
              <a:rPr lang="fr" sz="1600"/>
              <a:t>évalue une expression avant chaque itération. Cette expression est interprétée comme une condition booléenne. Tant que la condition est vraie, le bloc de code associé entre accolades est exécuté. Lorsque la condition devient fausse, l’exécution de la boucle s’arrête et le programme continue après la boucle :</a:t>
            </a:r>
            <a:endParaRPr sz="1600"/>
          </a:p>
        </p:txBody>
      </p:sp>
      <p:cxnSp>
        <p:nvCxnSpPr>
          <p:cNvPr id="317" name="Google Shape;317;p45"/>
          <p:cNvCxnSpPr/>
          <p:nvPr/>
        </p:nvCxnSpPr>
        <p:spPr>
          <a:xfrm flipH="1" rot="10800000">
            <a:off x="3375675" y="3661588"/>
            <a:ext cx="1163100" cy="300"/>
          </a:xfrm>
          <a:prstGeom prst="straightConnector1">
            <a:avLst/>
          </a:prstGeom>
          <a:noFill/>
          <a:ln cap="flat" cmpd="sng" w="9525">
            <a:solidFill>
              <a:schemeClr val="dk2"/>
            </a:solidFill>
            <a:prstDash val="solid"/>
            <a:round/>
            <a:headEnd len="med" w="med" type="none"/>
            <a:tailEnd len="med" w="med" type="triangle"/>
          </a:ln>
        </p:spPr>
      </p:cxnSp>
      <p:pic>
        <p:nvPicPr>
          <p:cNvPr id="318" name="Google Shape;318;p45"/>
          <p:cNvPicPr preferRelativeResize="0"/>
          <p:nvPr/>
        </p:nvPicPr>
        <p:blipFill>
          <a:blip r:embed="rId3">
            <a:alphaModFix/>
          </a:blip>
          <a:stretch>
            <a:fillRect/>
          </a:stretch>
        </p:blipFill>
        <p:spPr>
          <a:xfrm>
            <a:off x="4684138" y="2866413"/>
            <a:ext cx="1933575" cy="1590675"/>
          </a:xfrm>
          <a:prstGeom prst="rect">
            <a:avLst/>
          </a:prstGeom>
          <a:noFill/>
          <a:ln>
            <a:noFill/>
          </a:ln>
        </p:spPr>
      </p:pic>
      <p:pic>
        <p:nvPicPr>
          <p:cNvPr id="319" name="Google Shape;319;p45"/>
          <p:cNvPicPr preferRelativeResize="0"/>
          <p:nvPr/>
        </p:nvPicPr>
        <p:blipFill>
          <a:blip r:embed="rId4">
            <a:alphaModFix/>
          </a:blip>
          <a:stretch>
            <a:fillRect/>
          </a:stretch>
        </p:blipFill>
        <p:spPr>
          <a:xfrm>
            <a:off x="478400" y="2761438"/>
            <a:ext cx="2751900" cy="18006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6"/>
          <p:cNvSpPr txBox="1"/>
          <p:nvPr>
            <p:ph type="title"/>
          </p:nvPr>
        </p:nvSpPr>
        <p:spPr>
          <a:xfrm>
            <a:off x="311700" y="171100"/>
            <a:ext cx="8520600" cy="979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L’itération sur structure de données : L’opérateur for</a:t>
            </a:r>
            <a:endParaRPr/>
          </a:p>
          <a:p>
            <a:pPr indent="0" lvl="0" marL="0" rtl="0" algn="l">
              <a:spcBef>
                <a:spcPts val="0"/>
              </a:spcBef>
              <a:spcAft>
                <a:spcPts val="0"/>
              </a:spcAft>
              <a:buNone/>
            </a:pPr>
            <a:r>
              <a:t/>
            </a:r>
            <a:endParaRPr/>
          </a:p>
        </p:txBody>
      </p:sp>
      <p:sp>
        <p:nvSpPr>
          <p:cNvPr id="325" name="Google Shape;325;p46"/>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400"/>
              <a:t>La boucle </a:t>
            </a:r>
            <a:r>
              <a:rPr b="1" lang="fr" sz="1400"/>
              <a:t>for </a:t>
            </a:r>
            <a:r>
              <a:rPr lang="fr" sz="1400"/>
              <a:t>permet d’exécuter un bloc de code un nombre déterminé de fois. Elle se compose de trois parties, dont les deux dernières sont réévaluées à chaque itération :</a:t>
            </a:r>
            <a:endParaRPr sz="1400"/>
          </a:p>
          <a:p>
            <a:pPr indent="-317500" lvl="0" marL="457200" rtl="0" algn="l">
              <a:spcBef>
                <a:spcPts val="1200"/>
              </a:spcBef>
              <a:spcAft>
                <a:spcPts val="0"/>
              </a:spcAft>
              <a:buSzPts val="1400"/>
              <a:buChar char="●"/>
            </a:pPr>
            <a:r>
              <a:rPr lang="fr" sz="1400"/>
              <a:t>Une initialisation, qui permet de déclarer un </a:t>
            </a:r>
            <a:r>
              <a:rPr i="1" lang="fr" sz="1400"/>
              <a:t>itérateur, </a:t>
            </a:r>
            <a:r>
              <a:rPr lang="fr" sz="1400"/>
              <a:t>dont la portée se limite au bloc exécuté.</a:t>
            </a:r>
            <a:endParaRPr sz="1400"/>
          </a:p>
          <a:p>
            <a:pPr indent="-317500" lvl="0" marL="457200" rtl="0" algn="l">
              <a:spcBef>
                <a:spcPts val="0"/>
              </a:spcBef>
              <a:spcAft>
                <a:spcPts val="0"/>
              </a:spcAft>
              <a:buSzPts val="1400"/>
              <a:buChar char="●"/>
            </a:pPr>
            <a:r>
              <a:rPr lang="fr" sz="1400"/>
              <a:t>Une condition, qui permet à l’instar d’une boucle </a:t>
            </a:r>
            <a:r>
              <a:rPr b="1" lang="fr" sz="1400"/>
              <a:t>while, </a:t>
            </a:r>
            <a:r>
              <a:rPr lang="fr" sz="1400"/>
              <a:t>d’arrêter la boucle de manière contrôlée.</a:t>
            </a:r>
            <a:endParaRPr sz="1400"/>
          </a:p>
          <a:p>
            <a:pPr indent="-317500" lvl="0" marL="457200" rtl="0" algn="l">
              <a:spcBef>
                <a:spcPts val="0"/>
              </a:spcBef>
              <a:spcAft>
                <a:spcPts val="0"/>
              </a:spcAft>
              <a:buSzPts val="1400"/>
              <a:buChar char="●"/>
            </a:pPr>
            <a:r>
              <a:rPr lang="fr" sz="1400"/>
              <a:t>Une mise à jour, qui actualise la valeur de l’itérateur à chaque itération.</a:t>
            </a:r>
            <a:endParaRPr sz="1400"/>
          </a:p>
        </p:txBody>
      </p:sp>
      <p:cxnSp>
        <p:nvCxnSpPr>
          <p:cNvPr id="326" name="Google Shape;326;p46"/>
          <p:cNvCxnSpPr/>
          <p:nvPr/>
        </p:nvCxnSpPr>
        <p:spPr>
          <a:xfrm flipH="1" rot="10800000">
            <a:off x="3507300" y="4080888"/>
            <a:ext cx="1163100" cy="300"/>
          </a:xfrm>
          <a:prstGeom prst="straightConnector1">
            <a:avLst/>
          </a:prstGeom>
          <a:noFill/>
          <a:ln cap="flat" cmpd="sng" w="9525">
            <a:solidFill>
              <a:schemeClr val="dk2"/>
            </a:solidFill>
            <a:prstDash val="solid"/>
            <a:round/>
            <a:headEnd len="med" w="med" type="none"/>
            <a:tailEnd len="med" w="med" type="triangle"/>
          </a:ln>
        </p:spPr>
      </p:cxnSp>
      <p:pic>
        <p:nvPicPr>
          <p:cNvPr id="327" name="Google Shape;327;p46"/>
          <p:cNvPicPr preferRelativeResize="0"/>
          <p:nvPr/>
        </p:nvPicPr>
        <p:blipFill>
          <a:blip r:embed="rId3">
            <a:alphaModFix/>
          </a:blip>
          <a:stretch>
            <a:fillRect/>
          </a:stretch>
        </p:blipFill>
        <p:spPr>
          <a:xfrm>
            <a:off x="4756672" y="3266688"/>
            <a:ext cx="2239475" cy="1628725"/>
          </a:xfrm>
          <a:prstGeom prst="rect">
            <a:avLst/>
          </a:prstGeom>
          <a:noFill/>
          <a:ln>
            <a:noFill/>
          </a:ln>
        </p:spPr>
      </p:pic>
      <p:pic>
        <p:nvPicPr>
          <p:cNvPr id="328" name="Google Shape;328;p46"/>
          <p:cNvPicPr preferRelativeResize="0"/>
          <p:nvPr/>
        </p:nvPicPr>
        <p:blipFill>
          <a:blip r:embed="rId4">
            <a:alphaModFix/>
          </a:blip>
          <a:stretch>
            <a:fillRect/>
          </a:stretch>
        </p:blipFill>
        <p:spPr>
          <a:xfrm>
            <a:off x="801638" y="3523825"/>
            <a:ext cx="2619375" cy="1114425"/>
          </a:xfrm>
          <a:prstGeom prst="rect">
            <a:avLst/>
          </a:prstGeom>
          <a:noFill/>
          <a:ln>
            <a:noFill/>
          </a:ln>
        </p:spPr>
      </p:pic>
      <p:cxnSp>
        <p:nvCxnSpPr>
          <p:cNvPr id="329" name="Google Shape;329;p46"/>
          <p:cNvCxnSpPr/>
          <p:nvPr/>
        </p:nvCxnSpPr>
        <p:spPr>
          <a:xfrm rot="10800000">
            <a:off x="277925" y="2081775"/>
            <a:ext cx="312000" cy="0"/>
          </a:xfrm>
          <a:prstGeom prst="straightConnector1">
            <a:avLst/>
          </a:prstGeom>
          <a:noFill/>
          <a:ln cap="flat" cmpd="sng" w="9525">
            <a:solidFill>
              <a:srgbClr val="FF0000"/>
            </a:solidFill>
            <a:prstDash val="solid"/>
            <a:round/>
            <a:headEnd len="med" w="med" type="none"/>
            <a:tailEnd len="med" w="med" type="none"/>
          </a:ln>
        </p:spPr>
      </p:cxnSp>
      <p:cxnSp>
        <p:nvCxnSpPr>
          <p:cNvPr id="330" name="Google Shape;330;p46"/>
          <p:cNvCxnSpPr/>
          <p:nvPr/>
        </p:nvCxnSpPr>
        <p:spPr>
          <a:xfrm>
            <a:off x="282775" y="2086650"/>
            <a:ext cx="0" cy="1326000"/>
          </a:xfrm>
          <a:prstGeom prst="straightConnector1">
            <a:avLst/>
          </a:prstGeom>
          <a:noFill/>
          <a:ln cap="flat" cmpd="sng" w="9525">
            <a:solidFill>
              <a:srgbClr val="FF0000"/>
            </a:solidFill>
            <a:prstDash val="solid"/>
            <a:round/>
            <a:headEnd len="med" w="med" type="none"/>
            <a:tailEnd len="med" w="med" type="none"/>
          </a:ln>
        </p:spPr>
      </p:cxnSp>
      <p:cxnSp>
        <p:nvCxnSpPr>
          <p:cNvPr id="331" name="Google Shape;331;p46"/>
          <p:cNvCxnSpPr/>
          <p:nvPr/>
        </p:nvCxnSpPr>
        <p:spPr>
          <a:xfrm>
            <a:off x="287650" y="3407875"/>
            <a:ext cx="1574700" cy="0"/>
          </a:xfrm>
          <a:prstGeom prst="straightConnector1">
            <a:avLst/>
          </a:prstGeom>
          <a:noFill/>
          <a:ln cap="flat" cmpd="sng" w="9525">
            <a:solidFill>
              <a:srgbClr val="FF0000"/>
            </a:solidFill>
            <a:prstDash val="solid"/>
            <a:round/>
            <a:headEnd len="med" w="med" type="none"/>
            <a:tailEnd len="med" w="med" type="none"/>
          </a:ln>
        </p:spPr>
      </p:cxnSp>
      <p:cxnSp>
        <p:nvCxnSpPr>
          <p:cNvPr id="332" name="Google Shape;332;p46"/>
          <p:cNvCxnSpPr/>
          <p:nvPr/>
        </p:nvCxnSpPr>
        <p:spPr>
          <a:xfrm rot="10800000">
            <a:off x="370475" y="2325550"/>
            <a:ext cx="209700" cy="0"/>
          </a:xfrm>
          <a:prstGeom prst="straightConnector1">
            <a:avLst/>
          </a:prstGeom>
          <a:noFill/>
          <a:ln cap="flat" cmpd="sng" w="9525">
            <a:solidFill>
              <a:srgbClr val="FF0000"/>
            </a:solidFill>
            <a:prstDash val="solid"/>
            <a:round/>
            <a:headEnd len="med" w="med" type="none"/>
            <a:tailEnd len="med" w="med" type="none"/>
          </a:ln>
        </p:spPr>
      </p:cxnSp>
      <p:cxnSp>
        <p:nvCxnSpPr>
          <p:cNvPr id="333" name="Google Shape;333;p46"/>
          <p:cNvCxnSpPr/>
          <p:nvPr/>
        </p:nvCxnSpPr>
        <p:spPr>
          <a:xfrm>
            <a:off x="380275" y="2325550"/>
            <a:ext cx="0" cy="965400"/>
          </a:xfrm>
          <a:prstGeom prst="straightConnector1">
            <a:avLst/>
          </a:prstGeom>
          <a:noFill/>
          <a:ln cap="flat" cmpd="sng" w="9525">
            <a:solidFill>
              <a:srgbClr val="FF0000"/>
            </a:solidFill>
            <a:prstDash val="solid"/>
            <a:round/>
            <a:headEnd len="med" w="med" type="none"/>
            <a:tailEnd len="med" w="med" type="none"/>
          </a:ln>
        </p:spPr>
      </p:cxnSp>
      <p:cxnSp>
        <p:nvCxnSpPr>
          <p:cNvPr id="334" name="Google Shape;334;p46"/>
          <p:cNvCxnSpPr/>
          <p:nvPr/>
        </p:nvCxnSpPr>
        <p:spPr>
          <a:xfrm>
            <a:off x="370475" y="3291925"/>
            <a:ext cx="2174400" cy="0"/>
          </a:xfrm>
          <a:prstGeom prst="straightConnector1">
            <a:avLst/>
          </a:prstGeom>
          <a:noFill/>
          <a:ln cap="flat" cmpd="sng" w="9525">
            <a:solidFill>
              <a:srgbClr val="FF0000"/>
            </a:solidFill>
            <a:prstDash val="solid"/>
            <a:round/>
            <a:headEnd len="med" w="med" type="none"/>
            <a:tailEnd len="med" w="med" type="none"/>
          </a:ln>
        </p:spPr>
      </p:cxnSp>
      <p:cxnSp>
        <p:nvCxnSpPr>
          <p:cNvPr id="335" name="Google Shape;335;p46"/>
          <p:cNvCxnSpPr/>
          <p:nvPr/>
        </p:nvCxnSpPr>
        <p:spPr>
          <a:xfrm>
            <a:off x="580175" y="2574200"/>
            <a:ext cx="0" cy="575400"/>
          </a:xfrm>
          <a:prstGeom prst="straightConnector1">
            <a:avLst/>
          </a:prstGeom>
          <a:noFill/>
          <a:ln cap="flat" cmpd="sng" w="9525">
            <a:solidFill>
              <a:srgbClr val="FF0000"/>
            </a:solidFill>
            <a:prstDash val="solid"/>
            <a:round/>
            <a:headEnd len="med" w="med" type="none"/>
            <a:tailEnd len="med" w="med" type="none"/>
          </a:ln>
        </p:spPr>
      </p:cxnSp>
      <p:cxnSp>
        <p:nvCxnSpPr>
          <p:cNvPr id="336" name="Google Shape;336;p46"/>
          <p:cNvCxnSpPr/>
          <p:nvPr/>
        </p:nvCxnSpPr>
        <p:spPr>
          <a:xfrm>
            <a:off x="585050" y="3149475"/>
            <a:ext cx="2413200" cy="0"/>
          </a:xfrm>
          <a:prstGeom prst="straightConnector1">
            <a:avLst/>
          </a:prstGeom>
          <a:noFill/>
          <a:ln cap="flat" cmpd="sng" w="9525">
            <a:solidFill>
              <a:srgbClr val="FF0000"/>
            </a:solidFill>
            <a:prstDash val="solid"/>
            <a:round/>
            <a:headEnd len="med" w="med" type="none"/>
            <a:tailEnd len="med" w="med" type="none"/>
          </a:ln>
        </p:spPr>
      </p:cxnSp>
      <p:cxnSp>
        <p:nvCxnSpPr>
          <p:cNvPr id="337" name="Google Shape;337;p46"/>
          <p:cNvCxnSpPr>
            <a:endCxn id="338" idx="0"/>
          </p:cNvCxnSpPr>
          <p:nvPr/>
        </p:nvCxnSpPr>
        <p:spPr>
          <a:xfrm>
            <a:off x="1857425" y="3412650"/>
            <a:ext cx="87900" cy="287700"/>
          </a:xfrm>
          <a:prstGeom prst="straightConnector1">
            <a:avLst/>
          </a:prstGeom>
          <a:noFill/>
          <a:ln cap="flat" cmpd="sng" w="9525">
            <a:solidFill>
              <a:srgbClr val="FF0000"/>
            </a:solidFill>
            <a:prstDash val="solid"/>
            <a:round/>
            <a:headEnd len="med" w="med" type="none"/>
            <a:tailEnd len="med" w="med" type="triangle"/>
          </a:ln>
        </p:spPr>
      </p:cxnSp>
      <p:cxnSp>
        <p:nvCxnSpPr>
          <p:cNvPr id="339" name="Google Shape;339;p46"/>
          <p:cNvCxnSpPr>
            <a:endCxn id="340" idx="0"/>
          </p:cNvCxnSpPr>
          <p:nvPr/>
        </p:nvCxnSpPr>
        <p:spPr>
          <a:xfrm>
            <a:off x="2539950" y="3295725"/>
            <a:ext cx="51900" cy="409500"/>
          </a:xfrm>
          <a:prstGeom prst="straightConnector1">
            <a:avLst/>
          </a:prstGeom>
          <a:noFill/>
          <a:ln cap="flat" cmpd="sng" w="9525">
            <a:solidFill>
              <a:srgbClr val="FF0000"/>
            </a:solidFill>
            <a:prstDash val="solid"/>
            <a:round/>
            <a:headEnd len="med" w="med" type="none"/>
            <a:tailEnd len="med" w="med" type="triangle"/>
          </a:ln>
        </p:spPr>
      </p:cxnSp>
      <p:cxnSp>
        <p:nvCxnSpPr>
          <p:cNvPr id="341" name="Google Shape;341;p46"/>
          <p:cNvCxnSpPr>
            <a:endCxn id="342" idx="0"/>
          </p:cNvCxnSpPr>
          <p:nvPr/>
        </p:nvCxnSpPr>
        <p:spPr>
          <a:xfrm>
            <a:off x="2993575" y="3154425"/>
            <a:ext cx="35100" cy="567900"/>
          </a:xfrm>
          <a:prstGeom prst="straightConnector1">
            <a:avLst/>
          </a:prstGeom>
          <a:noFill/>
          <a:ln cap="flat" cmpd="sng" w="9525">
            <a:solidFill>
              <a:srgbClr val="FF0000"/>
            </a:solidFill>
            <a:prstDash val="solid"/>
            <a:round/>
            <a:headEnd len="med" w="med" type="none"/>
            <a:tailEnd len="med" w="med" type="triangle"/>
          </a:ln>
        </p:spPr>
      </p:cxnSp>
      <p:sp>
        <p:nvSpPr>
          <p:cNvPr id="338" name="Google Shape;338;p46"/>
          <p:cNvSpPr/>
          <p:nvPr/>
        </p:nvSpPr>
        <p:spPr>
          <a:xfrm>
            <a:off x="1618625" y="3700350"/>
            <a:ext cx="653400" cy="175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0" name="Google Shape;340;p46"/>
          <p:cNvSpPr/>
          <p:nvPr/>
        </p:nvSpPr>
        <p:spPr>
          <a:xfrm>
            <a:off x="2395050" y="3705225"/>
            <a:ext cx="393600" cy="175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2" name="Google Shape;342;p46"/>
          <p:cNvSpPr/>
          <p:nvPr/>
        </p:nvSpPr>
        <p:spPr>
          <a:xfrm>
            <a:off x="2911675" y="3722325"/>
            <a:ext cx="234000" cy="141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7"/>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Tableaux et objets simples - Sommaire</a:t>
            </a:r>
            <a:endParaRPr/>
          </a:p>
          <a:p>
            <a:pPr indent="0" lvl="0" marL="0" rtl="0" algn="l">
              <a:spcBef>
                <a:spcPts val="0"/>
              </a:spcBef>
              <a:spcAft>
                <a:spcPts val="0"/>
              </a:spcAft>
              <a:buNone/>
            </a:pPr>
            <a:r>
              <a:t/>
            </a:r>
            <a:endParaRPr/>
          </a:p>
        </p:txBody>
      </p:sp>
      <p:sp>
        <p:nvSpPr>
          <p:cNvPr id="348" name="Google Shape;348;p47"/>
          <p:cNvSpPr txBox="1"/>
          <p:nvPr>
            <p:ph idx="1" type="body"/>
          </p:nvPr>
        </p:nvSpPr>
        <p:spPr>
          <a:xfrm>
            <a:off x="311700" y="1218850"/>
            <a:ext cx="8520600" cy="3350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fr" sz="1600"/>
              <a:t>Les tableaux et les objets sont les deux principales structures de données en JavaScript. Ils permettent de regrouper, organiser et manipuler des informations de manière efficace. Dans ce chapitre, nous aborderons :</a:t>
            </a:r>
            <a:endParaRPr sz="1600"/>
          </a:p>
          <a:p>
            <a:pPr indent="-330200" lvl="0" marL="457200" rtl="0" algn="l">
              <a:spcBef>
                <a:spcPts val="1200"/>
              </a:spcBef>
              <a:spcAft>
                <a:spcPts val="0"/>
              </a:spcAft>
              <a:buSzPts val="1600"/>
              <a:buChar char="●"/>
            </a:pPr>
            <a:r>
              <a:rPr lang="fr" sz="1600"/>
              <a:t>Les tableaux : définition et usages</a:t>
            </a:r>
            <a:endParaRPr sz="1600"/>
          </a:p>
          <a:p>
            <a:pPr indent="-330200" lvl="0" marL="457200" rtl="0" algn="l">
              <a:spcBef>
                <a:spcPts val="0"/>
              </a:spcBef>
              <a:spcAft>
                <a:spcPts val="0"/>
              </a:spcAft>
              <a:buSzPts val="1600"/>
              <a:buChar char="●"/>
            </a:pPr>
            <a:r>
              <a:rPr lang="fr" sz="1600"/>
              <a:t>Accéder aux éléments d’un tableau</a:t>
            </a:r>
            <a:endParaRPr sz="1600"/>
          </a:p>
          <a:p>
            <a:pPr indent="-330200" lvl="0" marL="457200" rtl="0" algn="l">
              <a:spcBef>
                <a:spcPts val="0"/>
              </a:spcBef>
              <a:spcAft>
                <a:spcPts val="0"/>
              </a:spcAft>
              <a:buSzPts val="1600"/>
              <a:buChar char="●"/>
            </a:pPr>
            <a:r>
              <a:rPr lang="fr" sz="1600"/>
              <a:t>Manipulation des tableaux (ajout, suppression, parcours)</a:t>
            </a:r>
            <a:endParaRPr sz="1600"/>
          </a:p>
          <a:p>
            <a:pPr indent="-330200" lvl="0" marL="457200" rtl="0" algn="l">
              <a:spcBef>
                <a:spcPts val="0"/>
              </a:spcBef>
              <a:spcAft>
                <a:spcPts val="0"/>
              </a:spcAft>
              <a:buSzPts val="1600"/>
              <a:buChar char="●"/>
            </a:pPr>
            <a:r>
              <a:rPr lang="fr" sz="1600"/>
              <a:t>Les objets : définition et usages</a:t>
            </a:r>
            <a:endParaRPr sz="1600"/>
          </a:p>
          <a:p>
            <a:pPr indent="-330200" lvl="0" marL="457200" rtl="0" algn="l">
              <a:spcBef>
                <a:spcPts val="0"/>
              </a:spcBef>
              <a:spcAft>
                <a:spcPts val="0"/>
              </a:spcAft>
              <a:buSzPts val="1600"/>
              <a:buChar char="●"/>
            </a:pPr>
            <a:r>
              <a:rPr lang="fr" sz="1600"/>
              <a:t>Propriétés et valeurs d’un objet</a:t>
            </a:r>
            <a:endParaRPr sz="1600"/>
          </a:p>
          <a:p>
            <a:pPr indent="-330200" lvl="0" marL="457200" rtl="0" algn="l">
              <a:spcBef>
                <a:spcPts val="0"/>
              </a:spcBef>
              <a:spcAft>
                <a:spcPts val="0"/>
              </a:spcAft>
              <a:buSzPts val="1600"/>
              <a:buChar char="●"/>
            </a:pPr>
            <a:r>
              <a:rPr lang="fr" sz="1600"/>
              <a:t>Accéder, modifier et ajouter des propriétés</a:t>
            </a:r>
            <a:endParaRPr sz="1600"/>
          </a:p>
          <a:p>
            <a:pPr indent="-330200" lvl="0" marL="457200" rtl="0" algn="l">
              <a:spcBef>
                <a:spcPts val="0"/>
              </a:spcBef>
              <a:spcAft>
                <a:spcPts val="0"/>
              </a:spcAft>
              <a:buSzPts val="1600"/>
              <a:buChar char="●"/>
            </a:pPr>
            <a:r>
              <a:rPr lang="fr" sz="1600"/>
              <a:t>Différences entre tableaux et objets</a:t>
            </a:r>
            <a:endParaRPr sz="1600"/>
          </a:p>
          <a:p>
            <a:pPr indent="-330200" lvl="0" marL="457200" rtl="0" algn="l">
              <a:spcBef>
                <a:spcPts val="0"/>
              </a:spcBef>
              <a:spcAft>
                <a:spcPts val="0"/>
              </a:spcAft>
              <a:buSzPts val="1600"/>
              <a:buChar char="●"/>
            </a:pPr>
            <a:r>
              <a:rPr lang="fr" sz="1600"/>
              <a:t>Cas d’utilisation courants</a:t>
            </a:r>
            <a:endParaRPr sz="16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8"/>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Présentation des structures de données en JavaScript</a:t>
            </a:r>
            <a:endParaRPr/>
          </a:p>
          <a:p>
            <a:pPr indent="0" lvl="0" marL="0" rtl="0" algn="l">
              <a:spcBef>
                <a:spcPts val="0"/>
              </a:spcBef>
              <a:spcAft>
                <a:spcPts val="0"/>
              </a:spcAft>
              <a:buNone/>
            </a:pPr>
            <a:r>
              <a:t/>
            </a:r>
            <a:endParaRPr/>
          </a:p>
        </p:txBody>
      </p:sp>
      <p:sp>
        <p:nvSpPr>
          <p:cNvPr id="354" name="Google Shape;354;p48"/>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Une structure de données permet de stocker plusieurs valeurs dans une seule variable. En JavaScript, les tableaux et les objets sont utilisés pour représenter des collections de données simples ou complexes.</a:t>
            </a:r>
            <a:endParaRPr/>
          </a:p>
          <a:p>
            <a:pPr indent="-342900" lvl="0" marL="457200" rtl="0" algn="l">
              <a:spcBef>
                <a:spcPts val="1200"/>
              </a:spcBef>
              <a:spcAft>
                <a:spcPts val="0"/>
              </a:spcAft>
              <a:buSzPts val="1800"/>
              <a:buChar char="●"/>
            </a:pPr>
            <a:r>
              <a:rPr lang="fr"/>
              <a:t>Un tableau est une liste ordonnée de valeurs.</a:t>
            </a:r>
            <a:endParaRPr/>
          </a:p>
          <a:p>
            <a:pPr indent="-342900" lvl="0" marL="457200" rtl="0" algn="l">
              <a:spcBef>
                <a:spcPts val="0"/>
              </a:spcBef>
              <a:spcAft>
                <a:spcPts val="0"/>
              </a:spcAft>
              <a:buSzPts val="1800"/>
              <a:buChar char="●"/>
            </a:pPr>
            <a:r>
              <a:rPr lang="fr"/>
              <a:t>Un objet est une collection de paires clé / valeur.</a:t>
            </a:r>
            <a:endParaRPr/>
          </a:p>
          <a:p>
            <a:pPr indent="0" lvl="0" marL="0" rtl="0" algn="l">
              <a:spcBef>
                <a:spcPts val="1200"/>
              </a:spcBef>
              <a:spcAft>
                <a:spcPts val="1200"/>
              </a:spcAft>
              <a:buNone/>
            </a:pPr>
            <a:r>
              <a:rPr lang="fr"/>
              <a:t>Ces deux structures sont omniprésentes dans le développement JavaScript, notamment pour manipuler des données issues d’API, gérer des formulaires ou représenter des entités (utilisateur, produit, article…).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9"/>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Les tableaux : définition et usages</a:t>
            </a:r>
            <a:endParaRPr/>
          </a:p>
          <a:p>
            <a:pPr indent="0" lvl="0" marL="0" rtl="0" algn="l">
              <a:spcBef>
                <a:spcPts val="0"/>
              </a:spcBef>
              <a:spcAft>
                <a:spcPts val="0"/>
              </a:spcAft>
              <a:buNone/>
            </a:pPr>
            <a:r>
              <a:t/>
            </a:r>
            <a:endParaRPr/>
          </a:p>
        </p:txBody>
      </p:sp>
      <p:sp>
        <p:nvSpPr>
          <p:cNvPr id="360" name="Google Shape;360;p49"/>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Un tableau permet de stocker plusieurs valeurs dans un ordre précis. Chaque valeur est accessible par un indice, qui commence à 0.</a:t>
            </a:r>
            <a:endParaRPr/>
          </a:p>
          <a:p>
            <a:pPr indent="0" lvl="0" marL="0" rtl="0" algn="l">
              <a:spcBef>
                <a:spcPts val="1200"/>
              </a:spcBef>
              <a:spcAft>
                <a:spcPts val="1200"/>
              </a:spcAft>
              <a:buNone/>
            </a:pPr>
            <a:r>
              <a:rPr lang="fr"/>
              <a:t>Pour déclarer un tableau, on déclare une variable en lui assignant une ou plusieurs valeurs entre crochets, séparées par des virgules :</a:t>
            </a:r>
            <a:endParaRPr/>
          </a:p>
        </p:txBody>
      </p:sp>
      <p:pic>
        <p:nvPicPr>
          <p:cNvPr id="361" name="Google Shape;361;p49"/>
          <p:cNvPicPr preferRelativeResize="0"/>
          <p:nvPr/>
        </p:nvPicPr>
        <p:blipFill>
          <a:blip r:embed="rId3">
            <a:alphaModFix/>
          </a:blip>
          <a:stretch>
            <a:fillRect/>
          </a:stretch>
        </p:blipFill>
        <p:spPr>
          <a:xfrm>
            <a:off x="311700" y="3185587"/>
            <a:ext cx="3490875" cy="1229525"/>
          </a:xfrm>
          <a:prstGeom prst="rect">
            <a:avLst/>
          </a:prstGeom>
          <a:noFill/>
          <a:ln>
            <a:noFill/>
          </a:ln>
        </p:spPr>
      </p:pic>
      <p:cxnSp>
        <p:nvCxnSpPr>
          <p:cNvPr id="362" name="Google Shape;362;p49"/>
          <p:cNvCxnSpPr/>
          <p:nvPr/>
        </p:nvCxnSpPr>
        <p:spPr>
          <a:xfrm>
            <a:off x="4272450" y="3799138"/>
            <a:ext cx="599100" cy="2400"/>
          </a:xfrm>
          <a:prstGeom prst="straightConnector1">
            <a:avLst/>
          </a:prstGeom>
          <a:noFill/>
          <a:ln cap="flat" cmpd="sng" w="9525">
            <a:solidFill>
              <a:schemeClr val="dk2"/>
            </a:solidFill>
            <a:prstDash val="solid"/>
            <a:round/>
            <a:headEnd len="med" w="med" type="none"/>
            <a:tailEnd len="med" w="med" type="triangle"/>
          </a:ln>
        </p:spPr>
      </p:cxnSp>
      <p:pic>
        <p:nvPicPr>
          <p:cNvPr id="363" name="Google Shape;363;p49"/>
          <p:cNvPicPr preferRelativeResize="0"/>
          <p:nvPr/>
        </p:nvPicPr>
        <p:blipFill>
          <a:blip r:embed="rId4">
            <a:alphaModFix/>
          </a:blip>
          <a:stretch>
            <a:fillRect/>
          </a:stretch>
        </p:blipFill>
        <p:spPr>
          <a:xfrm>
            <a:off x="5123000" y="3190750"/>
            <a:ext cx="2781300" cy="1219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0"/>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Accéder aux éléments d’un tableau</a:t>
            </a:r>
            <a:endParaRPr/>
          </a:p>
          <a:p>
            <a:pPr indent="0" lvl="0" marL="0" rtl="0" algn="l">
              <a:spcBef>
                <a:spcPts val="0"/>
              </a:spcBef>
              <a:spcAft>
                <a:spcPts val="0"/>
              </a:spcAft>
              <a:buNone/>
            </a:pPr>
            <a:r>
              <a:t/>
            </a:r>
            <a:endParaRPr/>
          </a:p>
        </p:txBody>
      </p:sp>
      <p:sp>
        <p:nvSpPr>
          <p:cNvPr id="369" name="Google Shape;369;p50"/>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Pour accéder à un élément d’un tableau, on utilise son indice entre crochets :</a:t>
            </a:r>
            <a:endParaRPr sz="16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fr" sz="1600"/>
              <a:t>La propriété </a:t>
            </a:r>
            <a:r>
              <a:rPr b="1" lang="fr" sz="1600"/>
              <a:t>length </a:t>
            </a:r>
            <a:r>
              <a:rPr lang="fr" sz="1600"/>
              <a:t>permet de connaître le nombre d’éléments dans le tableau :</a:t>
            </a:r>
            <a:endParaRPr sz="1600"/>
          </a:p>
        </p:txBody>
      </p:sp>
      <p:pic>
        <p:nvPicPr>
          <p:cNvPr id="370" name="Google Shape;370;p50"/>
          <p:cNvPicPr preferRelativeResize="0"/>
          <p:nvPr/>
        </p:nvPicPr>
        <p:blipFill>
          <a:blip r:embed="rId3">
            <a:alphaModFix/>
          </a:blip>
          <a:stretch>
            <a:fillRect/>
          </a:stretch>
        </p:blipFill>
        <p:spPr>
          <a:xfrm>
            <a:off x="4731275" y="1722900"/>
            <a:ext cx="1981200" cy="1190625"/>
          </a:xfrm>
          <a:prstGeom prst="rect">
            <a:avLst/>
          </a:prstGeom>
          <a:noFill/>
          <a:ln>
            <a:noFill/>
          </a:ln>
        </p:spPr>
      </p:pic>
      <p:pic>
        <p:nvPicPr>
          <p:cNvPr id="371" name="Google Shape;371;p50"/>
          <p:cNvPicPr preferRelativeResize="0"/>
          <p:nvPr/>
        </p:nvPicPr>
        <p:blipFill>
          <a:blip r:embed="rId4">
            <a:alphaModFix/>
          </a:blip>
          <a:stretch>
            <a:fillRect/>
          </a:stretch>
        </p:blipFill>
        <p:spPr>
          <a:xfrm>
            <a:off x="311698" y="1750661"/>
            <a:ext cx="3356425" cy="1135125"/>
          </a:xfrm>
          <a:prstGeom prst="rect">
            <a:avLst/>
          </a:prstGeom>
          <a:noFill/>
          <a:ln>
            <a:noFill/>
          </a:ln>
        </p:spPr>
      </p:pic>
      <p:cxnSp>
        <p:nvCxnSpPr>
          <p:cNvPr id="372" name="Google Shape;372;p50"/>
          <p:cNvCxnSpPr/>
          <p:nvPr/>
        </p:nvCxnSpPr>
        <p:spPr>
          <a:xfrm>
            <a:off x="3834000" y="2318225"/>
            <a:ext cx="731400" cy="0"/>
          </a:xfrm>
          <a:prstGeom prst="straightConnector1">
            <a:avLst/>
          </a:prstGeom>
          <a:noFill/>
          <a:ln cap="flat" cmpd="sng" w="9525">
            <a:solidFill>
              <a:schemeClr val="dk2"/>
            </a:solidFill>
            <a:prstDash val="solid"/>
            <a:round/>
            <a:headEnd len="med" w="med" type="none"/>
            <a:tailEnd len="med" w="med" type="triangle"/>
          </a:ln>
        </p:spPr>
      </p:cxnSp>
      <p:pic>
        <p:nvPicPr>
          <p:cNvPr id="373" name="Google Shape;373;p50"/>
          <p:cNvPicPr preferRelativeResize="0"/>
          <p:nvPr/>
        </p:nvPicPr>
        <p:blipFill>
          <a:blip r:embed="rId5">
            <a:alphaModFix/>
          </a:blip>
          <a:stretch>
            <a:fillRect/>
          </a:stretch>
        </p:blipFill>
        <p:spPr>
          <a:xfrm>
            <a:off x="311698" y="3524900"/>
            <a:ext cx="3356425" cy="1215975"/>
          </a:xfrm>
          <a:prstGeom prst="rect">
            <a:avLst/>
          </a:prstGeom>
          <a:noFill/>
          <a:ln>
            <a:noFill/>
          </a:ln>
        </p:spPr>
      </p:pic>
      <p:cxnSp>
        <p:nvCxnSpPr>
          <p:cNvPr id="374" name="Google Shape;374;p50"/>
          <p:cNvCxnSpPr/>
          <p:nvPr/>
        </p:nvCxnSpPr>
        <p:spPr>
          <a:xfrm>
            <a:off x="3834000" y="4132888"/>
            <a:ext cx="731400" cy="0"/>
          </a:xfrm>
          <a:prstGeom prst="straightConnector1">
            <a:avLst/>
          </a:prstGeom>
          <a:noFill/>
          <a:ln cap="flat" cmpd="sng" w="9525">
            <a:solidFill>
              <a:schemeClr val="dk2"/>
            </a:solidFill>
            <a:prstDash val="solid"/>
            <a:round/>
            <a:headEnd len="med" w="med" type="none"/>
            <a:tailEnd len="med" w="med" type="triangle"/>
          </a:ln>
        </p:spPr>
      </p:cxnSp>
      <p:pic>
        <p:nvPicPr>
          <p:cNvPr id="375" name="Google Shape;375;p50"/>
          <p:cNvPicPr preferRelativeResize="0"/>
          <p:nvPr/>
        </p:nvPicPr>
        <p:blipFill>
          <a:blip r:embed="rId6">
            <a:alphaModFix/>
          </a:blip>
          <a:stretch>
            <a:fillRect/>
          </a:stretch>
        </p:blipFill>
        <p:spPr>
          <a:xfrm>
            <a:off x="4788425" y="3518513"/>
            <a:ext cx="1924050" cy="12287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1"/>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Manipulation des tableaux : Ajouter des éléments</a:t>
            </a:r>
            <a:endParaRPr/>
          </a:p>
          <a:p>
            <a:pPr indent="0" lvl="0" marL="0" rtl="0" algn="l">
              <a:spcBef>
                <a:spcPts val="0"/>
              </a:spcBef>
              <a:spcAft>
                <a:spcPts val="0"/>
              </a:spcAft>
              <a:buNone/>
            </a:pPr>
            <a:r>
              <a:t/>
            </a:r>
            <a:endParaRPr/>
          </a:p>
        </p:txBody>
      </p:sp>
      <p:sp>
        <p:nvSpPr>
          <p:cNvPr id="381" name="Google Shape;381;p51"/>
          <p:cNvSpPr txBox="1"/>
          <p:nvPr>
            <p:ph idx="1" type="body"/>
          </p:nvPr>
        </p:nvSpPr>
        <p:spPr>
          <a:xfrm>
            <a:off x="199900" y="1218850"/>
            <a:ext cx="8697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Il existe deux méthodes principales en JavaScript pour ajouter des éléments dans un tableau :</a:t>
            </a:r>
            <a:endParaRPr sz="1600"/>
          </a:p>
          <a:p>
            <a:pPr indent="-330200" lvl="0" marL="457200" rtl="0" algn="l">
              <a:spcBef>
                <a:spcPts val="1200"/>
              </a:spcBef>
              <a:spcAft>
                <a:spcPts val="0"/>
              </a:spcAft>
              <a:buSzPts val="1600"/>
              <a:buChar char="●"/>
            </a:pPr>
            <a:r>
              <a:rPr lang="fr" sz="1600"/>
              <a:t>La méthode </a:t>
            </a:r>
            <a:r>
              <a:rPr b="1" lang="fr" sz="1600"/>
              <a:t>push</a:t>
            </a:r>
            <a:r>
              <a:rPr lang="fr" sz="1600"/>
              <a:t>, qui permet d’ajouter un élément à la fin d</a:t>
            </a:r>
            <a:r>
              <a:rPr lang="fr" sz="1600"/>
              <a:t>’un</a:t>
            </a:r>
            <a:r>
              <a:rPr lang="fr" sz="1600"/>
              <a:t> tableau</a:t>
            </a:r>
            <a:endParaRPr sz="1600"/>
          </a:p>
          <a:p>
            <a:pPr indent="-330200" lvl="0" marL="457200" rtl="0" algn="l">
              <a:spcBef>
                <a:spcPts val="0"/>
              </a:spcBef>
              <a:spcAft>
                <a:spcPts val="0"/>
              </a:spcAft>
              <a:buSzPts val="1600"/>
              <a:buChar char="●"/>
            </a:pPr>
            <a:r>
              <a:rPr lang="fr" sz="1600"/>
              <a:t>La méthode </a:t>
            </a:r>
            <a:r>
              <a:rPr b="1" lang="fr" sz="1600"/>
              <a:t>unshift</a:t>
            </a:r>
            <a:r>
              <a:rPr lang="fr" sz="1600"/>
              <a:t>, qui permet d’ajouter un élément au début d’un tableau</a:t>
            </a:r>
            <a:endParaRPr sz="1600"/>
          </a:p>
        </p:txBody>
      </p:sp>
      <p:pic>
        <p:nvPicPr>
          <p:cNvPr id="382" name="Google Shape;382;p51"/>
          <p:cNvPicPr preferRelativeResize="0"/>
          <p:nvPr/>
        </p:nvPicPr>
        <p:blipFill>
          <a:blip r:embed="rId3">
            <a:alphaModFix/>
          </a:blip>
          <a:stretch>
            <a:fillRect/>
          </a:stretch>
        </p:blipFill>
        <p:spPr>
          <a:xfrm>
            <a:off x="311700" y="2787675"/>
            <a:ext cx="4171950" cy="1314450"/>
          </a:xfrm>
          <a:prstGeom prst="rect">
            <a:avLst/>
          </a:prstGeom>
          <a:noFill/>
          <a:ln>
            <a:noFill/>
          </a:ln>
        </p:spPr>
      </p:pic>
      <p:pic>
        <p:nvPicPr>
          <p:cNvPr id="383" name="Google Shape;383;p51"/>
          <p:cNvPicPr preferRelativeResize="0"/>
          <p:nvPr/>
        </p:nvPicPr>
        <p:blipFill>
          <a:blip r:embed="rId4">
            <a:alphaModFix/>
          </a:blip>
          <a:stretch>
            <a:fillRect/>
          </a:stretch>
        </p:blipFill>
        <p:spPr>
          <a:xfrm>
            <a:off x="5353350" y="2787675"/>
            <a:ext cx="3502187" cy="1314450"/>
          </a:xfrm>
          <a:prstGeom prst="rect">
            <a:avLst/>
          </a:prstGeom>
          <a:noFill/>
          <a:ln>
            <a:noFill/>
          </a:ln>
        </p:spPr>
      </p:pic>
      <p:cxnSp>
        <p:nvCxnSpPr>
          <p:cNvPr id="384" name="Google Shape;384;p51"/>
          <p:cNvCxnSpPr/>
          <p:nvPr/>
        </p:nvCxnSpPr>
        <p:spPr>
          <a:xfrm>
            <a:off x="4620300" y="3441450"/>
            <a:ext cx="596400" cy="6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2"/>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Manipulation des tableaux : Supprimer des éléments</a:t>
            </a:r>
            <a:endParaRPr/>
          </a:p>
          <a:p>
            <a:pPr indent="0" lvl="0" marL="0" rtl="0" algn="l">
              <a:spcBef>
                <a:spcPts val="0"/>
              </a:spcBef>
              <a:spcAft>
                <a:spcPts val="0"/>
              </a:spcAft>
              <a:buNone/>
            </a:pPr>
            <a:r>
              <a:t/>
            </a:r>
            <a:endParaRPr/>
          </a:p>
        </p:txBody>
      </p:sp>
      <p:sp>
        <p:nvSpPr>
          <p:cNvPr id="390" name="Google Shape;390;p52"/>
          <p:cNvSpPr txBox="1"/>
          <p:nvPr>
            <p:ph idx="1" type="body"/>
          </p:nvPr>
        </p:nvSpPr>
        <p:spPr>
          <a:xfrm>
            <a:off x="199900" y="1218850"/>
            <a:ext cx="8697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Comme pour les ajouts, il existe</a:t>
            </a:r>
            <a:r>
              <a:rPr lang="fr" sz="1600"/>
              <a:t> deux méthodes principales en JavaScript pour supprimer des éléments dans un tableau :</a:t>
            </a:r>
            <a:endParaRPr sz="1600"/>
          </a:p>
          <a:p>
            <a:pPr indent="-330200" lvl="0" marL="457200" rtl="0" algn="l">
              <a:spcBef>
                <a:spcPts val="1200"/>
              </a:spcBef>
              <a:spcAft>
                <a:spcPts val="0"/>
              </a:spcAft>
              <a:buSzPts val="1600"/>
              <a:buChar char="●"/>
            </a:pPr>
            <a:r>
              <a:rPr lang="fr" sz="1600"/>
              <a:t>La méthode </a:t>
            </a:r>
            <a:r>
              <a:rPr b="1" lang="fr" sz="1600"/>
              <a:t>pop</a:t>
            </a:r>
            <a:r>
              <a:rPr lang="fr" sz="1600"/>
              <a:t>, qui supprime puis renvoie le dernier élément d’un tableau</a:t>
            </a:r>
            <a:endParaRPr sz="1600"/>
          </a:p>
          <a:p>
            <a:pPr indent="-330200" lvl="0" marL="457200" rtl="0" algn="l">
              <a:spcBef>
                <a:spcPts val="0"/>
              </a:spcBef>
              <a:spcAft>
                <a:spcPts val="0"/>
              </a:spcAft>
              <a:buSzPts val="1600"/>
              <a:buChar char="●"/>
            </a:pPr>
            <a:r>
              <a:rPr lang="fr" sz="1600"/>
              <a:t>La méthode </a:t>
            </a:r>
            <a:r>
              <a:rPr b="1" lang="fr" sz="1600"/>
              <a:t>shift</a:t>
            </a:r>
            <a:r>
              <a:rPr lang="fr" sz="1600"/>
              <a:t>, qui</a:t>
            </a:r>
            <a:r>
              <a:rPr lang="fr" sz="1600"/>
              <a:t> supprime puis renvoie le premier élément d’un tableau</a:t>
            </a:r>
            <a:endParaRPr sz="1600"/>
          </a:p>
        </p:txBody>
      </p:sp>
      <p:cxnSp>
        <p:nvCxnSpPr>
          <p:cNvPr id="391" name="Google Shape;391;p52"/>
          <p:cNvCxnSpPr/>
          <p:nvPr/>
        </p:nvCxnSpPr>
        <p:spPr>
          <a:xfrm>
            <a:off x="4620300" y="3441450"/>
            <a:ext cx="596400" cy="6900"/>
          </a:xfrm>
          <a:prstGeom prst="straightConnector1">
            <a:avLst/>
          </a:prstGeom>
          <a:noFill/>
          <a:ln cap="flat" cmpd="sng" w="9525">
            <a:solidFill>
              <a:schemeClr val="dk2"/>
            </a:solidFill>
            <a:prstDash val="solid"/>
            <a:round/>
            <a:headEnd len="med" w="med" type="none"/>
            <a:tailEnd len="med" w="med" type="triangle"/>
          </a:ln>
        </p:spPr>
      </p:cxnSp>
      <p:pic>
        <p:nvPicPr>
          <p:cNvPr id="392" name="Google Shape;392;p52"/>
          <p:cNvPicPr preferRelativeResize="0"/>
          <p:nvPr/>
        </p:nvPicPr>
        <p:blipFill>
          <a:blip r:embed="rId3">
            <a:alphaModFix/>
          </a:blip>
          <a:stretch>
            <a:fillRect/>
          </a:stretch>
        </p:blipFill>
        <p:spPr>
          <a:xfrm>
            <a:off x="5450900" y="2762275"/>
            <a:ext cx="2817175" cy="1365250"/>
          </a:xfrm>
          <a:prstGeom prst="rect">
            <a:avLst/>
          </a:prstGeom>
          <a:noFill/>
          <a:ln>
            <a:noFill/>
          </a:ln>
        </p:spPr>
      </p:pic>
      <p:pic>
        <p:nvPicPr>
          <p:cNvPr id="393" name="Google Shape;393;p52"/>
          <p:cNvPicPr preferRelativeResize="0"/>
          <p:nvPr/>
        </p:nvPicPr>
        <p:blipFill>
          <a:blip r:embed="rId4">
            <a:alphaModFix/>
          </a:blip>
          <a:stretch>
            <a:fillRect/>
          </a:stretch>
        </p:blipFill>
        <p:spPr>
          <a:xfrm>
            <a:off x="131298" y="2907325"/>
            <a:ext cx="4355126" cy="10751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3"/>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Manipulation des tableaux : Parcourir les éléments</a:t>
            </a:r>
            <a:endParaRPr/>
          </a:p>
          <a:p>
            <a:pPr indent="0" lvl="0" marL="0" rtl="0" algn="l">
              <a:spcBef>
                <a:spcPts val="0"/>
              </a:spcBef>
              <a:spcAft>
                <a:spcPts val="0"/>
              </a:spcAft>
              <a:buNone/>
            </a:pPr>
            <a:r>
              <a:t/>
            </a:r>
            <a:endParaRPr/>
          </a:p>
        </p:txBody>
      </p:sp>
      <p:sp>
        <p:nvSpPr>
          <p:cNvPr id="399" name="Google Shape;399;p53"/>
          <p:cNvSpPr txBox="1"/>
          <p:nvPr>
            <p:ph idx="1" type="body"/>
          </p:nvPr>
        </p:nvSpPr>
        <p:spPr>
          <a:xfrm>
            <a:off x="199900" y="1218850"/>
            <a:ext cx="8697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500"/>
              <a:t>Tout l’intérêt des tableaux réside dans le fait de pouvoir </a:t>
            </a:r>
            <a:r>
              <a:rPr i="1" lang="fr" sz="1500"/>
              <a:t>itérer </a:t>
            </a:r>
            <a:r>
              <a:rPr lang="fr" sz="1500"/>
              <a:t>(parcourir) sur ces derniers afin de lire et / ou écrire les valeurs de ses éléments. Pour ce faire, deux techniques existent en JavaScript :</a:t>
            </a:r>
            <a:endParaRPr sz="1500"/>
          </a:p>
          <a:p>
            <a:pPr indent="-323850" lvl="0" marL="457200" rtl="0" algn="l">
              <a:spcBef>
                <a:spcPts val="1200"/>
              </a:spcBef>
              <a:spcAft>
                <a:spcPts val="0"/>
              </a:spcAft>
              <a:buSzPts val="1500"/>
              <a:buChar char="●"/>
            </a:pPr>
            <a:r>
              <a:rPr lang="fr" sz="1500"/>
              <a:t>La boucle </a:t>
            </a:r>
            <a:r>
              <a:rPr b="1" lang="fr" sz="1500"/>
              <a:t>for</a:t>
            </a:r>
            <a:r>
              <a:rPr lang="fr" sz="1500"/>
              <a:t>, qui permet d’accéder aux éléments du tableau un à un, en utilisant la propriété </a:t>
            </a:r>
            <a:r>
              <a:rPr b="1" lang="fr" sz="1500"/>
              <a:t>length </a:t>
            </a:r>
            <a:r>
              <a:rPr lang="fr" sz="1500"/>
              <a:t>du tableau dans sa condition. Plus adaptée dans aux cas ou l’on souhaite garder un itérateur pendant le parcours du tableau.</a:t>
            </a:r>
            <a:endParaRPr sz="1500"/>
          </a:p>
          <a:p>
            <a:pPr indent="-323850" lvl="0" marL="457200" rtl="0" algn="l">
              <a:spcBef>
                <a:spcPts val="0"/>
              </a:spcBef>
              <a:spcAft>
                <a:spcPts val="0"/>
              </a:spcAft>
              <a:buSzPts val="1500"/>
              <a:buChar char="●"/>
            </a:pPr>
            <a:r>
              <a:rPr lang="fr" sz="1500"/>
              <a:t>La méthode </a:t>
            </a:r>
            <a:r>
              <a:rPr b="1" lang="fr" sz="1500"/>
              <a:t>forEach</a:t>
            </a:r>
            <a:r>
              <a:rPr lang="fr" sz="1500"/>
              <a:t>, une méthode intégrée dans le tableau qui permet d’itérer dessus sans avoir à faire de condition ou à déclarer d’itérateur comme dans une boucle </a:t>
            </a:r>
            <a:r>
              <a:rPr b="1" lang="fr" sz="1500"/>
              <a:t>for.</a:t>
            </a:r>
            <a:endParaRPr b="1" sz="1500"/>
          </a:p>
        </p:txBody>
      </p:sp>
      <p:pic>
        <p:nvPicPr>
          <p:cNvPr id="400" name="Google Shape;400;p53"/>
          <p:cNvPicPr preferRelativeResize="0"/>
          <p:nvPr/>
        </p:nvPicPr>
        <p:blipFill>
          <a:blip r:embed="rId3">
            <a:alphaModFix/>
          </a:blip>
          <a:stretch>
            <a:fillRect/>
          </a:stretch>
        </p:blipFill>
        <p:spPr>
          <a:xfrm>
            <a:off x="311700" y="3534675"/>
            <a:ext cx="3376600" cy="1422975"/>
          </a:xfrm>
          <a:prstGeom prst="rect">
            <a:avLst/>
          </a:prstGeom>
          <a:noFill/>
          <a:ln>
            <a:noFill/>
          </a:ln>
        </p:spPr>
      </p:pic>
      <p:pic>
        <p:nvPicPr>
          <p:cNvPr id="401" name="Google Shape;401;p53"/>
          <p:cNvPicPr preferRelativeResize="0"/>
          <p:nvPr/>
        </p:nvPicPr>
        <p:blipFill>
          <a:blip r:embed="rId4">
            <a:alphaModFix/>
          </a:blip>
          <a:stretch>
            <a:fillRect/>
          </a:stretch>
        </p:blipFill>
        <p:spPr>
          <a:xfrm>
            <a:off x="5082650" y="3430763"/>
            <a:ext cx="1947600" cy="1630800"/>
          </a:xfrm>
          <a:prstGeom prst="rect">
            <a:avLst/>
          </a:prstGeom>
          <a:noFill/>
          <a:ln>
            <a:noFill/>
          </a:ln>
        </p:spPr>
      </p:pic>
      <p:cxnSp>
        <p:nvCxnSpPr>
          <p:cNvPr id="402" name="Google Shape;402;p53"/>
          <p:cNvCxnSpPr/>
          <p:nvPr/>
        </p:nvCxnSpPr>
        <p:spPr>
          <a:xfrm flipH="1" rot="10800000">
            <a:off x="3830925" y="4243925"/>
            <a:ext cx="1109100" cy="4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4"/>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Les objets : définition et usages</a:t>
            </a:r>
            <a:endParaRPr/>
          </a:p>
          <a:p>
            <a:pPr indent="0" lvl="0" marL="0" rtl="0" algn="l">
              <a:spcBef>
                <a:spcPts val="0"/>
              </a:spcBef>
              <a:spcAft>
                <a:spcPts val="0"/>
              </a:spcAft>
              <a:buNone/>
            </a:pPr>
            <a:r>
              <a:t/>
            </a:r>
            <a:endParaRPr/>
          </a:p>
        </p:txBody>
      </p:sp>
      <p:sp>
        <p:nvSpPr>
          <p:cNvPr id="408" name="Google Shape;408;p54"/>
          <p:cNvSpPr txBox="1"/>
          <p:nvPr>
            <p:ph idx="1" type="body"/>
          </p:nvPr>
        </p:nvSpPr>
        <p:spPr>
          <a:xfrm>
            <a:off x="311700" y="1218850"/>
            <a:ext cx="8520600" cy="3500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fr" sz="1400"/>
              <a:t>Un objet en JavaScript est une structure de données permettant de regrouper plusieurs informations liées entre elles au sein d’une même entité.</a:t>
            </a:r>
            <a:endParaRPr sz="1400"/>
          </a:p>
          <a:p>
            <a:pPr indent="0" lvl="0" marL="0" rtl="0" algn="l">
              <a:lnSpc>
                <a:spcPct val="105000"/>
              </a:lnSpc>
              <a:spcBef>
                <a:spcPts val="1200"/>
              </a:spcBef>
              <a:spcAft>
                <a:spcPts val="0"/>
              </a:spcAft>
              <a:buNone/>
            </a:pPr>
            <a:r>
              <a:rPr lang="fr" sz="1400"/>
              <a:t>Contrairement aux tableaux, qui organisent les données sous forme de liste ordonnée, les objets utilisent des paires clé / valeur appelées “propriétés” :</a:t>
            </a:r>
            <a:endParaRPr sz="1400"/>
          </a:p>
          <a:p>
            <a:pPr indent="0" lvl="0" marL="0" rtl="0" algn="l">
              <a:lnSpc>
                <a:spcPct val="105000"/>
              </a:lnSpc>
              <a:spcBef>
                <a:spcPts val="1200"/>
              </a:spcBef>
              <a:spcAft>
                <a:spcPts val="0"/>
              </a:spcAft>
              <a:buNone/>
            </a:pPr>
            <a:r>
              <a:t/>
            </a:r>
            <a:endParaRPr sz="1400"/>
          </a:p>
          <a:p>
            <a:pPr indent="0" lvl="0" marL="0" rtl="0" algn="l">
              <a:lnSpc>
                <a:spcPct val="105000"/>
              </a:lnSpc>
              <a:spcBef>
                <a:spcPts val="1200"/>
              </a:spcBef>
              <a:spcAft>
                <a:spcPts val="0"/>
              </a:spcAft>
              <a:buNone/>
            </a:pPr>
            <a:r>
              <a:t/>
            </a:r>
            <a:endParaRPr sz="1400"/>
          </a:p>
          <a:p>
            <a:pPr indent="0" lvl="0" marL="0" rtl="0" algn="l">
              <a:lnSpc>
                <a:spcPct val="105000"/>
              </a:lnSpc>
              <a:spcBef>
                <a:spcPts val="1200"/>
              </a:spcBef>
              <a:spcAft>
                <a:spcPts val="0"/>
              </a:spcAft>
              <a:buNone/>
            </a:pPr>
            <a:r>
              <a:t/>
            </a:r>
            <a:endParaRPr sz="1400"/>
          </a:p>
          <a:p>
            <a:pPr indent="0" lvl="0" marL="0" rtl="0" algn="l">
              <a:lnSpc>
                <a:spcPct val="105000"/>
              </a:lnSpc>
              <a:spcBef>
                <a:spcPts val="1200"/>
              </a:spcBef>
              <a:spcAft>
                <a:spcPts val="0"/>
              </a:spcAft>
              <a:buNone/>
            </a:pPr>
            <a:r>
              <a:t/>
            </a:r>
            <a:endParaRPr sz="1400"/>
          </a:p>
          <a:p>
            <a:pPr indent="0" lvl="0" marL="0" rtl="0" algn="l">
              <a:lnSpc>
                <a:spcPct val="105000"/>
              </a:lnSpc>
              <a:spcBef>
                <a:spcPts val="1200"/>
              </a:spcBef>
              <a:spcAft>
                <a:spcPts val="1200"/>
              </a:spcAft>
              <a:buNone/>
            </a:pPr>
            <a:r>
              <a:t/>
            </a:r>
            <a:endParaRPr sz="1400"/>
          </a:p>
        </p:txBody>
      </p:sp>
      <p:pic>
        <p:nvPicPr>
          <p:cNvPr id="409" name="Google Shape;409;p54"/>
          <p:cNvPicPr preferRelativeResize="0"/>
          <p:nvPr/>
        </p:nvPicPr>
        <p:blipFill>
          <a:blip r:embed="rId3">
            <a:alphaModFix/>
          </a:blip>
          <a:stretch>
            <a:fillRect/>
          </a:stretch>
        </p:blipFill>
        <p:spPr>
          <a:xfrm>
            <a:off x="940975" y="2622525"/>
            <a:ext cx="1769725" cy="1539475"/>
          </a:xfrm>
          <a:prstGeom prst="rect">
            <a:avLst/>
          </a:prstGeom>
          <a:noFill/>
          <a:ln>
            <a:noFill/>
          </a:ln>
        </p:spPr>
      </p:pic>
      <p:pic>
        <p:nvPicPr>
          <p:cNvPr id="410" name="Google Shape;410;p54"/>
          <p:cNvPicPr preferRelativeResize="0"/>
          <p:nvPr/>
        </p:nvPicPr>
        <p:blipFill>
          <a:blip r:embed="rId4">
            <a:alphaModFix/>
          </a:blip>
          <a:stretch>
            <a:fillRect/>
          </a:stretch>
        </p:blipFill>
        <p:spPr>
          <a:xfrm>
            <a:off x="4595950" y="2830288"/>
            <a:ext cx="2502125" cy="1123950"/>
          </a:xfrm>
          <a:prstGeom prst="rect">
            <a:avLst/>
          </a:prstGeom>
          <a:noFill/>
          <a:ln>
            <a:noFill/>
          </a:ln>
        </p:spPr>
      </p:pic>
      <p:cxnSp>
        <p:nvCxnSpPr>
          <p:cNvPr id="411" name="Google Shape;411;p54"/>
          <p:cNvCxnSpPr/>
          <p:nvPr/>
        </p:nvCxnSpPr>
        <p:spPr>
          <a:xfrm>
            <a:off x="3117075" y="3391825"/>
            <a:ext cx="1072500" cy="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5"/>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Propriétés et valeurs d’un objet</a:t>
            </a:r>
            <a:endParaRPr/>
          </a:p>
          <a:p>
            <a:pPr indent="0" lvl="0" marL="0" rtl="0" algn="l">
              <a:spcBef>
                <a:spcPts val="0"/>
              </a:spcBef>
              <a:spcAft>
                <a:spcPts val="0"/>
              </a:spcAft>
              <a:buNone/>
            </a:pPr>
            <a:r>
              <a:t/>
            </a:r>
            <a:endParaRPr/>
          </a:p>
        </p:txBody>
      </p:sp>
      <p:sp>
        <p:nvSpPr>
          <p:cNvPr id="417" name="Google Shape;417;p55"/>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Les propriétés peuvent contenir :</a:t>
            </a:r>
            <a:endParaRPr sz="1600"/>
          </a:p>
          <a:p>
            <a:pPr indent="-330200" lvl="0" marL="457200" rtl="0" algn="l">
              <a:spcBef>
                <a:spcPts val="1200"/>
              </a:spcBef>
              <a:spcAft>
                <a:spcPts val="0"/>
              </a:spcAft>
              <a:buSzPts val="1600"/>
              <a:buChar char="●"/>
            </a:pPr>
            <a:r>
              <a:rPr lang="fr" sz="1600"/>
              <a:t>D</a:t>
            </a:r>
            <a:r>
              <a:rPr lang="fr" sz="1600"/>
              <a:t>es types primitifs,</a:t>
            </a:r>
            <a:endParaRPr sz="1600"/>
          </a:p>
          <a:p>
            <a:pPr indent="-330200" lvl="0" marL="457200" rtl="0" algn="l">
              <a:spcBef>
                <a:spcPts val="0"/>
              </a:spcBef>
              <a:spcAft>
                <a:spcPts val="0"/>
              </a:spcAft>
              <a:buSzPts val="1600"/>
              <a:buChar char="●"/>
            </a:pPr>
            <a:r>
              <a:rPr lang="fr" sz="1600"/>
              <a:t>D</a:t>
            </a:r>
            <a:r>
              <a:rPr lang="fr" sz="1600"/>
              <a:t>es tableaux,</a:t>
            </a:r>
            <a:endParaRPr sz="1600"/>
          </a:p>
          <a:p>
            <a:pPr indent="-330200" lvl="0" marL="457200" rtl="0" algn="l">
              <a:spcBef>
                <a:spcPts val="0"/>
              </a:spcBef>
              <a:spcAft>
                <a:spcPts val="0"/>
              </a:spcAft>
              <a:buSzPts val="1600"/>
              <a:buChar char="●"/>
            </a:pPr>
            <a:r>
              <a:rPr lang="fr" sz="1600"/>
              <a:t>D</a:t>
            </a:r>
            <a:r>
              <a:rPr lang="fr" sz="1600"/>
              <a:t>’autres objets,</a:t>
            </a:r>
            <a:endParaRPr sz="1600"/>
          </a:p>
          <a:p>
            <a:pPr indent="-330200" lvl="0" marL="457200" rtl="0" algn="l">
              <a:spcBef>
                <a:spcPts val="0"/>
              </a:spcBef>
              <a:spcAft>
                <a:spcPts val="0"/>
              </a:spcAft>
              <a:buSzPts val="1600"/>
              <a:buChar char="●"/>
            </a:pPr>
            <a:r>
              <a:rPr lang="fr" sz="1600"/>
              <a:t>D</a:t>
            </a:r>
            <a:r>
              <a:rPr lang="fr" sz="1600"/>
              <a:t>es fonctions (méthodes).</a:t>
            </a:r>
            <a:endParaRPr sz="1600"/>
          </a:p>
        </p:txBody>
      </p:sp>
      <p:pic>
        <p:nvPicPr>
          <p:cNvPr id="418" name="Google Shape;418;p55"/>
          <p:cNvPicPr preferRelativeResize="0"/>
          <p:nvPr/>
        </p:nvPicPr>
        <p:blipFill>
          <a:blip r:embed="rId3">
            <a:alphaModFix/>
          </a:blip>
          <a:stretch>
            <a:fillRect/>
          </a:stretch>
        </p:blipFill>
        <p:spPr>
          <a:xfrm>
            <a:off x="638696" y="3153462"/>
            <a:ext cx="1730725" cy="1364000"/>
          </a:xfrm>
          <a:prstGeom prst="rect">
            <a:avLst/>
          </a:prstGeom>
          <a:noFill/>
          <a:ln>
            <a:noFill/>
          </a:ln>
        </p:spPr>
      </p:pic>
      <p:pic>
        <p:nvPicPr>
          <p:cNvPr id="419" name="Google Shape;419;p55"/>
          <p:cNvPicPr preferRelativeResize="0"/>
          <p:nvPr/>
        </p:nvPicPr>
        <p:blipFill>
          <a:blip r:embed="rId4">
            <a:alphaModFix/>
          </a:blip>
          <a:stretch>
            <a:fillRect/>
          </a:stretch>
        </p:blipFill>
        <p:spPr>
          <a:xfrm>
            <a:off x="3809426" y="3041187"/>
            <a:ext cx="2294525" cy="1588525"/>
          </a:xfrm>
          <a:prstGeom prst="rect">
            <a:avLst/>
          </a:prstGeom>
          <a:noFill/>
          <a:ln>
            <a:noFill/>
          </a:ln>
        </p:spPr>
      </p:pic>
      <p:cxnSp>
        <p:nvCxnSpPr>
          <p:cNvPr id="420" name="Google Shape;420;p55"/>
          <p:cNvCxnSpPr/>
          <p:nvPr/>
        </p:nvCxnSpPr>
        <p:spPr>
          <a:xfrm>
            <a:off x="2594571" y="3832300"/>
            <a:ext cx="989700" cy="6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6"/>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Accéder, modifier et ajouter des propriétés</a:t>
            </a:r>
            <a:endParaRPr/>
          </a:p>
          <a:p>
            <a:pPr indent="0" lvl="0" marL="0" rtl="0" algn="l">
              <a:spcBef>
                <a:spcPts val="0"/>
              </a:spcBef>
              <a:spcAft>
                <a:spcPts val="0"/>
              </a:spcAft>
              <a:buNone/>
            </a:pPr>
            <a:r>
              <a:t/>
            </a:r>
            <a:endParaRPr/>
          </a:p>
        </p:txBody>
      </p:sp>
      <p:sp>
        <p:nvSpPr>
          <p:cNvPr id="426" name="Google Shape;426;p56"/>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Les propriétés d’un objet JavaScript peuvent être accédés (en lecture ou en écriture) exactement comme le seraient des variables classiques. Deux syntaxes existent en JavaScript pour ce faire :</a:t>
            </a:r>
            <a:endParaRPr sz="1600"/>
          </a:p>
          <a:p>
            <a:pPr indent="-330200" lvl="0" marL="457200" rtl="0" algn="l">
              <a:spcBef>
                <a:spcPts val="1200"/>
              </a:spcBef>
              <a:spcAft>
                <a:spcPts val="0"/>
              </a:spcAft>
              <a:buSzPts val="1600"/>
              <a:buChar char="●"/>
            </a:pPr>
            <a:r>
              <a:rPr lang="fr" sz="1600"/>
              <a:t>La notation dite “par point”</a:t>
            </a:r>
            <a:endParaRPr sz="1600"/>
          </a:p>
          <a:p>
            <a:pPr indent="-330200" lvl="0" marL="457200" rtl="0" algn="l">
              <a:spcBef>
                <a:spcPts val="0"/>
              </a:spcBef>
              <a:spcAft>
                <a:spcPts val="0"/>
              </a:spcAft>
              <a:buSzPts val="1600"/>
              <a:buChar char="●"/>
            </a:pPr>
            <a:r>
              <a:rPr lang="fr" sz="1600"/>
              <a:t>La notation dite “par crochets”</a:t>
            </a:r>
            <a:endParaRPr sz="1600"/>
          </a:p>
        </p:txBody>
      </p:sp>
      <p:pic>
        <p:nvPicPr>
          <p:cNvPr id="427" name="Google Shape;427;p56"/>
          <p:cNvPicPr preferRelativeResize="0"/>
          <p:nvPr/>
        </p:nvPicPr>
        <p:blipFill>
          <a:blip r:embed="rId3">
            <a:alphaModFix/>
          </a:blip>
          <a:stretch>
            <a:fillRect/>
          </a:stretch>
        </p:blipFill>
        <p:spPr>
          <a:xfrm>
            <a:off x="311700" y="3126174"/>
            <a:ext cx="4071249" cy="1145375"/>
          </a:xfrm>
          <a:prstGeom prst="rect">
            <a:avLst/>
          </a:prstGeom>
          <a:noFill/>
          <a:ln>
            <a:noFill/>
          </a:ln>
        </p:spPr>
      </p:pic>
      <p:pic>
        <p:nvPicPr>
          <p:cNvPr id="428" name="Google Shape;428;p56"/>
          <p:cNvPicPr preferRelativeResize="0"/>
          <p:nvPr/>
        </p:nvPicPr>
        <p:blipFill>
          <a:blip r:embed="rId4">
            <a:alphaModFix/>
          </a:blip>
          <a:stretch>
            <a:fillRect/>
          </a:stretch>
        </p:blipFill>
        <p:spPr>
          <a:xfrm>
            <a:off x="5499250" y="3085610"/>
            <a:ext cx="1511500" cy="1234625"/>
          </a:xfrm>
          <a:prstGeom prst="rect">
            <a:avLst/>
          </a:prstGeom>
          <a:noFill/>
          <a:ln>
            <a:noFill/>
          </a:ln>
        </p:spPr>
      </p:pic>
      <p:cxnSp>
        <p:nvCxnSpPr>
          <p:cNvPr id="429" name="Google Shape;429;p56"/>
          <p:cNvCxnSpPr/>
          <p:nvPr/>
        </p:nvCxnSpPr>
        <p:spPr>
          <a:xfrm flipH="1" rot="10800000">
            <a:off x="4596112" y="3702762"/>
            <a:ext cx="690000" cy="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7"/>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Supprimer une propriété dans un objet</a:t>
            </a:r>
            <a:endParaRPr/>
          </a:p>
          <a:p>
            <a:pPr indent="0" lvl="0" marL="0" rtl="0" algn="l">
              <a:spcBef>
                <a:spcPts val="0"/>
              </a:spcBef>
              <a:spcAft>
                <a:spcPts val="0"/>
              </a:spcAft>
              <a:buNone/>
            </a:pPr>
            <a:r>
              <a:t/>
            </a:r>
            <a:endParaRPr/>
          </a:p>
        </p:txBody>
      </p:sp>
      <p:sp>
        <p:nvSpPr>
          <p:cNvPr id="435" name="Google Shape;435;p57"/>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600"/>
              <a:t>Il est également possible de supprimer des propriétés dans un objet JS grâce à l’opérateur </a:t>
            </a:r>
            <a:r>
              <a:rPr b="1" lang="fr" sz="1600"/>
              <a:t>delete </a:t>
            </a:r>
            <a:r>
              <a:rPr lang="fr" sz="1600"/>
              <a:t>:</a:t>
            </a:r>
            <a:endParaRPr sz="1600"/>
          </a:p>
        </p:txBody>
      </p:sp>
      <p:pic>
        <p:nvPicPr>
          <p:cNvPr id="436" name="Google Shape;436;p57"/>
          <p:cNvPicPr preferRelativeResize="0"/>
          <p:nvPr/>
        </p:nvPicPr>
        <p:blipFill>
          <a:blip r:embed="rId3">
            <a:alphaModFix/>
          </a:blip>
          <a:stretch>
            <a:fillRect/>
          </a:stretch>
        </p:blipFill>
        <p:spPr>
          <a:xfrm>
            <a:off x="311696" y="2636450"/>
            <a:ext cx="2750024" cy="1181225"/>
          </a:xfrm>
          <a:prstGeom prst="rect">
            <a:avLst/>
          </a:prstGeom>
          <a:noFill/>
          <a:ln>
            <a:noFill/>
          </a:ln>
        </p:spPr>
      </p:pic>
      <p:pic>
        <p:nvPicPr>
          <p:cNvPr id="437" name="Google Shape;437;p57"/>
          <p:cNvPicPr preferRelativeResize="0"/>
          <p:nvPr/>
        </p:nvPicPr>
        <p:blipFill>
          <a:blip r:embed="rId4">
            <a:alphaModFix/>
          </a:blip>
          <a:stretch>
            <a:fillRect/>
          </a:stretch>
        </p:blipFill>
        <p:spPr>
          <a:xfrm>
            <a:off x="4392350" y="2617463"/>
            <a:ext cx="3657600" cy="1219200"/>
          </a:xfrm>
          <a:prstGeom prst="rect">
            <a:avLst/>
          </a:prstGeom>
          <a:noFill/>
          <a:ln>
            <a:noFill/>
          </a:ln>
        </p:spPr>
      </p:pic>
      <p:cxnSp>
        <p:nvCxnSpPr>
          <p:cNvPr id="438" name="Google Shape;438;p57"/>
          <p:cNvCxnSpPr/>
          <p:nvPr/>
        </p:nvCxnSpPr>
        <p:spPr>
          <a:xfrm>
            <a:off x="3244333" y="3221987"/>
            <a:ext cx="965400" cy="10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8"/>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Différences entre tableaux et objets</a:t>
            </a:r>
            <a:endParaRPr/>
          </a:p>
          <a:p>
            <a:pPr indent="0" lvl="0" marL="0" rtl="0" algn="l">
              <a:spcBef>
                <a:spcPts val="0"/>
              </a:spcBef>
              <a:spcAft>
                <a:spcPts val="0"/>
              </a:spcAft>
              <a:buNone/>
            </a:pPr>
            <a:r>
              <a:t/>
            </a:r>
            <a:endParaRPr/>
          </a:p>
        </p:txBody>
      </p:sp>
      <p:sp>
        <p:nvSpPr>
          <p:cNvPr id="444" name="Google Shape;444;p58"/>
          <p:cNvSpPr txBox="1"/>
          <p:nvPr>
            <p:ph idx="1" type="body"/>
          </p:nvPr>
        </p:nvSpPr>
        <p:spPr>
          <a:xfrm>
            <a:off x="311700" y="1218850"/>
            <a:ext cx="8520600" cy="33501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None/>
            </a:pPr>
            <a:r>
              <a:rPr lang="fr"/>
              <a:t>Les tableaux et les objets servent tous deux à stocker plusieurs valeurs, mais ils répondent à des besoins différents :</a:t>
            </a:r>
            <a:endParaRPr/>
          </a:p>
          <a:p>
            <a:pPr indent="-325755" lvl="0" marL="457200" rtl="0" algn="l">
              <a:spcBef>
                <a:spcPts val="1200"/>
              </a:spcBef>
              <a:spcAft>
                <a:spcPts val="0"/>
              </a:spcAft>
              <a:buSzPct val="100000"/>
              <a:buChar char="●"/>
            </a:pPr>
            <a:r>
              <a:rPr lang="fr"/>
              <a:t>Un tableau est une structure ordonnée : chaque élément est stocké à une position précise et accessible à l’aide d’un indice numérique. Il est particulièrement adapté à la manipulation de listes de données.</a:t>
            </a:r>
            <a:endParaRPr/>
          </a:p>
          <a:p>
            <a:pPr indent="-325755" lvl="0" marL="457200" rtl="0" algn="l">
              <a:spcBef>
                <a:spcPts val="0"/>
              </a:spcBef>
              <a:spcAft>
                <a:spcPts val="0"/>
              </a:spcAft>
              <a:buSzPct val="100000"/>
              <a:buChar char="●"/>
            </a:pPr>
            <a:r>
              <a:rPr lang="fr"/>
              <a:t>Un objet, en revanche, est une structure basée sur des paires clé / valeur. Les données sont accessibles à l’aide de clés nommées, ce qui permet de représenter des entités structurées de manière plus descriptive, comme un utilisateur ou un produit.</a:t>
            </a:r>
            <a:endParaRPr/>
          </a:p>
          <a:p>
            <a:pPr indent="0" lvl="0" marL="0" rtl="0" algn="l">
              <a:spcBef>
                <a:spcPts val="1200"/>
              </a:spcBef>
              <a:spcAft>
                <a:spcPts val="0"/>
              </a:spcAft>
              <a:buNone/>
            </a:pPr>
            <a:r>
              <a:rPr lang="fr"/>
              <a:t>En pratique, on utilise un tableau lorsque l’ordre des éléments est important ou lorsqu’il s’agit d’une collection homogène, et un objet lorsque les données doivent être identifiées par des propriétés explicites.</a:t>
            </a:r>
            <a:endParaRPr/>
          </a:p>
          <a:p>
            <a:pPr indent="0" lvl="0" marL="0" rtl="0" algn="l">
              <a:spcBef>
                <a:spcPts val="1200"/>
              </a:spcBef>
              <a:spcAft>
                <a:spcPts val="12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9"/>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sz="2888"/>
              <a:t>Cas d’utilisation courants : Liste d’articles dans un panier</a:t>
            </a:r>
            <a:endParaRPr sz="2888"/>
          </a:p>
          <a:p>
            <a:pPr indent="0" lvl="0" marL="0" rtl="0" algn="l">
              <a:spcBef>
                <a:spcPts val="0"/>
              </a:spcBef>
              <a:spcAft>
                <a:spcPts val="0"/>
              </a:spcAft>
              <a:buNone/>
            </a:pPr>
            <a:r>
              <a:t/>
            </a:r>
            <a:endParaRPr/>
          </a:p>
        </p:txBody>
      </p:sp>
      <p:sp>
        <p:nvSpPr>
          <p:cNvPr id="450" name="Google Shape;450;p59"/>
          <p:cNvSpPr txBox="1"/>
          <p:nvPr>
            <p:ph idx="1" type="body"/>
          </p:nvPr>
        </p:nvSpPr>
        <p:spPr>
          <a:xfrm>
            <a:off x="253525" y="1218850"/>
            <a:ext cx="86343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500"/>
              <a:t>Un des usages très courant des listes et des objets est le cas du stockage des articles contenus dans un panier ;</a:t>
            </a:r>
            <a:endParaRPr sz="1500"/>
          </a:p>
          <a:p>
            <a:pPr indent="-323850" lvl="0" marL="457200" rtl="0" algn="l">
              <a:spcBef>
                <a:spcPts val="1200"/>
              </a:spcBef>
              <a:spcAft>
                <a:spcPts val="0"/>
              </a:spcAft>
              <a:buSzPts val="1500"/>
              <a:buChar char="●"/>
            </a:pPr>
            <a:r>
              <a:rPr lang="fr" sz="1500"/>
              <a:t>On peut représenter chaque article dans le panier par un objet avec différentes propriétés communes à tous les articles existants.</a:t>
            </a:r>
            <a:endParaRPr sz="1500"/>
          </a:p>
          <a:p>
            <a:pPr indent="-323850" lvl="0" marL="457200" rtl="0" algn="l">
              <a:spcBef>
                <a:spcPts val="0"/>
              </a:spcBef>
              <a:spcAft>
                <a:spcPts val="0"/>
              </a:spcAft>
              <a:buSzPts val="1500"/>
              <a:buChar char="●"/>
            </a:pPr>
            <a:r>
              <a:rPr lang="fr" sz="1500"/>
              <a:t>Puis rassembler tous ces objets représentants des articles dans une liste, qui représente quant à elle le contenu du panier :</a:t>
            </a:r>
            <a:endParaRPr sz="1500"/>
          </a:p>
          <a:p>
            <a:pPr indent="0" lvl="0" marL="0" rtl="0" algn="l">
              <a:spcBef>
                <a:spcPts val="1200"/>
              </a:spcBef>
              <a:spcAft>
                <a:spcPts val="1200"/>
              </a:spcAft>
              <a:buNone/>
            </a:pPr>
            <a:r>
              <a:t/>
            </a:r>
            <a:endParaRPr/>
          </a:p>
        </p:txBody>
      </p:sp>
      <p:pic>
        <p:nvPicPr>
          <p:cNvPr id="451" name="Google Shape;451;p59"/>
          <p:cNvPicPr preferRelativeResize="0"/>
          <p:nvPr/>
        </p:nvPicPr>
        <p:blipFill>
          <a:blip r:embed="rId3">
            <a:alphaModFix/>
          </a:blip>
          <a:stretch>
            <a:fillRect/>
          </a:stretch>
        </p:blipFill>
        <p:spPr>
          <a:xfrm>
            <a:off x="2145150" y="3028875"/>
            <a:ext cx="3722600" cy="20024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0"/>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Cas d’utilisation courants</a:t>
            </a:r>
            <a:endParaRPr/>
          </a:p>
          <a:p>
            <a:pPr indent="0" lvl="0" marL="0" rtl="0" algn="l">
              <a:spcBef>
                <a:spcPts val="0"/>
              </a:spcBef>
              <a:spcAft>
                <a:spcPts val="0"/>
              </a:spcAft>
              <a:buNone/>
            </a:pPr>
            <a:r>
              <a:t/>
            </a:r>
            <a:endParaRPr/>
          </a:p>
        </p:txBody>
      </p:sp>
      <p:sp>
        <p:nvSpPr>
          <p:cNvPr id="457" name="Google Shape;457;p60"/>
          <p:cNvSpPr txBox="1"/>
          <p:nvPr>
            <p:ph idx="1" type="body"/>
          </p:nvPr>
        </p:nvSpPr>
        <p:spPr>
          <a:xfrm>
            <a:off x="253525" y="1218850"/>
            <a:ext cx="8634300" cy="3350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Liste d’articles dans un panier (tableau contenant des objets)</a:t>
            </a:r>
            <a:endParaRPr/>
          </a:p>
          <a:p>
            <a:pPr indent="-342900" lvl="0" marL="457200" rtl="0" algn="l">
              <a:spcBef>
                <a:spcPts val="0"/>
              </a:spcBef>
              <a:spcAft>
                <a:spcPts val="0"/>
              </a:spcAft>
              <a:buSzPts val="1800"/>
              <a:buChar char="●"/>
            </a:pPr>
            <a:r>
              <a:rPr lang="fr"/>
              <a:t>Données reçues depuis une API (format JSON convertible en objet JavaScript)</a:t>
            </a:r>
            <a:endParaRPr/>
          </a:p>
          <a:p>
            <a:pPr indent="-342900" lvl="0" marL="457200" rtl="0" algn="l">
              <a:spcBef>
                <a:spcPts val="0"/>
              </a:spcBef>
              <a:spcAft>
                <a:spcPts val="0"/>
              </a:spcAft>
              <a:buSzPts val="1800"/>
              <a:buChar char="●"/>
            </a:pPr>
            <a:r>
              <a:rPr lang="fr"/>
              <a:t>Paramètres de configuration (chaque paramètre peut être représenté par une paire clé-valeur).</a:t>
            </a:r>
            <a:endParaRPr/>
          </a:p>
          <a:p>
            <a:pPr indent="-342900" lvl="0" marL="457200" rtl="0" algn="l">
              <a:spcBef>
                <a:spcPts val="0"/>
              </a:spcBef>
              <a:spcAft>
                <a:spcPts val="0"/>
              </a:spcAft>
              <a:buSzPts val="1800"/>
              <a:buChar char="●"/>
            </a:pPr>
            <a:r>
              <a:rPr lang="fr"/>
              <a:t>Gestion d’utilisateurs ou de produits</a:t>
            </a:r>
            <a:endParaRPr/>
          </a:p>
          <a:p>
            <a:pPr indent="0" lvl="0" marL="0" rtl="0" algn="l">
              <a:spcBef>
                <a:spcPts val="1200"/>
              </a:spcBef>
              <a:spcAft>
                <a:spcPts val="12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1"/>
          <p:cNvSpPr txBox="1"/>
          <p:nvPr>
            <p:ph type="title"/>
          </p:nvPr>
        </p:nvSpPr>
        <p:spPr>
          <a:xfrm>
            <a:off x="311700" y="171100"/>
            <a:ext cx="8520600" cy="94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Syntaxe de base</a:t>
            </a:r>
            <a:endParaRPr/>
          </a:p>
          <a:p>
            <a:pPr indent="0" lvl="0" marL="0" rtl="0" algn="l">
              <a:spcBef>
                <a:spcPts val="0"/>
              </a:spcBef>
              <a:spcAft>
                <a:spcPts val="0"/>
              </a:spcAft>
              <a:buNone/>
            </a:pPr>
            <a:r>
              <a:rPr lang="fr"/>
              <a:t>Cas d’utilisation courants</a:t>
            </a:r>
            <a:endParaRPr/>
          </a:p>
          <a:p>
            <a:pPr indent="0" lvl="0" marL="0" rtl="0" algn="l">
              <a:spcBef>
                <a:spcPts val="0"/>
              </a:spcBef>
              <a:spcAft>
                <a:spcPts val="0"/>
              </a:spcAft>
              <a:buNone/>
            </a:pPr>
            <a:r>
              <a:t/>
            </a:r>
            <a:endParaRPr/>
          </a:p>
        </p:txBody>
      </p:sp>
      <p:sp>
        <p:nvSpPr>
          <p:cNvPr id="463" name="Google Shape;463;p61"/>
          <p:cNvSpPr txBox="1"/>
          <p:nvPr>
            <p:ph idx="1" type="body"/>
          </p:nvPr>
        </p:nvSpPr>
        <p:spPr>
          <a:xfrm>
            <a:off x="253525" y="1218850"/>
            <a:ext cx="8634300" cy="3350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fr"/>
              <a:t>Les tableaux et les objets sont essentiels pour structurer les données en JavaScript.</a:t>
            </a:r>
            <a:br>
              <a:rPr lang="fr"/>
            </a:br>
            <a:r>
              <a:rPr lang="fr"/>
              <a:t> Comprendre leur fonctionnement est indispensable pour manipuler le DOM, travailler avec des API et organiser son code efficacement.</a:t>
            </a:r>
            <a:endParaRPr/>
          </a:p>
          <a:p>
            <a:pPr indent="0" lvl="0" marL="0" rtl="0" algn="l">
              <a:spcBef>
                <a:spcPts val="1200"/>
              </a:spcBef>
              <a:spcAft>
                <a:spcPts val="0"/>
              </a:spcAft>
              <a:buNone/>
            </a:pPr>
            <a:r>
              <a:rPr lang="fr"/>
              <a:t>La syntaxe étudiée dans ce chapitre constitue une base solide qui permettra d’aborder les fonctions, l’orienté objet et l’architecture applicative de manière plus sereine.</a:t>
            </a:r>
            <a:endParaRPr/>
          </a:p>
          <a:p>
            <a:pPr indent="0" lvl="0" marL="0" rtl="0" algn="l">
              <a:spcBef>
                <a:spcPts val="1200"/>
              </a:spcBef>
              <a:spcAft>
                <a:spcPts val="120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 - Sommaire</a:t>
            </a:r>
            <a:endParaRPr/>
          </a:p>
        </p:txBody>
      </p:sp>
      <p:sp>
        <p:nvSpPr>
          <p:cNvPr id="469" name="Google Shape;469;p6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87350" lvl="0" marL="457200" rtl="0" algn="l">
              <a:spcBef>
                <a:spcPts val="0"/>
              </a:spcBef>
              <a:spcAft>
                <a:spcPts val="0"/>
              </a:spcAft>
              <a:buClr>
                <a:srgbClr val="434343"/>
              </a:buClr>
              <a:buSzPts val="2500"/>
              <a:buChar char="●"/>
            </a:pPr>
            <a:r>
              <a:rPr lang="fr">
                <a:solidFill>
                  <a:srgbClr val="434343"/>
                </a:solidFill>
              </a:rPr>
              <a:t>Déclaration et expression de fonction</a:t>
            </a:r>
            <a:endParaRPr>
              <a:solidFill>
                <a:srgbClr val="434343"/>
              </a:solidFill>
            </a:endParaRPr>
          </a:p>
          <a:p>
            <a:pPr indent="-387350" lvl="0" marL="457200" rtl="0" algn="l">
              <a:spcBef>
                <a:spcPts val="0"/>
              </a:spcBef>
              <a:spcAft>
                <a:spcPts val="0"/>
              </a:spcAft>
              <a:buClr>
                <a:srgbClr val="434343"/>
              </a:buClr>
              <a:buSzPts val="2500"/>
              <a:buChar char="●"/>
            </a:pPr>
            <a:r>
              <a:rPr lang="fr">
                <a:solidFill>
                  <a:srgbClr val="434343"/>
                </a:solidFill>
              </a:rPr>
              <a:t>Fonctions fléchées (=&gt;)</a:t>
            </a:r>
            <a:endParaRPr>
              <a:solidFill>
                <a:srgbClr val="434343"/>
              </a:solidFill>
            </a:endParaRPr>
          </a:p>
          <a:p>
            <a:pPr indent="-387350" lvl="0" marL="457200" rtl="0" algn="l">
              <a:spcBef>
                <a:spcPts val="0"/>
              </a:spcBef>
              <a:spcAft>
                <a:spcPts val="0"/>
              </a:spcAft>
              <a:buClr>
                <a:srgbClr val="434343"/>
              </a:buClr>
              <a:buSzPts val="2500"/>
              <a:buChar char="●"/>
            </a:pPr>
            <a:r>
              <a:rPr lang="fr">
                <a:solidFill>
                  <a:srgbClr val="434343"/>
                </a:solidFill>
              </a:rPr>
              <a:t>Portée et closures</a:t>
            </a:r>
            <a:endParaRPr>
              <a:solidFill>
                <a:srgbClr val="434343"/>
              </a:solidFill>
            </a:endParaRPr>
          </a:p>
          <a:p>
            <a:pPr indent="-387350" lvl="0" marL="457200" rtl="0" algn="l">
              <a:spcBef>
                <a:spcPts val="0"/>
              </a:spcBef>
              <a:spcAft>
                <a:spcPts val="0"/>
              </a:spcAft>
              <a:buClr>
                <a:srgbClr val="434343"/>
              </a:buClr>
              <a:buSzPts val="2500"/>
              <a:buChar char="●"/>
            </a:pPr>
            <a:r>
              <a:rPr lang="fr">
                <a:solidFill>
                  <a:srgbClr val="434343"/>
                </a:solidFill>
              </a:rPr>
              <a:t>Paramètres par défaut, rest et spread</a:t>
            </a:r>
            <a:endParaRPr>
              <a:solidFill>
                <a:srgbClr val="434343"/>
              </a:solidFill>
            </a:endParaRPr>
          </a:p>
          <a:p>
            <a:pPr indent="-387350" lvl="0" marL="457200" rtl="0" algn="l">
              <a:spcBef>
                <a:spcPts val="0"/>
              </a:spcBef>
              <a:spcAft>
                <a:spcPts val="0"/>
              </a:spcAft>
              <a:buClr>
                <a:srgbClr val="434343"/>
              </a:buClr>
              <a:buSzPts val="2500"/>
              <a:buChar char="●"/>
            </a:pPr>
            <a:r>
              <a:rPr lang="fr">
                <a:solidFill>
                  <a:srgbClr val="434343"/>
                </a:solidFill>
              </a:rPr>
              <a:t>Callback et introduction à l’asynchronicité</a:t>
            </a:r>
            <a:endParaRPr sz="2500">
              <a:solidFill>
                <a:srgbClr val="434343"/>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 - Introduction</a:t>
            </a:r>
            <a:endParaRPr/>
          </a:p>
        </p:txBody>
      </p:sp>
      <p:sp>
        <p:nvSpPr>
          <p:cNvPr id="475" name="Google Shape;475;p6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solidFill>
                  <a:srgbClr val="434343"/>
                </a:solidFill>
              </a:rPr>
              <a:t>Les fonctions sont un concept fondamental en JavaScript.</a:t>
            </a:r>
            <a:endParaRPr>
              <a:solidFill>
                <a:srgbClr val="434343"/>
              </a:solidFill>
            </a:endParaRPr>
          </a:p>
          <a:p>
            <a:pPr indent="0" lvl="0" marL="0" rtl="0" algn="l">
              <a:spcBef>
                <a:spcPts val="1200"/>
              </a:spcBef>
              <a:spcAft>
                <a:spcPts val="0"/>
              </a:spcAft>
              <a:buNone/>
            </a:pPr>
            <a:r>
              <a:rPr lang="fr">
                <a:solidFill>
                  <a:srgbClr val="434343"/>
                </a:solidFill>
              </a:rPr>
              <a:t>Elles permettent de structurer le code, d’éviter les répétitions, d’encapsuler une logique et de créer des comportements réutilisables.</a:t>
            </a:r>
            <a:endParaRPr>
              <a:solidFill>
                <a:srgbClr val="434343"/>
              </a:solidFill>
            </a:endParaRPr>
          </a:p>
          <a:p>
            <a:pPr indent="0" lvl="0" marL="0" rtl="0" algn="l">
              <a:spcBef>
                <a:spcPts val="1200"/>
              </a:spcBef>
              <a:spcAft>
                <a:spcPts val="1200"/>
              </a:spcAft>
              <a:buNone/>
            </a:pPr>
            <a:r>
              <a:rPr lang="fr">
                <a:solidFill>
                  <a:srgbClr val="434343"/>
                </a:solidFill>
              </a:rPr>
              <a:t>En JavaScript, les fonctions sont des objets de première classe, ce qui signifie qu’elles peuvent être stockées dans des variables, passées en paramètres ou retournées par d’autres fonctions, à l’instar des fonctions en Python.</a:t>
            </a:r>
            <a:endParaRPr>
              <a:solidFill>
                <a:srgbClr val="434343"/>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4"/>
          <p:cNvSpPr txBox="1"/>
          <p:nvPr>
            <p:ph type="title"/>
          </p:nvPr>
        </p:nvSpPr>
        <p:spPr>
          <a:xfrm>
            <a:off x="311700" y="171100"/>
            <a:ext cx="8520600" cy="97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Déclaration </a:t>
            </a:r>
            <a:r>
              <a:rPr lang="fr"/>
              <a:t>de fonction </a:t>
            </a:r>
            <a:r>
              <a:rPr lang="fr"/>
              <a:t>classique</a:t>
            </a:r>
            <a:endParaRPr/>
          </a:p>
          <a:p>
            <a:pPr indent="0" lvl="0" marL="0" rtl="0" algn="l">
              <a:spcBef>
                <a:spcPts val="0"/>
              </a:spcBef>
              <a:spcAft>
                <a:spcPts val="0"/>
              </a:spcAft>
              <a:buNone/>
            </a:pPr>
            <a:r>
              <a:t/>
            </a:r>
            <a:endParaRPr/>
          </a:p>
        </p:txBody>
      </p:sp>
      <p:sp>
        <p:nvSpPr>
          <p:cNvPr id="481" name="Google Shape;481;p64"/>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Une fonction peut être déclarée de manière classique avec le mot-clé </a:t>
            </a:r>
            <a:r>
              <a:rPr b="1" lang="fr" sz="1600"/>
              <a:t>function </a:t>
            </a:r>
            <a:r>
              <a:rPr lang="fr" sz="1600"/>
              <a:t>:</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rPr lang="fr" sz="1600"/>
              <a:t>Une fonction déclarée ainsi est dite “hoistée” (c’est à dire qu’elle peut être appelée avant sa déclaration grâce au </a:t>
            </a:r>
            <a:r>
              <a:rPr lang="fr" sz="1600" u="sng">
                <a:solidFill>
                  <a:schemeClr val="hlink"/>
                </a:solidFill>
                <a:hlinkClick r:id="rId3"/>
              </a:rPr>
              <a:t>hoisting</a:t>
            </a:r>
            <a:r>
              <a:rPr lang="fr" sz="1600"/>
              <a:t>), contrairement à une déclaration de fonction classique dans d’autres langages comme Python.</a:t>
            </a:r>
            <a:endParaRPr sz="1600"/>
          </a:p>
        </p:txBody>
      </p:sp>
      <p:pic>
        <p:nvPicPr>
          <p:cNvPr id="482" name="Google Shape;482;p64"/>
          <p:cNvPicPr preferRelativeResize="0"/>
          <p:nvPr/>
        </p:nvPicPr>
        <p:blipFill>
          <a:blip r:embed="rId4">
            <a:alphaModFix/>
          </a:blip>
          <a:stretch>
            <a:fillRect/>
          </a:stretch>
        </p:blipFill>
        <p:spPr>
          <a:xfrm>
            <a:off x="5550550" y="1649063"/>
            <a:ext cx="1804075" cy="1318850"/>
          </a:xfrm>
          <a:prstGeom prst="rect">
            <a:avLst/>
          </a:prstGeom>
          <a:noFill/>
          <a:ln>
            <a:noFill/>
          </a:ln>
        </p:spPr>
      </p:pic>
      <p:pic>
        <p:nvPicPr>
          <p:cNvPr id="483" name="Google Shape;483;p64"/>
          <p:cNvPicPr preferRelativeResize="0"/>
          <p:nvPr/>
        </p:nvPicPr>
        <p:blipFill>
          <a:blip r:embed="rId5">
            <a:alphaModFix/>
          </a:blip>
          <a:stretch>
            <a:fillRect/>
          </a:stretch>
        </p:blipFill>
        <p:spPr>
          <a:xfrm>
            <a:off x="375075" y="1690783"/>
            <a:ext cx="3972325" cy="1235425"/>
          </a:xfrm>
          <a:prstGeom prst="rect">
            <a:avLst/>
          </a:prstGeom>
          <a:noFill/>
          <a:ln>
            <a:noFill/>
          </a:ln>
        </p:spPr>
      </p:pic>
      <p:cxnSp>
        <p:nvCxnSpPr>
          <p:cNvPr id="484" name="Google Shape;484;p64"/>
          <p:cNvCxnSpPr/>
          <p:nvPr/>
        </p:nvCxnSpPr>
        <p:spPr>
          <a:xfrm>
            <a:off x="4554025" y="2306088"/>
            <a:ext cx="789900" cy="4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5"/>
          <p:cNvSpPr txBox="1"/>
          <p:nvPr>
            <p:ph type="title"/>
          </p:nvPr>
        </p:nvSpPr>
        <p:spPr>
          <a:xfrm>
            <a:off x="311700" y="171100"/>
            <a:ext cx="8520600" cy="97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Paramètres de fonctions et valeurs de retour</a:t>
            </a:r>
            <a:endParaRPr/>
          </a:p>
          <a:p>
            <a:pPr indent="0" lvl="0" marL="0" rtl="0" algn="l">
              <a:spcBef>
                <a:spcPts val="0"/>
              </a:spcBef>
              <a:spcAft>
                <a:spcPts val="0"/>
              </a:spcAft>
              <a:buNone/>
            </a:pPr>
            <a:r>
              <a:t/>
            </a:r>
            <a:endParaRPr/>
          </a:p>
        </p:txBody>
      </p:sp>
      <p:sp>
        <p:nvSpPr>
          <p:cNvPr id="490" name="Google Shape;490;p65"/>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JS étant un langage typé dynamiquement, il est possible d’attribuer des paramètres à une fonction lors de sa déclaration sans avoir à spécifier leurs types:</a:t>
            </a:r>
            <a:endParaRPr sz="16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fr" sz="1600"/>
              <a:t>Les fonctions en JS suivent le même principe que celles des autres langages fonctionnels ; leurs expressions d’appels sont remplacées par leurs valeurs de retour après leur exécution.</a:t>
            </a:r>
            <a:endParaRPr sz="1600"/>
          </a:p>
          <a:p>
            <a:pPr indent="0" lvl="0" marL="0" rtl="0" algn="l">
              <a:spcBef>
                <a:spcPts val="1200"/>
              </a:spcBef>
              <a:spcAft>
                <a:spcPts val="1200"/>
              </a:spcAft>
              <a:buNone/>
            </a:pPr>
            <a:r>
              <a:t/>
            </a:r>
            <a:endParaRPr/>
          </a:p>
        </p:txBody>
      </p:sp>
      <p:pic>
        <p:nvPicPr>
          <p:cNvPr id="491" name="Google Shape;491;p65"/>
          <p:cNvPicPr preferRelativeResize="0"/>
          <p:nvPr/>
        </p:nvPicPr>
        <p:blipFill>
          <a:blip r:embed="rId3">
            <a:alphaModFix/>
          </a:blip>
          <a:stretch>
            <a:fillRect/>
          </a:stretch>
        </p:blipFill>
        <p:spPr>
          <a:xfrm>
            <a:off x="5936700" y="1900838"/>
            <a:ext cx="1200150" cy="981075"/>
          </a:xfrm>
          <a:prstGeom prst="rect">
            <a:avLst/>
          </a:prstGeom>
          <a:noFill/>
          <a:ln>
            <a:noFill/>
          </a:ln>
        </p:spPr>
      </p:pic>
      <p:pic>
        <p:nvPicPr>
          <p:cNvPr id="492" name="Google Shape;492;p65"/>
          <p:cNvPicPr preferRelativeResize="0"/>
          <p:nvPr/>
        </p:nvPicPr>
        <p:blipFill>
          <a:blip r:embed="rId4">
            <a:alphaModFix/>
          </a:blip>
          <a:stretch>
            <a:fillRect/>
          </a:stretch>
        </p:blipFill>
        <p:spPr>
          <a:xfrm>
            <a:off x="360396" y="2078163"/>
            <a:ext cx="4110324" cy="626450"/>
          </a:xfrm>
          <a:prstGeom prst="rect">
            <a:avLst/>
          </a:prstGeom>
          <a:noFill/>
          <a:ln>
            <a:noFill/>
          </a:ln>
        </p:spPr>
      </p:pic>
      <p:cxnSp>
        <p:nvCxnSpPr>
          <p:cNvPr id="493" name="Google Shape;493;p65"/>
          <p:cNvCxnSpPr/>
          <p:nvPr/>
        </p:nvCxnSpPr>
        <p:spPr>
          <a:xfrm>
            <a:off x="4755213" y="2391400"/>
            <a:ext cx="897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6"/>
          <p:cNvSpPr txBox="1"/>
          <p:nvPr>
            <p:ph type="title"/>
          </p:nvPr>
        </p:nvSpPr>
        <p:spPr>
          <a:xfrm>
            <a:off x="311700" y="171100"/>
            <a:ext cx="8520600" cy="916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Déclaration de fonction en tant qu’expression</a:t>
            </a:r>
            <a:endParaRPr/>
          </a:p>
          <a:p>
            <a:pPr indent="0" lvl="0" marL="0" rtl="0" algn="l">
              <a:spcBef>
                <a:spcPts val="0"/>
              </a:spcBef>
              <a:spcAft>
                <a:spcPts val="0"/>
              </a:spcAft>
              <a:buNone/>
            </a:pPr>
            <a:r>
              <a:t/>
            </a:r>
            <a:endParaRPr/>
          </a:p>
        </p:txBody>
      </p:sp>
      <p:sp>
        <p:nvSpPr>
          <p:cNvPr id="499" name="Google Shape;499;p66"/>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700"/>
              <a:t>Une fonction peut aussi être stockée dans une variable au moment de sa déclaration :</a:t>
            </a:r>
            <a:endParaRPr sz="17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fr" sz="1600"/>
              <a:t>Caractéristiques :</a:t>
            </a:r>
            <a:endParaRPr sz="1600"/>
          </a:p>
          <a:p>
            <a:pPr indent="-330200" lvl="0" marL="457200" rtl="0" algn="l">
              <a:spcBef>
                <a:spcPts val="1200"/>
              </a:spcBef>
              <a:spcAft>
                <a:spcPts val="0"/>
              </a:spcAft>
              <a:buSzPts val="1600"/>
              <a:buChar char="●"/>
            </a:pPr>
            <a:r>
              <a:rPr lang="fr" sz="1600"/>
              <a:t>La fonction n’est pas hoistée.</a:t>
            </a:r>
            <a:endParaRPr sz="1600"/>
          </a:p>
          <a:p>
            <a:pPr indent="-330200" lvl="0" marL="457200" rtl="0" algn="l">
              <a:spcBef>
                <a:spcPts val="0"/>
              </a:spcBef>
              <a:spcAft>
                <a:spcPts val="0"/>
              </a:spcAft>
              <a:buSzPts val="1600"/>
              <a:buChar char="●"/>
            </a:pPr>
            <a:r>
              <a:rPr lang="fr" sz="1600"/>
              <a:t>Utile pour les fonctions anonymes et les callbacks.</a:t>
            </a:r>
            <a:endParaRPr sz="1600"/>
          </a:p>
          <a:p>
            <a:pPr indent="-330200" lvl="0" marL="457200" rtl="0" algn="l">
              <a:spcBef>
                <a:spcPts val="0"/>
              </a:spcBef>
              <a:spcAft>
                <a:spcPts val="0"/>
              </a:spcAft>
              <a:buSzPts val="1600"/>
              <a:buChar char="●"/>
            </a:pPr>
            <a:r>
              <a:rPr lang="fr" sz="1600"/>
              <a:t>Permet une meilleure maîtrise de la portée.</a:t>
            </a:r>
            <a:endParaRPr sz="1600"/>
          </a:p>
        </p:txBody>
      </p:sp>
      <p:cxnSp>
        <p:nvCxnSpPr>
          <p:cNvPr id="500" name="Google Shape;500;p66"/>
          <p:cNvCxnSpPr/>
          <p:nvPr/>
        </p:nvCxnSpPr>
        <p:spPr>
          <a:xfrm>
            <a:off x="4095750" y="2413338"/>
            <a:ext cx="789900" cy="4800"/>
          </a:xfrm>
          <a:prstGeom prst="straightConnector1">
            <a:avLst/>
          </a:prstGeom>
          <a:noFill/>
          <a:ln cap="flat" cmpd="sng" w="9525">
            <a:solidFill>
              <a:schemeClr val="dk2"/>
            </a:solidFill>
            <a:prstDash val="solid"/>
            <a:round/>
            <a:headEnd len="med" w="med" type="none"/>
            <a:tailEnd len="med" w="med" type="triangle"/>
          </a:ln>
        </p:spPr>
      </p:cxnSp>
      <p:pic>
        <p:nvPicPr>
          <p:cNvPr id="501" name="Google Shape;501;p66"/>
          <p:cNvPicPr preferRelativeResize="0"/>
          <p:nvPr/>
        </p:nvPicPr>
        <p:blipFill>
          <a:blip r:embed="rId3">
            <a:alphaModFix/>
          </a:blip>
          <a:stretch>
            <a:fillRect/>
          </a:stretch>
        </p:blipFill>
        <p:spPr>
          <a:xfrm>
            <a:off x="311700" y="2057800"/>
            <a:ext cx="3542950" cy="715875"/>
          </a:xfrm>
          <a:prstGeom prst="rect">
            <a:avLst/>
          </a:prstGeom>
          <a:noFill/>
          <a:ln>
            <a:noFill/>
          </a:ln>
        </p:spPr>
      </p:pic>
      <p:pic>
        <p:nvPicPr>
          <p:cNvPr id="502" name="Google Shape;502;p66"/>
          <p:cNvPicPr preferRelativeResize="0"/>
          <p:nvPr/>
        </p:nvPicPr>
        <p:blipFill>
          <a:blip r:embed="rId4">
            <a:alphaModFix/>
          </a:blip>
          <a:stretch>
            <a:fillRect/>
          </a:stretch>
        </p:blipFill>
        <p:spPr>
          <a:xfrm>
            <a:off x="5126746" y="1698309"/>
            <a:ext cx="1407900" cy="14348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7"/>
          <p:cNvSpPr txBox="1"/>
          <p:nvPr>
            <p:ph type="title"/>
          </p:nvPr>
        </p:nvSpPr>
        <p:spPr>
          <a:xfrm>
            <a:off x="311700" y="171100"/>
            <a:ext cx="8520600" cy="92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Fonctions fléchées (=&gt;)</a:t>
            </a:r>
            <a:endParaRPr/>
          </a:p>
          <a:p>
            <a:pPr indent="0" lvl="0" marL="0" rtl="0" algn="l">
              <a:spcBef>
                <a:spcPts val="0"/>
              </a:spcBef>
              <a:spcAft>
                <a:spcPts val="0"/>
              </a:spcAft>
              <a:buNone/>
            </a:pPr>
            <a:r>
              <a:t/>
            </a:r>
            <a:endParaRPr/>
          </a:p>
        </p:txBody>
      </p:sp>
      <p:sp>
        <p:nvSpPr>
          <p:cNvPr id="508" name="Google Shape;508;p67"/>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Introduites à partir d’ES6, les fonctions fléchées servent aussi à déclarer des fonctions en tant </a:t>
            </a:r>
            <a:r>
              <a:rPr lang="fr" sz="1600"/>
              <a:t>qu’expressions</a:t>
            </a:r>
            <a:r>
              <a:rPr lang="fr" sz="1600"/>
              <a:t>, mais en offrant une syntaxe plus concise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rPr lang="fr" sz="1600"/>
              <a:t>Ces fonctions-expressions sont particulièrement utiles pour effectuer des traitements sur des tableaux, créer des callbacks, et plus généralement dans la programmation front-end moderne en JavaScript.</a:t>
            </a:r>
            <a:endParaRPr sz="1600"/>
          </a:p>
        </p:txBody>
      </p:sp>
      <p:pic>
        <p:nvPicPr>
          <p:cNvPr id="509" name="Google Shape;509;p67"/>
          <p:cNvPicPr preferRelativeResize="0"/>
          <p:nvPr/>
        </p:nvPicPr>
        <p:blipFill>
          <a:blip r:embed="rId3">
            <a:alphaModFix/>
          </a:blip>
          <a:stretch>
            <a:fillRect/>
          </a:stretch>
        </p:blipFill>
        <p:spPr>
          <a:xfrm>
            <a:off x="422950" y="2088625"/>
            <a:ext cx="3390526" cy="605450"/>
          </a:xfrm>
          <a:prstGeom prst="rect">
            <a:avLst/>
          </a:prstGeom>
          <a:noFill/>
          <a:ln>
            <a:noFill/>
          </a:ln>
        </p:spPr>
      </p:pic>
      <p:pic>
        <p:nvPicPr>
          <p:cNvPr id="510" name="Google Shape;510;p67"/>
          <p:cNvPicPr preferRelativeResize="0"/>
          <p:nvPr/>
        </p:nvPicPr>
        <p:blipFill>
          <a:blip r:embed="rId4">
            <a:alphaModFix/>
          </a:blip>
          <a:stretch>
            <a:fillRect/>
          </a:stretch>
        </p:blipFill>
        <p:spPr>
          <a:xfrm>
            <a:off x="4926375" y="1924099"/>
            <a:ext cx="1158177" cy="921000"/>
          </a:xfrm>
          <a:prstGeom prst="rect">
            <a:avLst/>
          </a:prstGeom>
          <a:noFill/>
          <a:ln>
            <a:noFill/>
          </a:ln>
        </p:spPr>
      </p:pic>
      <p:cxnSp>
        <p:nvCxnSpPr>
          <p:cNvPr id="511" name="Google Shape;511;p67"/>
          <p:cNvCxnSpPr/>
          <p:nvPr/>
        </p:nvCxnSpPr>
        <p:spPr>
          <a:xfrm flipH="1" rot="10800000">
            <a:off x="3961913" y="2383700"/>
            <a:ext cx="816000" cy="1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8"/>
          <p:cNvSpPr txBox="1"/>
          <p:nvPr>
            <p:ph type="title"/>
          </p:nvPr>
        </p:nvSpPr>
        <p:spPr>
          <a:xfrm>
            <a:off x="311700" y="171100"/>
            <a:ext cx="8520600" cy="87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Notion de portée</a:t>
            </a:r>
            <a:endParaRPr/>
          </a:p>
          <a:p>
            <a:pPr indent="0" lvl="0" marL="0" rtl="0" algn="l">
              <a:spcBef>
                <a:spcPts val="0"/>
              </a:spcBef>
              <a:spcAft>
                <a:spcPts val="0"/>
              </a:spcAft>
              <a:buNone/>
            </a:pPr>
            <a:r>
              <a:t/>
            </a:r>
            <a:endParaRPr/>
          </a:p>
        </p:txBody>
      </p:sp>
      <p:sp>
        <p:nvSpPr>
          <p:cNvPr id="517" name="Google Shape;517;p68"/>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La notion de </a:t>
            </a:r>
            <a:r>
              <a:rPr b="1" i="1" lang="fr" sz="1600"/>
              <a:t>portée </a:t>
            </a:r>
            <a:r>
              <a:rPr lang="fr" sz="1600"/>
              <a:t>(aussi appelé</a:t>
            </a:r>
            <a:r>
              <a:rPr b="1" i="1" lang="fr" sz="1600"/>
              <a:t> scope</a:t>
            </a:r>
            <a:r>
              <a:rPr lang="fr" sz="1600"/>
              <a:t>)</a:t>
            </a:r>
            <a:r>
              <a:rPr b="1" i="1" lang="fr" sz="1600"/>
              <a:t> </a:t>
            </a:r>
            <a:r>
              <a:rPr lang="fr" sz="1600"/>
              <a:t>définit les endroits où une variable est accessible dans un script / programme. Il existe trois portées différentes en JavaScript :</a:t>
            </a:r>
            <a:endParaRPr sz="1600"/>
          </a:p>
          <a:p>
            <a:pPr indent="-330200" lvl="0" marL="457200" rtl="0" algn="l">
              <a:spcBef>
                <a:spcPts val="1200"/>
              </a:spcBef>
              <a:spcAft>
                <a:spcPts val="0"/>
              </a:spcAft>
              <a:buSzPts val="1600"/>
              <a:buChar char="●"/>
            </a:pPr>
            <a:r>
              <a:rPr lang="fr" sz="1600"/>
              <a:t>La portée globale ; la variable est accessible en lecture/écriture dans tout le script.</a:t>
            </a:r>
            <a:endParaRPr sz="1600"/>
          </a:p>
          <a:p>
            <a:pPr indent="-330200" lvl="0" marL="457200" rtl="0" algn="l">
              <a:spcBef>
                <a:spcPts val="0"/>
              </a:spcBef>
              <a:spcAft>
                <a:spcPts val="0"/>
              </a:spcAft>
              <a:buSzPts val="1600"/>
              <a:buChar char="●"/>
            </a:pPr>
            <a:r>
              <a:rPr lang="fr" sz="1600"/>
              <a:t>La portée locale ; la variable est accessible dans la fonction ou elle a été déclarée / passée en tant que paramètre.</a:t>
            </a:r>
            <a:endParaRPr sz="1600"/>
          </a:p>
          <a:p>
            <a:pPr indent="-330200" lvl="0" marL="457200" rtl="0" algn="l">
              <a:spcBef>
                <a:spcPts val="0"/>
              </a:spcBef>
              <a:spcAft>
                <a:spcPts val="0"/>
              </a:spcAft>
              <a:buSzPts val="1600"/>
              <a:buChar char="●"/>
            </a:pPr>
            <a:r>
              <a:rPr lang="fr" sz="1600"/>
              <a:t>La portée de bloc ; la variable est accessible uniquement à l’intérieur du bloc { } dans lequel elle a été déclarée (boucle, condition, bloc try/catch, etc. Elle disparaît dès que l’exécution sort de ce bloc. Cette portée concerne les variables déclarées avec </a:t>
            </a:r>
            <a:r>
              <a:rPr b="1" lang="fr" sz="1600"/>
              <a:t>let </a:t>
            </a:r>
            <a:r>
              <a:rPr lang="fr" sz="1600"/>
              <a:t>et </a:t>
            </a:r>
            <a:r>
              <a:rPr b="1" lang="fr" sz="1600"/>
              <a:t>const.</a:t>
            </a:r>
            <a:endParaRPr b="1" sz="16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9"/>
          <p:cNvSpPr txBox="1"/>
          <p:nvPr>
            <p:ph type="title"/>
          </p:nvPr>
        </p:nvSpPr>
        <p:spPr>
          <a:xfrm>
            <a:off x="311700" y="171100"/>
            <a:ext cx="8520600" cy="87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Notion de portée : la portée globale</a:t>
            </a:r>
            <a:endParaRPr/>
          </a:p>
          <a:p>
            <a:pPr indent="0" lvl="0" marL="0" rtl="0" algn="l">
              <a:spcBef>
                <a:spcPts val="0"/>
              </a:spcBef>
              <a:spcAft>
                <a:spcPts val="0"/>
              </a:spcAft>
              <a:buNone/>
            </a:pPr>
            <a:r>
              <a:t/>
            </a:r>
            <a:endParaRPr/>
          </a:p>
        </p:txBody>
      </p:sp>
      <p:sp>
        <p:nvSpPr>
          <p:cNvPr id="523" name="Google Shape;523;p69"/>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Pour permettre à une variable </a:t>
            </a:r>
            <a:r>
              <a:rPr lang="fr" sz="1600"/>
              <a:t>de profiter </a:t>
            </a:r>
            <a:r>
              <a:rPr lang="fr" sz="1600"/>
              <a:t>de la portée globale, on doit la déclarer à même le script, c’est à dire en dehors de toute fonction ou autre bloc :</a:t>
            </a:r>
            <a:endParaRPr sz="1600"/>
          </a:p>
          <a:p>
            <a:pPr indent="0" lvl="0" marL="0" rtl="0" algn="l">
              <a:spcBef>
                <a:spcPts val="1200"/>
              </a:spcBef>
              <a:spcAft>
                <a:spcPts val="0"/>
              </a:spcAft>
              <a:buNone/>
            </a:pPr>
            <a:r>
              <a:rPr lang="fr" sz="1600"/>
              <a:t>								</a:t>
            </a:r>
            <a:endParaRPr sz="1600"/>
          </a:p>
          <a:p>
            <a:pPr indent="457200" lvl="0" marL="3200400" rtl="0" algn="l">
              <a:spcBef>
                <a:spcPts val="1200"/>
              </a:spcBef>
              <a:spcAft>
                <a:spcPts val="0"/>
              </a:spcAft>
              <a:buNone/>
            </a:pPr>
            <a:r>
              <a:rPr lang="fr" sz="1600"/>
              <a:t>Sauriez-vous dire combien vaudra </a:t>
            </a:r>
            <a:r>
              <a:rPr b="1" i="1" lang="fr" sz="1600"/>
              <a:t>variable_globale</a:t>
            </a:r>
            <a:endParaRPr sz="1600"/>
          </a:p>
          <a:p>
            <a:pPr indent="0" lvl="0" marL="0" rtl="0" algn="l">
              <a:spcBef>
                <a:spcPts val="1200"/>
              </a:spcBef>
              <a:spcAft>
                <a:spcPts val="1200"/>
              </a:spcAft>
              <a:buNone/>
            </a:pPr>
            <a:r>
              <a:rPr lang="fr" sz="1600"/>
              <a:t>								au moment du dernier appel à console.log ?</a:t>
            </a:r>
            <a:endParaRPr sz="1600"/>
          </a:p>
        </p:txBody>
      </p:sp>
      <p:pic>
        <p:nvPicPr>
          <p:cNvPr id="524" name="Google Shape;524;p69"/>
          <p:cNvPicPr preferRelativeResize="0"/>
          <p:nvPr/>
        </p:nvPicPr>
        <p:blipFill>
          <a:blip r:embed="rId3">
            <a:alphaModFix/>
          </a:blip>
          <a:stretch>
            <a:fillRect/>
          </a:stretch>
        </p:blipFill>
        <p:spPr>
          <a:xfrm>
            <a:off x="311695" y="1933975"/>
            <a:ext cx="3622625" cy="26642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0"/>
          <p:cNvSpPr txBox="1"/>
          <p:nvPr>
            <p:ph type="title"/>
          </p:nvPr>
        </p:nvSpPr>
        <p:spPr>
          <a:xfrm>
            <a:off x="311700" y="171100"/>
            <a:ext cx="8520600" cy="87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Notion de portée : la portée locale</a:t>
            </a:r>
            <a:endParaRPr/>
          </a:p>
          <a:p>
            <a:pPr indent="0" lvl="0" marL="0" rtl="0" algn="l">
              <a:spcBef>
                <a:spcPts val="0"/>
              </a:spcBef>
              <a:spcAft>
                <a:spcPts val="0"/>
              </a:spcAft>
              <a:buNone/>
            </a:pPr>
            <a:r>
              <a:t/>
            </a:r>
            <a:endParaRPr/>
          </a:p>
        </p:txBody>
      </p:sp>
      <p:sp>
        <p:nvSpPr>
          <p:cNvPr id="530" name="Google Shape;530;p70"/>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600"/>
              <a:t>Une variable locale, c’est-à-dire déclarée dans une fonction, ne sera accessible que dans la fonction dans laquelle elle a été déclarée :</a:t>
            </a:r>
            <a:endParaRPr sz="1600"/>
          </a:p>
        </p:txBody>
      </p:sp>
      <p:cxnSp>
        <p:nvCxnSpPr>
          <p:cNvPr id="531" name="Google Shape;531;p70"/>
          <p:cNvCxnSpPr/>
          <p:nvPr/>
        </p:nvCxnSpPr>
        <p:spPr>
          <a:xfrm flipH="1" rot="10800000">
            <a:off x="3987337" y="3088425"/>
            <a:ext cx="692400" cy="4500"/>
          </a:xfrm>
          <a:prstGeom prst="straightConnector1">
            <a:avLst/>
          </a:prstGeom>
          <a:noFill/>
          <a:ln cap="flat" cmpd="sng" w="9525">
            <a:solidFill>
              <a:schemeClr val="dk2"/>
            </a:solidFill>
            <a:prstDash val="solid"/>
            <a:round/>
            <a:headEnd len="med" w="med" type="none"/>
            <a:tailEnd len="med" w="med" type="triangle"/>
          </a:ln>
        </p:spPr>
      </p:cxnSp>
      <p:pic>
        <p:nvPicPr>
          <p:cNvPr id="532" name="Google Shape;532;p70"/>
          <p:cNvPicPr preferRelativeResize="0"/>
          <p:nvPr/>
        </p:nvPicPr>
        <p:blipFill>
          <a:blip r:embed="rId3">
            <a:alphaModFix/>
          </a:blip>
          <a:stretch>
            <a:fillRect/>
          </a:stretch>
        </p:blipFill>
        <p:spPr>
          <a:xfrm>
            <a:off x="311697" y="2308225"/>
            <a:ext cx="3513775" cy="1564900"/>
          </a:xfrm>
          <a:prstGeom prst="rect">
            <a:avLst/>
          </a:prstGeom>
          <a:noFill/>
          <a:ln>
            <a:noFill/>
          </a:ln>
        </p:spPr>
      </p:pic>
      <p:pic>
        <p:nvPicPr>
          <p:cNvPr id="533" name="Google Shape;533;p70"/>
          <p:cNvPicPr preferRelativeResize="0"/>
          <p:nvPr/>
        </p:nvPicPr>
        <p:blipFill>
          <a:blip r:embed="rId4">
            <a:alphaModFix/>
          </a:blip>
          <a:stretch>
            <a:fillRect/>
          </a:stretch>
        </p:blipFill>
        <p:spPr>
          <a:xfrm>
            <a:off x="4841575" y="2332000"/>
            <a:ext cx="2431625" cy="15173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1"/>
          <p:cNvSpPr txBox="1"/>
          <p:nvPr>
            <p:ph type="title"/>
          </p:nvPr>
        </p:nvSpPr>
        <p:spPr>
          <a:xfrm>
            <a:off x="311700" y="171100"/>
            <a:ext cx="8520600" cy="87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Notion de portée : la portée de bloc</a:t>
            </a:r>
            <a:endParaRPr/>
          </a:p>
          <a:p>
            <a:pPr indent="0" lvl="0" marL="0" rtl="0" algn="l">
              <a:spcBef>
                <a:spcPts val="0"/>
              </a:spcBef>
              <a:spcAft>
                <a:spcPts val="0"/>
              </a:spcAft>
              <a:buNone/>
            </a:pPr>
            <a:r>
              <a:t/>
            </a:r>
            <a:endParaRPr/>
          </a:p>
        </p:txBody>
      </p:sp>
      <p:sp>
        <p:nvSpPr>
          <p:cNvPr id="539" name="Google Shape;539;p71"/>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600"/>
              <a:t>Le même principe s’applique pour les variables déclarées dans des blocs ; les variables qui appartiennent à un bloc ne sont accessibles que dans ce dernier :</a:t>
            </a:r>
            <a:endParaRPr sz="1600"/>
          </a:p>
        </p:txBody>
      </p:sp>
      <p:pic>
        <p:nvPicPr>
          <p:cNvPr id="540" name="Google Shape;540;p71"/>
          <p:cNvPicPr preferRelativeResize="0"/>
          <p:nvPr/>
        </p:nvPicPr>
        <p:blipFill>
          <a:blip r:embed="rId3">
            <a:alphaModFix/>
          </a:blip>
          <a:stretch>
            <a:fillRect/>
          </a:stretch>
        </p:blipFill>
        <p:spPr>
          <a:xfrm>
            <a:off x="311696" y="2214800"/>
            <a:ext cx="3701775" cy="1592850"/>
          </a:xfrm>
          <a:prstGeom prst="rect">
            <a:avLst/>
          </a:prstGeom>
          <a:noFill/>
          <a:ln>
            <a:noFill/>
          </a:ln>
        </p:spPr>
      </p:pic>
      <p:pic>
        <p:nvPicPr>
          <p:cNvPr id="541" name="Google Shape;541;p71"/>
          <p:cNvPicPr preferRelativeResize="0"/>
          <p:nvPr/>
        </p:nvPicPr>
        <p:blipFill>
          <a:blip r:embed="rId4">
            <a:alphaModFix/>
          </a:blip>
          <a:stretch>
            <a:fillRect/>
          </a:stretch>
        </p:blipFill>
        <p:spPr>
          <a:xfrm>
            <a:off x="5098263" y="2225400"/>
            <a:ext cx="3571875" cy="1571625"/>
          </a:xfrm>
          <a:prstGeom prst="rect">
            <a:avLst/>
          </a:prstGeom>
          <a:noFill/>
          <a:ln>
            <a:noFill/>
          </a:ln>
        </p:spPr>
      </p:pic>
      <p:cxnSp>
        <p:nvCxnSpPr>
          <p:cNvPr id="542" name="Google Shape;542;p71"/>
          <p:cNvCxnSpPr/>
          <p:nvPr/>
        </p:nvCxnSpPr>
        <p:spPr>
          <a:xfrm>
            <a:off x="4209675" y="3011213"/>
            <a:ext cx="6924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72"/>
          <p:cNvSpPr txBox="1"/>
          <p:nvPr>
            <p:ph type="title"/>
          </p:nvPr>
        </p:nvSpPr>
        <p:spPr>
          <a:xfrm>
            <a:off x="311700" y="171100"/>
            <a:ext cx="8520600" cy="87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Notion de portée : Conclusion</a:t>
            </a:r>
            <a:endParaRPr/>
          </a:p>
          <a:p>
            <a:pPr indent="0" lvl="0" marL="0" rtl="0" algn="l">
              <a:spcBef>
                <a:spcPts val="0"/>
              </a:spcBef>
              <a:spcAft>
                <a:spcPts val="0"/>
              </a:spcAft>
              <a:buNone/>
            </a:pPr>
            <a:r>
              <a:t/>
            </a:r>
            <a:endParaRPr/>
          </a:p>
        </p:txBody>
      </p:sp>
      <p:sp>
        <p:nvSpPr>
          <p:cNvPr id="548" name="Google Shape;548;p72"/>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En JavaScript, comprendre la portée des variables permet de savoir où elles sont accessibles et où elles disparaissent.</a:t>
            </a:r>
            <a:endParaRPr sz="1600"/>
          </a:p>
          <a:p>
            <a:pPr indent="0" lvl="0" marL="0" rtl="0" algn="l">
              <a:spcBef>
                <a:spcPts val="1200"/>
              </a:spcBef>
              <a:spcAft>
                <a:spcPts val="0"/>
              </a:spcAft>
              <a:buNone/>
            </a:pPr>
            <a:r>
              <a:rPr lang="fr" sz="1600"/>
              <a:t>La portée globale rend une variable disponible partout, la portée locale la limite à une fonction, et la portée de bloc restreint son accès à l’intérieur d’accolades.</a:t>
            </a:r>
            <a:endParaRPr sz="1600"/>
          </a:p>
          <a:p>
            <a:pPr indent="0" lvl="0" marL="0" rtl="0" algn="l">
              <a:spcBef>
                <a:spcPts val="1200"/>
              </a:spcBef>
              <a:spcAft>
                <a:spcPts val="1200"/>
              </a:spcAft>
              <a:buNone/>
            </a:pPr>
            <a:r>
              <a:rPr lang="fr" sz="1600"/>
              <a:t>Bien gérer ces portées aide à éviter les conflits de noms, à protéger les données et à organiser le code de manière lisible et sécurisée.</a:t>
            </a:r>
            <a:endParaRPr sz="16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3"/>
          <p:cNvSpPr txBox="1"/>
          <p:nvPr>
            <p:ph type="title"/>
          </p:nvPr>
        </p:nvSpPr>
        <p:spPr>
          <a:xfrm>
            <a:off x="311700" y="171100"/>
            <a:ext cx="8520600" cy="964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Paramètres par défaut</a:t>
            </a:r>
            <a:endParaRPr/>
          </a:p>
          <a:p>
            <a:pPr indent="0" lvl="0" marL="0" rtl="0" algn="l">
              <a:spcBef>
                <a:spcPts val="0"/>
              </a:spcBef>
              <a:spcAft>
                <a:spcPts val="0"/>
              </a:spcAft>
              <a:buNone/>
            </a:pPr>
            <a:r>
              <a:t/>
            </a:r>
            <a:endParaRPr/>
          </a:p>
        </p:txBody>
      </p:sp>
      <p:sp>
        <p:nvSpPr>
          <p:cNvPr id="554" name="Google Shape;554;p73"/>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Tout comme en Python et dans d’autres langages, il est possible de donner des valeurs par défaut aux paramètres d’une fonction. Avoir une valeur par défaut pour un ou plusieurs paramètres de fonction permet de se dispenser de le / les renseigner au moment de l’appel :</a:t>
            </a:r>
            <a:endParaRPr/>
          </a:p>
        </p:txBody>
      </p:sp>
      <p:cxnSp>
        <p:nvCxnSpPr>
          <p:cNvPr id="555" name="Google Shape;555;p73"/>
          <p:cNvCxnSpPr/>
          <p:nvPr/>
        </p:nvCxnSpPr>
        <p:spPr>
          <a:xfrm flipH="1" rot="10800000">
            <a:off x="4452224" y="3301950"/>
            <a:ext cx="580200" cy="2700"/>
          </a:xfrm>
          <a:prstGeom prst="straightConnector1">
            <a:avLst/>
          </a:prstGeom>
          <a:noFill/>
          <a:ln cap="flat" cmpd="sng" w="9525">
            <a:solidFill>
              <a:schemeClr val="dk2"/>
            </a:solidFill>
            <a:prstDash val="solid"/>
            <a:round/>
            <a:headEnd len="med" w="med" type="none"/>
            <a:tailEnd len="med" w="med" type="triangle"/>
          </a:ln>
        </p:spPr>
      </p:cxnSp>
      <p:pic>
        <p:nvPicPr>
          <p:cNvPr id="556" name="Google Shape;556;p73"/>
          <p:cNvPicPr preferRelativeResize="0"/>
          <p:nvPr/>
        </p:nvPicPr>
        <p:blipFill>
          <a:blip r:embed="rId3">
            <a:alphaModFix/>
          </a:blip>
          <a:stretch>
            <a:fillRect/>
          </a:stretch>
        </p:blipFill>
        <p:spPr>
          <a:xfrm>
            <a:off x="1525650" y="2785671"/>
            <a:ext cx="2760725" cy="1035250"/>
          </a:xfrm>
          <a:prstGeom prst="rect">
            <a:avLst/>
          </a:prstGeom>
          <a:noFill/>
          <a:ln>
            <a:noFill/>
          </a:ln>
        </p:spPr>
      </p:pic>
      <p:pic>
        <p:nvPicPr>
          <p:cNvPr id="557" name="Google Shape;557;p73"/>
          <p:cNvPicPr preferRelativeResize="0"/>
          <p:nvPr/>
        </p:nvPicPr>
        <p:blipFill>
          <a:blip r:embed="rId4">
            <a:alphaModFix/>
          </a:blip>
          <a:stretch>
            <a:fillRect/>
          </a:stretch>
        </p:blipFill>
        <p:spPr>
          <a:xfrm>
            <a:off x="5354598" y="2833738"/>
            <a:ext cx="1578025" cy="9391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4"/>
          <p:cNvSpPr txBox="1"/>
          <p:nvPr>
            <p:ph type="title"/>
          </p:nvPr>
        </p:nvSpPr>
        <p:spPr>
          <a:xfrm>
            <a:off x="311700" y="171100"/>
            <a:ext cx="8520600" cy="964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L’opérateur rest (...)</a:t>
            </a:r>
            <a:endParaRPr/>
          </a:p>
          <a:p>
            <a:pPr indent="0" lvl="0" marL="0" rtl="0" algn="l">
              <a:spcBef>
                <a:spcPts val="0"/>
              </a:spcBef>
              <a:spcAft>
                <a:spcPts val="0"/>
              </a:spcAft>
              <a:buNone/>
            </a:pPr>
            <a:r>
              <a:t/>
            </a:r>
            <a:endParaRPr/>
          </a:p>
        </p:txBody>
      </p:sp>
      <p:sp>
        <p:nvSpPr>
          <p:cNvPr id="563" name="Google Shape;563;p74"/>
          <p:cNvSpPr txBox="1"/>
          <p:nvPr>
            <p:ph idx="1" type="body"/>
          </p:nvPr>
        </p:nvSpPr>
        <p:spPr>
          <a:xfrm>
            <a:off x="311700" y="113590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500"/>
              <a:t>Le rest operator permet de récupérer un nombre variable d’arguments dans une fonction sous forme de tableau, sans savoir à l’avance combien seront fournis. L’opérateur rest doit </a:t>
            </a:r>
            <a:r>
              <a:rPr b="1" lang="fr" sz="1500" u="sng"/>
              <a:t>toujours </a:t>
            </a:r>
            <a:r>
              <a:rPr lang="fr" sz="1500"/>
              <a:t>être le dernier paramètre de la fonction si cette dernière en prend plusieurs.</a:t>
            </a:r>
            <a:endParaRPr sz="1500"/>
          </a:p>
          <a:p>
            <a:pPr indent="0" lvl="0" marL="0" rtl="0" algn="l">
              <a:spcBef>
                <a:spcPts val="1200"/>
              </a:spcBef>
              <a:spcAft>
                <a:spcPts val="0"/>
              </a:spcAft>
              <a:buNone/>
            </a:pPr>
            <a:r>
              <a:rPr lang="fr" sz="1500"/>
              <a:t>C’est l’équival</a:t>
            </a:r>
            <a:r>
              <a:rPr lang="fr" sz="1500"/>
              <a:t>e</a:t>
            </a:r>
            <a:r>
              <a:rPr lang="fr" sz="1500"/>
              <a:t>nt moderne de :</a:t>
            </a:r>
            <a:endParaRPr sz="1500"/>
          </a:p>
          <a:p>
            <a:pPr indent="-323850" lvl="0" marL="457200" rtl="0" algn="l">
              <a:spcBef>
                <a:spcPts val="1200"/>
              </a:spcBef>
              <a:spcAft>
                <a:spcPts val="0"/>
              </a:spcAft>
              <a:buSzPts val="1500"/>
              <a:buChar char="●"/>
            </a:pPr>
            <a:r>
              <a:rPr lang="fr" sz="1500"/>
              <a:t>*args en Python</a:t>
            </a:r>
            <a:endParaRPr sz="1500"/>
          </a:p>
          <a:p>
            <a:pPr indent="-323850" lvl="0" marL="457200" rtl="0" algn="l">
              <a:spcBef>
                <a:spcPts val="0"/>
              </a:spcBef>
              <a:spcAft>
                <a:spcPts val="0"/>
              </a:spcAft>
              <a:buSzPts val="1500"/>
              <a:buChar char="●"/>
            </a:pPr>
            <a:r>
              <a:rPr lang="fr" sz="1500"/>
              <a:t>func_get_args() en PHP</a:t>
            </a:r>
            <a:endParaRPr sz="1500"/>
          </a:p>
          <a:p>
            <a:pPr indent="-323850" lvl="0" marL="457200" rtl="0" algn="l">
              <a:spcBef>
                <a:spcPts val="0"/>
              </a:spcBef>
              <a:spcAft>
                <a:spcPts val="0"/>
              </a:spcAft>
              <a:buSzPts val="1500"/>
              <a:buChar char="●"/>
            </a:pPr>
            <a:r>
              <a:rPr lang="fr" sz="1500"/>
              <a:t>stdarg en C</a:t>
            </a:r>
            <a:endParaRPr sz="1500"/>
          </a:p>
        </p:txBody>
      </p:sp>
      <p:pic>
        <p:nvPicPr>
          <p:cNvPr id="564" name="Google Shape;564;p74"/>
          <p:cNvPicPr preferRelativeResize="0"/>
          <p:nvPr/>
        </p:nvPicPr>
        <p:blipFill>
          <a:blip r:embed="rId3">
            <a:alphaModFix/>
          </a:blip>
          <a:stretch>
            <a:fillRect/>
          </a:stretch>
        </p:blipFill>
        <p:spPr>
          <a:xfrm>
            <a:off x="5208997" y="3672713"/>
            <a:ext cx="1411367" cy="1179650"/>
          </a:xfrm>
          <a:prstGeom prst="rect">
            <a:avLst/>
          </a:prstGeom>
          <a:noFill/>
          <a:ln>
            <a:noFill/>
          </a:ln>
        </p:spPr>
      </p:pic>
      <p:cxnSp>
        <p:nvCxnSpPr>
          <p:cNvPr id="565" name="Google Shape;565;p74"/>
          <p:cNvCxnSpPr/>
          <p:nvPr/>
        </p:nvCxnSpPr>
        <p:spPr>
          <a:xfrm>
            <a:off x="3500350" y="4262513"/>
            <a:ext cx="1399200" cy="0"/>
          </a:xfrm>
          <a:prstGeom prst="straightConnector1">
            <a:avLst/>
          </a:prstGeom>
          <a:noFill/>
          <a:ln cap="flat" cmpd="sng" w="9525">
            <a:solidFill>
              <a:schemeClr val="dk2"/>
            </a:solidFill>
            <a:prstDash val="solid"/>
            <a:round/>
            <a:headEnd len="med" w="med" type="none"/>
            <a:tailEnd len="med" w="med" type="triangle"/>
          </a:ln>
        </p:spPr>
      </p:cxnSp>
      <p:pic>
        <p:nvPicPr>
          <p:cNvPr id="566" name="Google Shape;566;p74"/>
          <p:cNvPicPr preferRelativeResize="0"/>
          <p:nvPr/>
        </p:nvPicPr>
        <p:blipFill>
          <a:blip r:embed="rId4">
            <a:alphaModFix/>
          </a:blip>
          <a:stretch>
            <a:fillRect/>
          </a:stretch>
        </p:blipFill>
        <p:spPr>
          <a:xfrm>
            <a:off x="452050" y="3483384"/>
            <a:ext cx="2738850" cy="15583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75"/>
          <p:cNvSpPr txBox="1"/>
          <p:nvPr>
            <p:ph type="title"/>
          </p:nvPr>
        </p:nvSpPr>
        <p:spPr>
          <a:xfrm>
            <a:off x="311700" y="171100"/>
            <a:ext cx="8520600" cy="964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Déstructuration classique</a:t>
            </a:r>
            <a:endParaRPr/>
          </a:p>
          <a:p>
            <a:pPr indent="0" lvl="0" marL="0" rtl="0" algn="l">
              <a:spcBef>
                <a:spcPts val="0"/>
              </a:spcBef>
              <a:spcAft>
                <a:spcPts val="0"/>
              </a:spcAft>
              <a:buNone/>
            </a:pPr>
            <a:r>
              <a:t/>
            </a:r>
            <a:endParaRPr/>
          </a:p>
        </p:txBody>
      </p:sp>
      <p:sp>
        <p:nvSpPr>
          <p:cNvPr id="572" name="Google Shape;572;p75"/>
          <p:cNvSpPr txBox="1"/>
          <p:nvPr>
            <p:ph idx="1" type="body"/>
          </p:nvPr>
        </p:nvSpPr>
        <p:spPr>
          <a:xfrm>
            <a:off x="311700" y="113590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500"/>
              <a:t>La déstructuration permet d’extraire des valeurs depuis un tableau ou un objet et de les stocker dans des variables distinctes. Elle permet de décomposer une structure complexe en éléments simples, de manière lisible et concise.</a:t>
            </a:r>
            <a:endParaRPr sz="1500"/>
          </a:p>
          <a:p>
            <a:pPr indent="0" lvl="0" marL="0" rtl="0" algn="l">
              <a:spcBef>
                <a:spcPts val="1200"/>
              </a:spcBef>
              <a:spcAft>
                <a:spcPts val="0"/>
              </a:spcAft>
              <a:buNone/>
            </a:pPr>
            <a:r>
              <a:rPr lang="fr" sz="1500"/>
              <a:t>Elle est très utili</a:t>
            </a:r>
            <a:r>
              <a:rPr lang="fr" sz="1500"/>
              <a:t>s</a:t>
            </a:r>
            <a:r>
              <a:rPr lang="fr" sz="1500"/>
              <a:t>ée pour :</a:t>
            </a:r>
            <a:endParaRPr sz="1500"/>
          </a:p>
          <a:p>
            <a:pPr indent="-323850" lvl="0" marL="457200" rtl="0" algn="l">
              <a:spcBef>
                <a:spcPts val="1200"/>
              </a:spcBef>
              <a:spcAft>
                <a:spcPts val="0"/>
              </a:spcAft>
              <a:buSzPts val="1500"/>
              <a:buChar char="●"/>
            </a:pPr>
            <a:r>
              <a:rPr lang="fr" sz="1500"/>
              <a:t>Accéder rapidement à des valeurs</a:t>
            </a:r>
            <a:endParaRPr sz="1500"/>
          </a:p>
          <a:p>
            <a:pPr indent="-323850" lvl="0" marL="457200" rtl="0" algn="l">
              <a:spcBef>
                <a:spcPts val="0"/>
              </a:spcBef>
              <a:spcAft>
                <a:spcPts val="0"/>
              </a:spcAft>
              <a:buSzPts val="1500"/>
              <a:buChar char="●"/>
            </a:pPr>
            <a:r>
              <a:rPr lang="fr" sz="1500"/>
              <a:t>Éviter</a:t>
            </a:r>
            <a:r>
              <a:rPr lang="fr" sz="1500"/>
              <a:t> les accès répétitifs (object.property)</a:t>
            </a:r>
            <a:endParaRPr sz="1500"/>
          </a:p>
          <a:p>
            <a:pPr indent="-323850" lvl="0" marL="457200" rtl="0" algn="l">
              <a:spcBef>
                <a:spcPts val="0"/>
              </a:spcBef>
              <a:spcAft>
                <a:spcPts val="0"/>
              </a:spcAft>
              <a:buSzPts val="1500"/>
              <a:buChar char="●"/>
            </a:pPr>
            <a:r>
              <a:rPr lang="fr" sz="1500"/>
              <a:t>Rendre le code plus clair</a:t>
            </a:r>
            <a:endParaRPr sz="1500"/>
          </a:p>
        </p:txBody>
      </p:sp>
      <p:pic>
        <p:nvPicPr>
          <p:cNvPr id="573" name="Google Shape;573;p75"/>
          <p:cNvPicPr preferRelativeResize="0"/>
          <p:nvPr/>
        </p:nvPicPr>
        <p:blipFill>
          <a:blip r:embed="rId3">
            <a:alphaModFix/>
          </a:blip>
          <a:stretch>
            <a:fillRect/>
          </a:stretch>
        </p:blipFill>
        <p:spPr>
          <a:xfrm>
            <a:off x="311700" y="3626248"/>
            <a:ext cx="2811875" cy="790825"/>
          </a:xfrm>
          <a:prstGeom prst="rect">
            <a:avLst/>
          </a:prstGeom>
          <a:noFill/>
          <a:ln>
            <a:noFill/>
          </a:ln>
        </p:spPr>
      </p:pic>
      <p:pic>
        <p:nvPicPr>
          <p:cNvPr id="574" name="Google Shape;574;p75"/>
          <p:cNvPicPr preferRelativeResize="0"/>
          <p:nvPr/>
        </p:nvPicPr>
        <p:blipFill>
          <a:blip r:embed="rId4">
            <a:alphaModFix/>
          </a:blip>
          <a:stretch>
            <a:fillRect/>
          </a:stretch>
        </p:blipFill>
        <p:spPr>
          <a:xfrm>
            <a:off x="4631350" y="3435863"/>
            <a:ext cx="1200150" cy="1171575"/>
          </a:xfrm>
          <a:prstGeom prst="rect">
            <a:avLst/>
          </a:prstGeom>
          <a:noFill/>
          <a:ln>
            <a:noFill/>
          </a:ln>
        </p:spPr>
      </p:pic>
      <p:cxnSp>
        <p:nvCxnSpPr>
          <p:cNvPr id="575" name="Google Shape;575;p75"/>
          <p:cNvCxnSpPr/>
          <p:nvPr/>
        </p:nvCxnSpPr>
        <p:spPr>
          <a:xfrm>
            <a:off x="3509363" y="4021663"/>
            <a:ext cx="736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76"/>
          <p:cNvSpPr txBox="1"/>
          <p:nvPr>
            <p:ph type="title"/>
          </p:nvPr>
        </p:nvSpPr>
        <p:spPr>
          <a:xfrm>
            <a:off x="311700" y="171100"/>
            <a:ext cx="8520600" cy="964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Déstructuration avec rest</a:t>
            </a:r>
            <a:endParaRPr/>
          </a:p>
          <a:p>
            <a:pPr indent="0" lvl="0" marL="0" rtl="0" algn="l">
              <a:spcBef>
                <a:spcPts val="0"/>
              </a:spcBef>
              <a:spcAft>
                <a:spcPts val="0"/>
              </a:spcAft>
              <a:buNone/>
            </a:pPr>
            <a:r>
              <a:t/>
            </a:r>
            <a:endParaRPr/>
          </a:p>
        </p:txBody>
      </p:sp>
      <p:sp>
        <p:nvSpPr>
          <p:cNvPr id="581" name="Google Shape;581;p76"/>
          <p:cNvSpPr txBox="1"/>
          <p:nvPr>
            <p:ph idx="1" type="body"/>
          </p:nvPr>
        </p:nvSpPr>
        <p:spPr>
          <a:xfrm>
            <a:off x="311700" y="113590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Lors d’une déstructuration, il est possible d’utiliser le rest operator (...) pour récupérer le reste des éléments dans un tableau ou un objet. Le rest </a:t>
            </a:r>
            <a:r>
              <a:rPr lang="fr" sz="1600"/>
              <a:t>operator </a:t>
            </a:r>
            <a:r>
              <a:rPr lang="fr" sz="1600"/>
              <a:t>permet donc d’extraire certaines valeurs, tout en regroupant les autres. Tout comme dans les paramètres d’une fonction, il est toujours placé en dernière position dans la décomposition :</a:t>
            </a:r>
            <a:endParaRPr sz="1600"/>
          </a:p>
          <a:p>
            <a:pPr indent="0" lvl="0" marL="0" rtl="0" algn="l">
              <a:spcBef>
                <a:spcPts val="1200"/>
              </a:spcBef>
              <a:spcAft>
                <a:spcPts val="1200"/>
              </a:spcAft>
              <a:buNone/>
            </a:pPr>
            <a:r>
              <a:t/>
            </a:r>
            <a:endParaRPr sz="1500"/>
          </a:p>
        </p:txBody>
      </p:sp>
      <p:pic>
        <p:nvPicPr>
          <p:cNvPr id="582" name="Google Shape;582;p76"/>
          <p:cNvPicPr preferRelativeResize="0"/>
          <p:nvPr/>
        </p:nvPicPr>
        <p:blipFill>
          <a:blip r:embed="rId3">
            <a:alphaModFix/>
          </a:blip>
          <a:stretch>
            <a:fillRect/>
          </a:stretch>
        </p:blipFill>
        <p:spPr>
          <a:xfrm>
            <a:off x="599347" y="2700947"/>
            <a:ext cx="2638475" cy="1350425"/>
          </a:xfrm>
          <a:prstGeom prst="rect">
            <a:avLst/>
          </a:prstGeom>
          <a:noFill/>
          <a:ln>
            <a:noFill/>
          </a:ln>
        </p:spPr>
      </p:pic>
      <p:pic>
        <p:nvPicPr>
          <p:cNvPr id="583" name="Google Shape;583;p76"/>
          <p:cNvPicPr preferRelativeResize="0"/>
          <p:nvPr/>
        </p:nvPicPr>
        <p:blipFill>
          <a:blip r:embed="rId4">
            <a:alphaModFix/>
          </a:blip>
          <a:stretch>
            <a:fillRect/>
          </a:stretch>
        </p:blipFill>
        <p:spPr>
          <a:xfrm>
            <a:off x="4601575" y="2700962"/>
            <a:ext cx="1470632" cy="1350425"/>
          </a:xfrm>
          <a:prstGeom prst="rect">
            <a:avLst/>
          </a:prstGeom>
          <a:noFill/>
          <a:ln>
            <a:noFill/>
          </a:ln>
        </p:spPr>
      </p:pic>
      <p:cxnSp>
        <p:nvCxnSpPr>
          <p:cNvPr id="584" name="Google Shape;584;p76"/>
          <p:cNvCxnSpPr/>
          <p:nvPr/>
        </p:nvCxnSpPr>
        <p:spPr>
          <a:xfrm>
            <a:off x="3471509" y="3372572"/>
            <a:ext cx="896400" cy="7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77"/>
          <p:cNvSpPr txBox="1"/>
          <p:nvPr>
            <p:ph type="title"/>
          </p:nvPr>
        </p:nvSpPr>
        <p:spPr>
          <a:xfrm>
            <a:off x="311700" y="171100"/>
            <a:ext cx="8520600" cy="964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L’opérateur spread (...)</a:t>
            </a:r>
            <a:endParaRPr/>
          </a:p>
          <a:p>
            <a:pPr indent="0" lvl="0" marL="0" rtl="0" algn="l">
              <a:spcBef>
                <a:spcPts val="0"/>
              </a:spcBef>
              <a:spcAft>
                <a:spcPts val="0"/>
              </a:spcAft>
              <a:buNone/>
            </a:pPr>
            <a:r>
              <a:t/>
            </a:r>
            <a:endParaRPr/>
          </a:p>
        </p:txBody>
      </p:sp>
      <p:sp>
        <p:nvSpPr>
          <p:cNvPr id="590" name="Google Shape;590;p77"/>
          <p:cNvSpPr txBox="1"/>
          <p:nvPr>
            <p:ph idx="1" type="body"/>
          </p:nvPr>
        </p:nvSpPr>
        <p:spPr>
          <a:xfrm>
            <a:off x="311700" y="117010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Le spread operator (...) permet de décomposer un tableau ou un objet en plusieurs valeurs. Contrairement au rest, le spread déplie des valeurs au lieu de les rassembler.</a:t>
            </a:r>
            <a:endParaRPr sz="1600"/>
          </a:p>
          <a:p>
            <a:pPr indent="0" lvl="0" marL="0" rtl="0" algn="l">
              <a:spcBef>
                <a:spcPts val="1200"/>
              </a:spcBef>
              <a:spcAft>
                <a:spcPts val="0"/>
              </a:spcAft>
              <a:buNone/>
            </a:pPr>
            <a:r>
              <a:rPr lang="fr" sz="1600"/>
              <a:t>Il est très utilisé pour :</a:t>
            </a:r>
            <a:endParaRPr sz="1600"/>
          </a:p>
          <a:p>
            <a:pPr indent="-330200" lvl="0" marL="457200" rtl="0" algn="l">
              <a:spcBef>
                <a:spcPts val="1200"/>
              </a:spcBef>
              <a:spcAft>
                <a:spcPts val="0"/>
              </a:spcAft>
              <a:buSzPts val="1600"/>
              <a:buChar char="●"/>
            </a:pPr>
            <a:r>
              <a:rPr lang="fr" sz="1600"/>
              <a:t>C</a:t>
            </a:r>
            <a:r>
              <a:rPr lang="fr" sz="1600"/>
              <a:t>opier des tableaux ou objets</a:t>
            </a:r>
            <a:endParaRPr sz="1600"/>
          </a:p>
          <a:p>
            <a:pPr indent="-330200" lvl="0" marL="457200" rtl="0" algn="l">
              <a:spcBef>
                <a:spcPts val="0"/>
              </a:spcBef>
              <a:spcAft>
                <a:spcPts val="0"/>
              </a:spcAft>
              <a:buSzPts val="1600"/>
              <a:buChar char="●"/>
            </a:pPr>
            <a:r>
              <a:rPr lang="fr" sz="1600"/>
              <a:t>Fusionner des structures</a:t>
            </a:r>
            <a:endParaRPr sz="1600"/>
          </a:p>
          <a:p>
            <a:pPr indent="-330200" lvl="0" marL="457200" rtl="0" algn="l">
              <a:spcBef>
                <a:spcPts val="0"/>
              </a:spcBef>
              <a:spcAft>
                <a:spcPts val="0"/>
              </a:spcAft>
              <a:buSzPts val="1600"/>
              <a:buChar char="●"/>
            </a:pPr>
            <a:r>
              <a:rPr lang="fr" sz="1600"/>
              <a:t>Passer un tableau en paramètres de fonction</a:t>
            </a:r>
            <a:endParaRPr sz="1600"/>
          </a:p>
        </p:txBody>
      </p:sp>
      <p:pic>
        <p:nvPicPr>
          <p:cNvPr id="591" name="Google Shape;591;p77"/>
          <p:cNvPicPr preferRelativeResize="0"/>
          <p:nvPr/>
        </p:nvPicPr>
        <p:blipFill>
          <a:blip r:embed="rId3">
            <a:alphaModFix/>
          </a:blip>
          <a:stretch>
            <a:fillRect/>
          </a:stretch>
        </p:blipFill>
        <p:spPr>
          <a:xfrm>
            <a:off x="0" y="3622075"/>
            <a:ext cx="4977750" cy="1274675"/>
          </a:xfrm>
          <a:prstGeom prst="rect">
            <a:avLst/>
          </a:prstGeom>
          <a:noFill/>
          <a:ln>
            <a:noFill/>
          </a:ln>
        </p:spPr>
      </p:pic>
      <p:cxnSp>
        <p:nvCxnSpPr>
          <p:cNvPr id="592" name="Google Shape;592;p77"/>
          <p:cNvCxnSpPr/>
          <p:nvPr/>
        </p:nvCxnSpPr>
        <p:spPr>
          <a:xfrm>
            <a:off x="5104525" y="4258650"/>
            <a:ext cx="526500" cy="1500"/>
          </a:xfrm>
          <a:prstGeom prst="straightConnector1">
            <a:avLst/>
          </a:prstGeom>
          <a:noFill/>
          <a:ln cap="flat" cmpd="sng" w="9525">
            <a:solidFill>
              <a:schemeClr val="dk2"/>
            </a:solidFill>
            <a:prstDash val="solid"/>
            <a:round/>
            <a:headEnd len="med" w="med" type="none"/>
            <a:tailEnd len="med" w="med" type="triangle"/>
          </a:ln>
        </p:spPr>
      </p:cxnSp>
      <p:pic>
        <p:nvPicPr>
          <p:cNvPr id="593" name="Google Shape;593;p77"/>
          <p:cNvPicPr preferRelativeResize="0"/>
          <p:nvPr/>
        </p:nvPicPr>
        <p:blipFill>
          <a:blip r:embed="rId4">
            <a:alphaModFix/>
          </a:blip>
          <a:stretch>
            <a:fillRect/>
          </a:stretch>
        </p:blipFill>
        <p:spPr>
          <a:xfrm>
            <a:off x="5757800" y="3833762"/>
            <a:ext cx="1400566" cy="8513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78"/>
          <p:cNvSpPr txBox="1"/>
          <p:nvPr>
            <p:ph type="title"/>
          </p:nvPr>
        </p:nvSpPr>
        <p:spPr>
          <a:xfrm>
            <a:off x="311700" y="171100"/>
            <a:ext cx="8520600" cy="964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rest vs spread, quelle différence ?</a:t>
            </a:r>
            <a:endParaRPr/>
          </a:p>
          <a:p>
            <a:pPr indent="0" lvl="0" marL="0" rtl="0" algn="l">
              <a:spcBef>
                <a:spcPts val="0"/>
              </a:spcBef>
              <a:spcAft>
                <a:spcPts val="0"/>
              </a:spcAft>
              <a:buNone/>
            </a:pPr>
            <a:r>
              <a:t/>
            </a:r>
            <a:endParaRPr/>
          </a:p>
        </p:txBody>
      </p:sp>
      <p:sp>
        <p:nvSpPr>
          <p:cNvPr id="599" name="Google Shape;599;p78"/>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Les opérateurs rest et spread sont souvent source de confusion en JS, car ils utilisent la même syntaxe (...) mais effectuent des actions inverses selon le contexte :</a:t>
            </a:r>
            <a:endParaRPr sz="1600"/>
          </a:p>
          <a:p>
            <a:pPr indent="-330200" lvl="0" marL="457200" rtl="0" algn="l">
              <a:spcBef>
                <a:spcPts val="1200"/>
              </a:spcBef>
              <a:spcAft>
                <a:spcPts val="0"/>
              </a:spcAft>
              <a:buSzPts val="1600"/>
              <a:buChar char="●"/>
            </a:pPr>
            <a:r>
              <a:rPr lang="fr" sz="1600"/>
              <a:t>Avec l’opérateur rest, on </a:t>
            </a:r>
            <a:r>
              <a:rPr b="1" lang="fr" sz="1600"/>
              <a:t>rassemble </a:t>
            </a:r>
            <a:r>
              <a:rPr lang="fr" sz="1600"/>
              <a:t>des valeurs sous forme de tableau.</a:t>
            </a:r>
            <a:endParaRPr sz="1600"/>
          </a:p>
          <a:p>
            <a:pPr indent="-330200" lvl="0" marL="457200" rtl="0" algn="l">
              <a:spcBef>
                <a:spcPts val="0"/>
              </a:spcBef>
              <a:spcAft>
                <a:spcPts val="0"/>
              </a:spcAft>
              <a:buSzPts val="1600"/>
              <a:buChar char="●"/>
            </a:pPr>
            <a:r>
              <a:rPr lang="fr" sz="1600"/>
              <a:t>Avec l’opérateur spread, on </a:t>
            </a:r>
            <a:r>
              <a:rPr b="1" lang="fr" sz="1600"/>
              <a:t>déplie </a:t>
            </a:r>
            <a:r>
              <a:rPr lang="fr" sz="1600"/>
              <a:t>un tableau sous forme de valeurs séparées.</a:t>
            </a:r>
            <a:endParaRPr sz="1600"/>
          </a:p>
          <a:p>
            <a:pPr indent="0" lvl="0" marL="0" rtl="0" algn="l">
              <a:spcBef>
                <a:spcPts val="1200"/>
              </a:spcBef>
              <a:spcAft>
                <a:spcPts val="1200"/>
              </a:spcAft>
              <a:buNone/>
            </a:pPr>
            <a:r>
              <a:t/>
            </a:r>
            <a:endParaRPr sz="16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9"/>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Callback et introduction à l’asynchronicité</a:t>
            </a:r>
            <a:endParaRPr/>
          </a:p>
          <a:p>
            <a:pPr indent="0" lvl="0" marL="0" rtl="0" algn="l">
              <a:spcBef>
                <a:spcPts val="0"/>
              </a:spcBef>
              <a:spcAft>
                <a:spcPts val="0"/>
              </a:spcAft>
              <a:buNone/>
            </a:pPr>
            <a:r>
              <a:t/>
            </a:r>
            <a:endParaRPr/>
          </a:p>
        </p:txBody>
      </p:sp>
      <p:sp>
        <p:nvSpPr>
          <p:cNvPr id="605" name="Google Shape;605;p79"/>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JavaScript est un langage asynchrone et non bloquant. Cela signifie qu’il peut lancer une opération longue (chargement de données, temporisation, requête réseau…) sans bloquer l’exécution du reste du programme.</a:t>
            </a:r>
            <a:endParaRPr/>
          </a:p>
          <a:p>
            <a:pPr indent="0" lvl="0" marL="0" rtl="0" algn="l">
              <a:spcBef>
                <a:spcPts val="1200"/>
              </a:spcBef>
              <a:spcAft>
                <a:spcPts val="0"/>
              </a:spcAft>
              <a:buNone/>
            </a:pPr>
            <a:r>
              <a:rPr lang="fr"/>
              <a:t>Pour gérer ce comportement, JavaScript s’appuie historiquement sur les fonctions de rappel, appelées </a:t>
            </a:r>
            <a:r>
              <a:rPr b="1" lang="fr" u="sng">
                <a:solidFill>
                  <a:schemeClr val="hlink"/>
                </a:solidFill>
                <a:hlinkClick r:id="rId3"/>
              </a:rPr>
              <a:t>callbacks</a:t>
            </a:r>
            <a:r>
              <a:rPr lang="fr"/>
              <a:t>.</a:t>
            </a:r>
            <a:endParaRPr/>
          </a:p>
          <a:p>
            <a:pPr indent="0" lvl="0" marL="0" rtl="0" algn="l">
              <a:spcBef>
                <a:spcPts val="1200"/>
              </a:spcBef>
              <a:spcAft>
                <a:spcPts val="1200"/>
              </a:spcAft>
              <a:buNone/>
            </a:pPr>
            <a:r>
              <a:t/>
            </a:r>
            <a:endParaRPr/>
          </a:p>
        </p:txBody>
      </p:sp>
      <p:pic>
        <p:nvPicPr>
          <p:cNvPr id="606" name="Google Shape;606;p79"/>
          <p:cNvPicPr preferRelativeResize="0"/>
          <p:nvPr/>
        </p:nvPicPr>
        <p:blipFill>
          <a:blip r:embed="rId4">
            <a:alphaModFix/>
          </a:blip>
          <a:stretch>
            <a:fillRect/>
          </a:stretch>
        </p:blipFill>
        <p:spPr>
          <a:xfrm>
            <a:off x="1517775" y="3132450"/>
            <a:ext cx="4733600" cy="14365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80"/>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Callback : Définition</a:t>
            </a:r>
            <a:endParaRPr/>
          </a:p>
          <a:p>
            <a:pPr indent="0" lvl="0" marL="0" rtl="0" algn="l">
              <a:spcBef>
                <a:spcPts val="0"/>
              </a:spcBef>
              <a:spcAft>
                <a:spcPts val="0"/>
              </a:spcAft>
              <a:buNone/>
            </a:pPr>
            <a:r>
              <a:t/>
            </a:r>
            <a:endParaRPr/>
          </a:p>
        </p:txBody>
      </p:sp>
      <p:sp>
        <p:nvSpPr>
          <p:cNvPr id="612" name="Google Shape;612;p80"/>
          <p:cNvSpPr txBox="1"/>
          <p:nvPr>
            <p:ph idx="1" type="body"/>
          </p:nvPr>
        </p:nvSpPr>
        <p:spPr>
          <a:xfrm>
            <a:off x="311700" y="1033575"/>
            <a:ext cx="8520600" cy="390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Un callback est une fonction passée en paramètre à une autre fonction, qui sera appelée plus tard, une fois qu’une action sera terminée. L’idée du callback est de permettre à une fonction d’en appeler une autre à un moment choisi, ce qui permet de déléguer un comportement existant à une autre fonction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rPr lang="fr" sz="1600"/>
              <a:t>Ici, la fonction </a:t>
            </a:r>
            <a:r>
              <a:rPr b="1" i="1" lang="fr" sz="1600"/>
              <a:t>fin </a:t>
            </a:r>
            <a:r>
              <a:rPr lang="fr" sz="1600"/>
              <a:t>est passée en paramètre à </a:t>
            </a:r>
            <a:r>
              <a:rPr b="1" i="1" lang="fr" sz="1600"/>
              <a:t>direBonjour</a:t>
            </a:r>
            <a:r>
              <a:rPr lang="fr" sz="1600"/>
              <a:t>, et est exécutée après l’affichage du message de bienvenue par </a:t>
            </a:r>
            <a:r>
              <a:rPr b="1" i="1" lang="fr" sz="1600"/>
              <a:t>direBonjour </a:t>
            </a:r>
            <a:r>
              <a:rPr lang="fr" sz="1600"/>
              <a:t>elle-même.</a:t>
            </a:r>
            <a:endParaRPr sz="1600"/>
          </a:p>
        </p:txBody>
      </p:sp>
      <p:pic>
        <p:nvPicPr>
          <p:cNvPr id="613" name="Google Shape;613;p80"/>
          <p:cNvPicPr preferRelativeResize="0"/>
          <p:nvPr/>
        </p:nvPicPr>
        <p:blipFill>
          <a:blip r:embed="rId3">
            <a:alphaModFix/>
          </a:blip>
          <a:stretch>
            <a:fillRect/>
          </a:stretch>
        </p:blipFill>
        <p:spPr>
          <a:xfrm>
            <a:off x="1433675" y="2292321"/>
            <a:ext cx="2354350" cy="1387600"/>
          </a:xfrm>
          <a:prstGeom prst="rect">
            <a:avLst/>
          </a:prstGeom>
          <a:noFill/>
          <a:ln>
            <a:noFill/>
          </a:ln>
        </p:spPr>
      </p:pic>
      <p:cxnSp>
        <p:nvCxnSpPr>
          <p:cNvPr id="614" name="Google Shape;614;p80"/>
          <p:cNvCxnSpPr/>
          <p:nvPr/>
        </p:nvCxnSpPr>
        <p:spPr>
          <a:xfrm>
            <a:off x="3934275" y="2985071"/>
            <a:ext cx="741300" cy="2100"/>
          </a:xfrm>
          <a:prstGeom prst="straightConnector1">
            <a:avLst/>
          </a:prstGeom>
          <a:noFill/>
          <a:ln cap="flat" cmpd="sng" w="9525">
            <a:solidFill>
              <a:schemeClr val="dk2"/>
            </a:solidFill>
            <a:prstDash val="solid"/>
            <a:round/>
            <a:headEnd len="med" w="med" type="none"/>
            <a:tailEnd len="med" w="med" type="triangle"/>
          </a:ln>
        </p:spPr>
      </p:cxnSp>
      <p:pic>
        <p:nvPicPr>
          <p:cNvPr id="615" name="Google Shape;615;p80"/>
          <p:cNvPicPr preferRelativeResize="0"/>
          <p:nvPr/>
        </p:nvPicPr>
        <p:blipFill>
          <a:blip r:embed="rId4">
            <a:alphaModFix/>
          </a:blip>
          <a:stretch>
            <a:fillRect/>
          </a:stretch>
        </p:blipFill>
        <p:spPr>
          <a:xfrm>
            <a:off x="4821813" y="2367000"/>
            <a:ext cx="1933575" cy="12382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81"/>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Callback : Pourquoi ils sont </a:t>
            </a:r>
            <a:r>
              <a:rPr lang="fr"/>
              <a:t>nécessaires</a:t>
            </a:r>
            <a:r>
              <a:rPr lang="fr"/>
              <a:t> en JS ?</a:t>
            </a:r>
            <a:endParaRPr/>
          </a:p>
          <a:p>
            <a:pPr indent="0" lvl="0" marL="0" rtl="0" algn="l">
              <a:spcBef>
                <a:spcPts val="0"/>
              </a:spcBef>
              <a:spcAft>
                <a:spcPts val="0"/>
              </a:spcAft>
              <a:buNone/>
            </a:pPr>
            <a:r>
              <a:t/>
            </a:r>
            <a:endParaRPr/>
          </a:p>
        </p:txBody>
      </p:sp>
      <p:sp>
        <p:nvSpPr>
          <p:cNvPr id="621" name="Google Shape;621;p81"/>
          <p:cNvSpPr txBox="1"/>
          <p:nvPr>
            <p:ph idx="1" type="body"/>
          </p:nvPr>
        </p:nvSpPr>
        <p:spPr>
          <a:xfrm>
            <a:off x="311700" y="1033575"/>
            <a:ext cx="8520600" cy="390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Certaines opérations prennent du temps :</a:t>
            </a:r>
            <a:endParaRPr sz="1600"/>
          </a:p>
          <a:p>
            <a:pPr indent="-330200" lvl="0" marL="457200" rtl="0" algn="l">
              <a:spcBef>
                <a:spcPts val="1200"/>
              </a:spcBef>
              <a:spcAft>
                <a:spcPts val="0"/>
              </a:spcAft>
              <a:buSzPts val="1600"/>
              <a:buChar char="●"/>
            </a:pPr>
            <a:r>
              <a:rPr lang="fr" sz="1600"/>
              <a:t>Chargement d’une image</a:t>
            </a:r>
            <a:endParaRPr sz="1600"/>
          </a:p>
          <a:p>
            <a:pPr indent="-330200" lvl="0" marL="457200" rtl="0" algn="l">
              <a:spcBef>
                <a:spcPts val="0"/>
              </a:spcBef>
              <a:spcAft>
                <a:spcPts val="0"/>
              </a:spcAft>
              <a:buSzPts val="1600"/>
              <a:buChar char="●"/>
            </a:pPr>
            <a:r>
              <a:rPr lang="fr" sz="1600"/>
              <a:t>Appel à une API</a:t>
            </a:r>
            <a:endParaRPr sz="1600"/>
          </a:p>
          <a:p>
            <a:pPr indent="-330200" lvl="0" marL="457200" rtl="0" algn="l">
              <a:spcBef>
                <a:spcPts val="0"/>
              </a:spcBef>
              <a:spcAft>
                <a:spcPts val="0"/>
              </a:spcAft>
              <a:buSzPts val="1600"/>
              <a:buChar char="●"/>
            </a:pPr>
            <a:r>
              <a:rPr lang="fr" sz="1600"/>
              <a:t>Lecture de fichier</a:t>
            </a:r>
            <a:endParaRPr sz="1600"/>
          </a:p>
          <a:p>
            <a:pPr indent="-330200" lvl="0" marL="457200" rtl="0" algn="l">
              <a:spcBef>
                <a:spcPts val="0"/>
              </a:spcBef>
              <a:spcAft>
                <a:spcPts val="0"/>
              </a:spcAft>
              <a:buSzPts val="1600"/>
              <a:buChar char="●"/>
            </a:pPr>
            <a:r>
              <a:rPr lang="fr" sz="1600"/>
              <a:t>Temporisation (attendre quelque chose).</a:t>
            </a:r>
            <a:endParaRPr sz="1600"/>
          </a:p>
          <a:p>
            <a:pPr indent="0" lvl="0" marL="0" rtl="0" algn="l">
              <a:spcBef>
                <a:spcPts val="1200"/>
              </a:spcBef>
              <a:spcAft>
                <a:spcPts val="0"/>
              </a:spcAft>
              <a:buNone/>
            </a:pPr>
            <a:r>
              <a:rPr lang="fr" sz="1600"/>
              <a:t>JavaScript ne peut pas bloquer son exécution pour attendre passivement, car cela bloquerait l’interface utilisateur, cette dernière fonctionnant grâce à du code JS.</a:t>
            </a:r>
            <a:endParaRPr sz="1600"/>
          </a:p>
          <a:p>
            <a:pPr indent="0" lvl="0" marL="0" rtl="0" algn="l">
              <a:spcBef>
                <a:spcPts val="1200"/>
              </a:spcBef>
              <a:spcAft>
                <a:spcPts val="1200"/>
              </a:spcAft>
              <a:buNone/>
            </a:pPr>
            <a:r>
              <a:rPr lang="fr" sz="1600"/>
              <a:t>Il délègue donc ces opérations au navigateur ou à l’environnement d’exécution, puis reprend le contrôle quand l’opération est terminée, grâce entre autres à des callbacks.</a:t>
            </a:r>
            <a:endParaRPr sz="16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82"/>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a:t>
            </a:r>
            <a:endParaRPr/>
          </a:p>
          <a:p>
            <a:pPr indent="0" lvl="0" marL="0" rtl="0" algn="l">
              <a:spcBef>
                <a:spcPts val="0"/>
              </a:spcBef>
              <a:spcAft>
                <a:spcPts val="0"/>
              </a:spcAft>
              <a:buNone/>
            </a:pPr>
            <a:r>
              <a:rPr lang="fr"/>
              <a:t>Callback : Un exemple asynchrone avec setTimeout</a:t>
            </a:r>
            <a:endParaRPr/>
          </a:p>
        </p:txBody>
      </p:sp>
      <p:pic>
        <p:nvPicPr>
          <p:cNvPr id="627" name="Google Shape;627;p82"/>
          <p:cNvPicPr preferRelativeResize="0"/>
          <p:nvPr/>
        </p:nvPicPr>
        <p:blipFill>
          <a:blip r:embed="rId3">
            <a:alphaModFix/>
          </a:blip>
          <a:stretch>
            <a:fillRect/>
          </a:stretch>
        </p:blipFill>
        <p:spPr>
          <a:xfrm>
            <a:off x="5559175" y="1317496"/>
            <a:ext cx="1775150" cy="1254250"/>
          </a:xfrm>
          <a:prstGeom prst="rect">
            <a:avLst/>
          </a:prstGeom>
          <a:noFill/>
          <a:ln>
            <a:noFill/>
          </a:ln>
        </p:spPr>
      </p:pic>
      <p:pic>
        <p:nvPicPr>
          <p:cNvPr id="628" name="Google Shape;628;p82"/>
          <p:cNvPicPr preferRelativeResize="0"/>
          <p:nvPr/>
        </p:nvPicPr>
        <p:blipFill>
          <a:blip r:embed="rId4">
            <a:alphaModFix/>
          </a:blip>
          <a:stretch>
            <a:fillRect/>
          </a:stretch>
        </p:blipFill>
        <p:spPr>
          <a:xfrm>
            <a:off x="804100" y="1493875"/>
            <a:ext cx="2565789" cy="901500"/>
          </a:xfrm>
          <a:prstGeom prst="rect">
            <a:avLst/>
          </a:prstGeom>
          <a:noFill/>
          <a:ln>
            <a:noFill/>
          </a:ln>
        </p:spPr>
      </p:pic>
      <p:sp>
        <p:nvSpPr>
          <p:cNvPr id="629" name="Google Shape;629;p82"/>
          <p:cNvSpPr txBox="1"/>
          <p:nvPr>
            <p:ph idx="1" type="body"/>
          </p:nvPr>
        </p:nvSpPr>
        <p:spPr>
          <a:xfrm>
            <a:off x="311700" y="1033575"/>
            <a:ext cx="8520600" cy="390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rPr lang="fr" sz="1600"/>
              <a:t>On peut voir en rechargeant la page que les deux affichages synchrones se font instantanément, et qu’il faut attendre 2 secondes (2000ms) avant que l’affichage asynchrone n’apparaisse.</a:t>
            </a:r>
            <a:endParaRPr sz="1600"/>
          </a:p>
        </p:txBody>
      </p:sp>
      <p:cxnSp>
        <p:nvCxnSpPr>
          <p:cNvPr id="630" name="Google Shape;630;p82"/>
          <p:cNvCxnSpPr/>
          <p:nvPr/>
        </p:nvCxnSpPr>
        <p:spPr>
          <a:xfrm>
            <a:off x="3694288" y="1944625"/>
            <a:ext cx="15405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83"/>
          <p:cNvSpPr txBox="1"/>
          <p:nvPr>
            <p:ph type="title"/>
          </p:nvPr>
        </p:nvSpPr>
        <p:spPr>
          <a:xfrm>
            <a:off x="311700" y="171100"/>
            <a:ext cx="8520600" cy="90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Callback : Une manière de gérer les événements</a:t>
            </a:r>
            <a:endParaRPr/>
          </a:p>
        </p:txBody>
      </p:sp>
      <p:sp>
        <p:nvSpPr>
          <p:cNvPr id="636" name="Google Shape;636;p83"/>
          <p:cNvSpPr txBox="1"/>
          <p:nvPr>
            <p:ph idx="1" type="body"/>
          </p:nvPr>
        </p:nvSpPr>
        <p:spPr>
          <a:xfrm>
            <a:off x="311700" y="867825"/>
            <a:ext cx="8520600" cy="3905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fr" sz="1600"/>
              <a:t>JavaScript permet d’écouter les événements navigateur (clics, hovers, pressions clavier, etc…) et utilise massivement les callbacks pour y réagir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fr" sz="1600"/>
              <a:t>Ici :</a:t>
            </a:r>
            <a:endParaRPr sz="1600"/>
          </a:p>
          <a:p>
            <a:pPr indent="-330200" lvl="0" marL="457200" rtl="0" algn="l">
              <a:spcBef>
                <a:spcPts val="1200"/>
              </a:spcBef>
              <a:spcAft>
                <a:spcPts val="0"/>
              </a:spcAft>
              <a:buSzPts val="1600"/>
              <a:buChar char="●"/>
            </a:pPr>
            <a:r>
              <a:rPr b="1" lang="fr" sz="1600"/>
              <a:t>button </a:t>
            </a:r>
            <a:r>
              <a:rPr lang="fr" sz="1600"/>
              <a:t>est un élément HTML de la page web sur laquelle le script s’exécute, que l’on a récupéré au préalable via le DOM (voir chapitre suivant).</a:t>
            </a:r>
            <a:endParaRPr sz="1600"/>
          </a:p>
          <a:p>
            <a:pPr indent="-330200" lvl="0" marL="457200" rtl="0" algn="l">
              <a:spcBef>
                <a:spcPts val="0"/>
              </a:spcBef>
              <a:spcAft>
                <a:spcPts val="0"/>
              </a:spcAft>
              <a:buSzPts val="1600"/>
              <a:buChar char="●"/>
            </a:pPr>
            <a:r>
              <a:rPr lang="fr" sz="1600"/>
              <a:t>La fonction passée à addEventListener est un callback.</a:t>
            </a:r>
            <a:endParaRPr sz="1600"/>
          </a:p>
          <a:p>
            <a:pPr indent="-330200" lvl="0" marL="457200" rtl="0" algn="l">
              <a:spcBef>
                <a:spcPts val="0"/>
              </a:spcBef>
              <a:spcAft>
                <a:spcPts val="0"/>
              </a:spcAft>
              <a:buSzPts val="1600"/>
              <a:buChar char="●"/>
            </a:pPr>
            <a:r>
              <a:rPr lang="fr" sz="1600"/>
              <a:t>Elle sera exécutée uniquement lorsque l’événement se produit.</a:t>
            </a:r>
            <a:endParaRPr sz="1600"/>
          </a:p>
          <a:p>
            <a:pPr indent="-330200" lvl="0" marL="457200" rtl="0" algn="l">
              <a:spcBef>
                <a:spcPts val="0"/>
              </a:spcBef>
              <a:spcAft>
                <a:spcPts val="0"/>
              </a:spcAft>
              <a:buSzPts val="1600"/>
              <a:buChar char="●"/>
            </a:pPr>
            <a:r>
              <a:rPr lang="fr" sz="1600"/>
              <a:t>C’est l’un des usages les plus fréquents des callbacks en JS.</a:t>
            </a:r>
            <a:endParaRPr sz="1600"/>
          </a:p>
        </p:txBody>
      </p:sp>
      <p:pic>
        <p:nvPicPr>
          <p:cNvPr id="637" name="Google Shape;637;p83"/>
          <p:cNvPicPr preferRelativeResize="0"/>
          <p:nvPr/>
        </p:nvPicPr>
        <p:blipFill>
          <a:blip r:embed="rId3">
            <a:alphaModFix/>
          </a:blip>
          <a:stretch>
            <a:fillRect/>
          </a:stretch>
        </p:blipFill>
        <p:spPr>
          <a:xfrm>
            <a:off x="2221550" y="1996049"/>
            <a:ext cx="4700901" cy="7223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84"/>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Fonctionnement de l’asynchronicité en JavaScript</a:t>
            </a:r>
            <a:endParaRPr/>
          </a:p>
        </p:txBody>
      </p:sp>
      <p:sp>
        <p:nvSpPr>
          <p:cNvPr id="643" name="Google Shape;643;p84"/>
          <p:cNvSpPr txBox="1"/>
          <p:nvPr>
            <p:ph idx="1" type="body"/>
          </p:nvPr>
        </p:nvSpPr>
        <p:spPr>
          <a:xfrm>
            <a:off x="311700" y="1150050"/>
            <a:ext cx="8520600" cy="378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Sans entrer dans les détails techniques du Event Loop, on peut retenir que :</a:t>
            </a:r>
            <a:endParaRPr sz="1600"/>
          </a:p>
          <a:p>
            <a:pPr indent="-330200" lvl="0" marL="457200" rtl="0" algn="l">
              <a:spcBef>
                <a:spcPts val="1200"/>
              </a:spcBef>
              <a:spcAft>
                <a:spcPts val="0"/>
              </a:spcAft>
              <a:buSzPts val="1600"/>
              <a:buChar char="●"/>
            </a:pPr>
            <a:r>
              <a:rPr lang="fr" sz="1600"/>
              <a:t>JavaScript exécute le code ligne par ligne.</a:t>
            </a:r>
            <a:endParaRPr sz="1600"/>
          </a:p>
          <a:p>
            <a:pPr indent="-330200" lvl="0" marL="457200" rtl="0" algn="l">
              <a:spcBef>
                <a:spcPts val="0"/>
              </a:spcBef>
              <a:spcAft>
                <a:spcPts val="0"/>
              </a:spcAft>
              <a:buSzPts val="1600"/>
              <a:buChar char="●"/>
            </a:pPr>
            <a:r>
              <a:rPr lang="fr" sz="1600"/>
              <a:t>Les opérations longues sont déléguées.</a:t>
            </a:r>
            <a:endParaRPr sz="1600"/>
          </a:p>
          <a:p>
            <a:pPr indent="-330200" lvl="0" marL="457200" rtl="0" algn="l">
              <a:spcBef>
                <a:spcPts val="0"/>
              </a:spcBef>
              <a:spcAft>
                <a:spcPts val="0"/>
              </a:spcAft>
              <a:buSzPts val="1600"/>
              <a:buChar char="●"/>
            </a:pPr>
            <a:r>
              <a:rPr lang="fr" sz="1600"/>
              <a:t>Quand elles sont terminées, leur callback est placé dans une file d’attente.</a:t>
            </a:r>
            <a:endParaRPr sz="1600"/>
          </a:p>
          <a:p>
            <a:pPr indent="-330200" lvl="0" marL="457200" rtl="0" algn="l">
              <a:spcBef>
                <a:spcPts val="0"/>
              </a:spcBef>
              <a:spcAft>
                <a:spcPts val="0"/>
              </a:spcAft>
              <a:buSzPts val="1600"/>
              <a:buChar char="●"/>
            </a:pPr>
            <a:r>
              <a:rPr lang="fr" sz="1600"/>
              <a:t>Le callback est exécuté dès que le moteur JavaScript est disponible.</a:t>
            </a:r>
            <a:endParaRPr sz="1600"/>
          </a:p>
          <a:p>
            <a:pPr indent="0" lvl="0" marL="0" rtl="0" algn="l">
              <a:spcBef>
                <a:spcPts val="1200"/>
              </a:spcBef>
              <a:spcAft>
                <a:spcPts val="0"/>
              </a:spcAft>
              <a:buNone/>
            </a:pPr>
            <a:r>
              <a:rPr lang="fr" sz="1600"/>
              <a:t>Ce mécanisme asynchrone permet :</a:t>
            </a:r>
            <a:endParaRPr sz="1600"/>
          </a:p>
          <a:p>
            <a:pPr indent="-330200" lvl="0" marL="457200" rtl="0" algn="l">
              <a:spcBef>
                <a:spcPts val="1200"/>
              </a:spcBef>
              <a:spcAft>
                <a:spcPts val="0"/>
              </a:spcAft>
              <a:buSzPts val="1600"/>
              <a:buChar char="●"/>
            </a:pPr>
            <a:r>
              <a:rPr lang="fr" sz="1600"/>
              <a:t>De garder une interface fluide avec de multiples opérations en parallèle.</a:t>
            </a:r>
            <a:endParaRPr sz="1600"/>
          </a:p>
          <a:p>
            <a:pPr indent="-330200" lvl="0" marL="457200" rtl="0" algn="l">
              <a:spcBef>
                <a:spcPts val="0"/>
              </a:spcBef>
              <a:spcAft>
                <a:spcPts val="0"/>
              </a:spcAft>
              <a:buSzPts val="1600"/>
              <a:buChar char="●"/>
            </a:pPr>
            <a:r>
              <a:rPr lang="fr" sz="1600"/>
              <a:t>De meilleures performances générales dans le navigateur.</a:t>
            </a:r>
            <a:endParaRPr sz="16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8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r>
              <a:rPr lang="fr"/>
              <a:t> - Sommaire</a:t>
            </a:r>
            <a:endParaRPr/>
          </a:p>
        </p:txBody>
      </p:sp>
      <p:sp>
        <p:nvSpPr>
          <p:cNvPr id="649" name="Google Shape;649;p8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87350" lvl="0" marL="457200" rtl="0" algn="l">
              <a:spcBef>
                <a:spcPts val="0"/>
              </a:spcBef>
              <a:spcAft>
                <a:spcPts val="0"/>
              </a:spcAft>
              <a:buClr>
                <a:srgbClr val="434343"/>
              </a:buClr>
              <a:buSzPts val="2500"/>
              <a:buChar char="●"/>
            </a:pPr>
            <a:r>
              <a:rPr lang="fr">
                <a:solidFill>
                  <a:srgbClr val="434343"/>
                </a:solidFill>
              </a:rPr>
              <a:t>Le modèle objet basé sur les prototypes</a:t>
            </a:r>
            <a:endParaRPr>
              <a:solidFill>
                <a:srgbClr val="434343"/>
              </a:solidFill>
            </a:endParaRPr>
          </a:p>
          <a:p>
            <a:pPr indent="-387350" lvl="0" marL="457200" rtl="0" algn="l">
              <a:spcBef>
                <a:spcPts val="0"/>
              </a:spcBef>
              <a:spcAft>
                <a:spcPts val="0"/>
              </a:spcAft>
              <a:buClr>
                <a:srgbClr val="434343"/>
              </a:buClr>
              <a:buSzPts val="2500"/>
              <a:buChar char="●"/>
            </a:pPr>
            <a:r>
              <a:rPr lang="fr">
                <a:solidFill>
                  <a:srgbClr val="434343"/>
                </a:solidFill>
              </a:rPr>
              <a:t>Les classes ES6 (class, constructor)</a:t>
            </a:r>
            <a:endParaRPr>
              <a:solidFill>
                <a:srgbClr val="434343"/>
              </a:solidFill>
            </a:endParaRPr>
          </a:p>
          <a:p>
            <a:pPr indent="-387350" lvl="0" marL="457200" rtl="0" algn="l">
              <a:spcBef>
                <a:spcPts val="0"/>
              </a:spcBef>
              <a:spcAft>
                <a:spcPts val="0"/>
              </a:spcAft>
              <a:buClr>
                <a:srgbClr val="434343"/>
              </a:buClr>
              <a:buSzPts val="2500"/>
              <a:buChar char="●"/>
            </a:pPr>
            <a:r>
              <a:rPr lang="fr">
                <a:solidFill>
                  <a:srgbClr val="434343"/>
                </a:solidFill>
              </a:rPr>
              <a:t>Héritage, méthodes statiques</a:t>
            </a:r>
            <a:endParaRPr>
              <a:solidFill>
                <a:srgbClr val="434343"/>
              </a:solidFill>
            </a:endParaRPr>
          </a:p>
          <a:p>
            <a:pPr indent="-387350" lvl="0" marL="457200" rtl="0" algn="l">
              <a:spcBef>
                <a:spcPts val="0"/>
              </a:spcBef>
              <a:spcAft>
                <a:spcPts val="0"/>
              </a:spcAft>
              <a:buClr>
                <a:srgbClr val="434343"/>
              </a:buClr>
              <a:buSzPts val="2500"/>
              <a:buChar char="●"/>
            </a:pPr>
            <a:r>
              <a:rPr lang="fr">
                <a:solidFill>
                  <a:srgbClr val="434343"/>
                </a:solidFill>
              </a:rPr>
              <a:t>Différences avec PHP/Python</a:t>
            </a:r>
            <a:endParaRPr>
              <a:solidFill>
                <a:srgbClr val="434343"/>
              </a:solidFill>
            </a:endParaRPr>
          </a:p>
          <a:p>
            <a:pPr indent="0" lvl="0" marL="0" rtl="0" algn="l">
              <a:spcBef>
                <a:spcPts val="1200"/>
              </a:spcBef>
              <a:spcAft>
                <a:spcPts val="1200"/>
              </a:spcAft>
              <a:buNone/>
            </a:pPr>
            <a:r>
              <a:t/>
            </a:r>
            <a:endParaRPr>
              <a:solidFill>
                <a:srgbClr val="434343"/>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8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endParaRPr/>
          </a:p>
        </p:txBody>
      </p:sp>
      <p:sp>
        <p:nvSpPr>
          <p:cNvPr id="655" name="Google Shape;655;p86"/>
          <p:cNvSpPr txBox="1"/>
          <p:nvPr>
            <p:ph idx="1" type="body"/>
          </p:nvPr>
        </p:nvSpPr>
        <p:spPr>
          <a:xfrm>
            <a:off x="311700" y="134630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fr"/>
              <a:t>JavaScript est un langage orienté objet, mais son modèle diffère de celui des langages orientés objet classiques comme PHP ou Python.</a:t>
            </a:r>
            <a:endParaRPr/>
          </a:p>
          <a:p>
            <a:pPr indent="0" lvl="0" marL="0" rtl="0" algn="l">
              <a:spcBef>
                <a:spcPts val="1200"/>
              </a:spcBef>
              <a:spcAft>
                <a:spcPts val="1200"/>
              </a:spcAft>
              <a:buNone/>
            </a:pPr>
            <a:r>
              <a:rPr lang="fr"/>
              <a:t>La compréhension de ces différences est essentielle pour écrire du code JS structuré, réutilisable et maintenable.</a:t>
            </a:r>
            <a:endParaRPr>
              <a:solidFill>
                <a:srgbClr val="434343"/>
              </a:solidFill>
            </a:endParaRPr>
          </a:p>
        </p:txBody>
      </p:sp>
      <p:pic>
        <p:nvPicPr>
          <p:cNvPr id="656" name="Google Shape;656;p86"/>
          <p:cNvPicPr preferRelativeResize="0"/>
          <p:nvPr/>
        </p:nvPicPr>
        <p:blipFill>
          <a:blip r:embed="rId3">
            <a:alphaModFix/>
          </a:blip>
          <a:stretch>
            <a:fillRect/>
          </a:stretch>
        </p:blipFill>
        <p:spPr>
          <a:xfrm>
            <a:off x="3302300" y="1102450"/>
            <a:ext cx="2539425" cy="14169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87"/>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endParaRPr/>
          </a:p>
          <a:p>
            <a:pPr indent="0" lvl="0" marL="0" rtl="0" algn="l">
              <a:spcBef>
                <a:spcPts val="0"/>
              </a:spcBef>
              <a:spcAft>
                <a:spcPts val="0"/>
              </a:spcAft>
              <a:buNone/>
            </a:pPr>
            <a:r>
              <a:rPr lang="fr"/>
              <a:t>Le modèle objet basé sur les prototypes</a:t>
            </a:r>
            <a:endParaRPr/>
          </a:p>
          <a:p>
            <a:pPr indent="0" lvl="0" marL="0" rtl="0" algn="l">
              <a:spcBef>
                <a:spcPts val="0"/>
              </a:spcBef>
              <a:spcAft>
                <a:spcPts val="0"/>
              </a:spcAft>
              <a:buNone/>
            </a:pPr>
            <a:r>
              <a:t/>
            </a:r>
            <a:endParaRPr/>
          </a:p>
        </p:txBody>
      </p:sp>
      <p:sp>
        <p:nvSpPr>
          <p:cNvPr id="662" name="Google Shape;662;p87"/>
          <p:cNvSpPr txBox="1"/>
          <p:nvPr>
            <p:ph idx="1" type="body"/>
          </p:nvPr>
        </p:nvSpPr>
        <p:spPr>
          <a:xfrm>
            <a:off x="311700" y="11553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Contrairement aux langages à base de classes traditionnelles, JavaScript repose historiquement sur un système de prototypes.</a:t>
            </a:r>
            <a:endParaRPr/>
          </a:p>
          <a:p>
            <a:pPr indent="0" lvl="0" marL="0" rtl="0" algn="l">
              <a:spcBef>
                <a:spcPts val="1200"/>
              </a:spcBef>
              <a:spcAft>
                <a:spcPts val="0"/>
              </a:spcAft>
              <a:buNone/>
            </a:pPr>
            <a:r>
              <a:rPr lang="fr"/>
              <a:t>Un objet JavaScript reste une collection de paires clé/valeur et de méthodes :</a:t>
            </a:r>
            <a:endParaRPr/>
          </a:p>
          <a:p>
            <a:pPr indent="0" lvl="0" marL="0" rtl="0" algn="l">
              <a:spcBef>
                <a:spcPts val="1200"/>
              </a:spcBef>
              <a:spcAft>
                <a:spcPts val="1200"/>
              </a:spcAft>
              <a:buNone/>
            </a:pPr>
            <a:r>
              <a:t/>
            </a:r>
            <a:endParaRPr/>
          </a:p>
        </p:txBody>
      </p:sp>
      <p:pic>
        <p:nvPicPr>
          <p:cNvPr id="663" name="Google Shape;663;p87"/>
          <p:cNvPicPr preferRelativeResize="0"/>
          <p:nvPr/>
        </p:nvPicPr>
        <p:blipFill>
          <a:blip r:embed="rId3">
            <a:alphaModFix/>
          </a:blip>
          <a:stretch>
            <a:fillRect/>
          </a:stretch>
        </p:blipFill>
        <p:spPr>
          <a:xfrm>
            <a:off x="311700" y="2728350"/>
            <a:ext cx="4178500" cy="1254650"/>
          </a:xfrm>
          <a:prstGeom prst="rect">
            <a:avLst/>
          </a:prstGeom>
          <a:noFill/>
          <a:ln>
            <a:noFill/>
          </a:ln>
        </p:spPr>
      </p:pic>
      <p:pic>
        <p:nvPicPr>
          <p:cNvPr id="664" name="Google Shape;664;p87"/>
          <p:cNvPicPr preferRelativeResize="0"/>
          <p:nvPr/>
        </p:nvPicPr>
        <p:blipFill>
          <a:blip r:embed="rId4">
            <a:alphaModFix/>
          </a:blip>
          <a:stretch>
            <a:fillRect/>
          </a:stretch>
        </p:blipFill>
        <p:spPr>
          <a:xfrm>
            <a:off x="5267070" y="2675425"/>
            <a:ext cx="3565225" cy="1360500"/>
          </a:xfrm>
          <a:prstGeom prst="rect">
            <a:avLst/>
          </a:prstGeom>
          <a:noFill/>
          <a:ln>
            <a:noFill/>
          </a:ln>
        </p:spPr>
      </p:pic>
      <p:cxnSp>
        <p:nvCxnSpPr>
          <p:cNvPr id="665" name="Google Shape;665;p87"/>
          <p:cNvCxnSpPr/>
          <p:nvPr/>
        </p:nvCxnSpPr>
        <p:spPr>
          <a:xfrm>
            <a:off x="4620188" y="3353875"/>
            <a:ext cx="516900" cy="3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8"/>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endParaRPr/>
          </a:p>
          <a:p>
            <a:pPr indent="0" lvl="0" marL="0" rtl="0" algn="l">
              <a:spcBef>
                <a:spcPts val="0"/>
              </a:spcBef>
              <a:spcAft>
                <a:spcPts val="0"/>
              </a:spcAft>
              <a:buNone/>
            </a:pPr>
            <a:r>
              <a:rPr lang="fr"/>
              <a:t>Le modèle objet basé sur les prototypes</a:t>
            </a:r>
            <a:endParaRPr/>
          </a:p>
          <a:p>
            <a:pPr indent="0" lvl="0" marL="0" rtl="0" algn="l">
              <a:spcBef>
                <a:spcPts val="0"/>
              </a:spcBef>
              <a:spcAft>
                <a:spcPts val="0"/>
              </a:spcAft>
              <a:buNone/>
            </a:pPr>
            <a:r>
              <a:t/>
            </a:r>
            <a:endParaRPr/>
          </a:p>
        </p:txBody>
      </p:sp>
      <p:sp>
        <p:nvSpPr>
          <p:cNvPr id="671" name="Google Shape;671;p88"/>
          <p:cNvSpPr txBox="1"/>
          <p:nvPr>
            <p:ph idx="1" type="body"/>
          </p:nvPr>
        </p:nvSpPr>
        <p:spPr>
          <a:xfrm>
            <a:off x="311700" y="11553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Chaque objet JavaScript possède un prototype, c’est-à-dire un autre objet dont il hérite automatiquement des propriétés et méthodes.</a:t>
            </a:r>
            <a:endParaRPr/>
          </a:p>
          <a:p>
            <a:pPr indent="0" lvl="0" marL="0" rtl="0" algn="l">
              <a:spcBef>
                <a:spcPts val="1200"/>
              </a:spcBef>
              <a:spcAft>
                <a:spcPts val="0"/>
              </a:spcAft>
              <a:buNone/>
            </a:pPr>
            <a:r>
              <a:rPr lang="fr"/>
              <a:t>Lorsqu’on accède à une propriété ou à une méthode :</a:t>
            </a:r>
            <a:endParaRPr/>
          </a:p>
          <a:p>
            <a:pPr indent="-342900" lvl="0" marL="457200" rtl="0" algn="l">
              <a:spcBef>
                <a:spcPts val="1200"/>
              </a:spcBef>
              <a:spcAft>
                <a:spcPts val="0"/>
              </a:spcAft>
              <a:buSzPts val="1800"/>
              <a:buChar char="●"/>
            </a:pPr>
            <a:r>
              <a:rPr lang="fr"/>
              <a:t>JavaScript cherche dans l’objet courant.</a:t>
            </a:r>
            <a:endParaRPr/>
          </a:p>
          <a:p>
            <a:pPr indent="-342900" lvl="0" marL="457200" rtl="0" algn="l">
              <a:spcBef>
                <a:spcPts val="0"/>
              </a:spcBef>
              <a:spcAft>
                <a:spcPts val="0"/>
              </a:spcAft>
              <a:buSzPts val="1800"/>
              <a:buChar char="●"/>
            </a:pPr>
            <a:r>
              <a:rPr lang="fr"/>
              <a:t>Si elle n’existe pas dans l’objet courant, il remonte dans le prototype.</a:t>
            </a:r>
            <a:endParaRPr/>
          </a:p>
          <a:p>
            <a:pPr indent="-342900" lvl="0" marL="457200" rtl="0" algn="l">
              <a:spcBef>
                <a:spcPts val="0"/>
              </a:spcBef>
              <a:spcAft>
                <a:spcPts val="0"/>
              </a:spcAft>
              <a:buSzPts val="1800"/>
              <a:buChar char="●"/>
            </a:pPr>
            <a:r>
              <a:rPr lang="fr"/>
              <a:t>Il continue jusqu’à trouver la propriété / méthode, ou atteindre </a:t>
            </a:r>
            <a:r>
              <a:rPr b="1" i="1" lang="fr"/>
              <a:t>null</a:t>
            </a:r>
            <a:r>
              <a:rPr lang="fr"/>
              <a:t>.</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89"/>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endParaRPr/>
          </a:p>
          <a:p>
            <a:pPr indent="0" lvl="0" marL="0" rtl="0" algn="l">
              <a:spcBef>
                <a:spcPts val="0"/>
              </a:spcBef>
              <a:spcAft>
                <a:spcPts val="0"/>
              </a:spcAft>
              <a:buNone/>
            </a:pPr>
            <a:r>
              <a:rPr lang="fr"/>
              <a:t>Le modèle objet basé sur les prototypes</a:t>
            </a:r>
            <a:endParaRPr/>
          </a:p>
          <a:p>
            <a:pPr indent="0" lvl="0" marL="0" rtl="0" algn="l">
              <a:spcBef>
                <a:spcPts val="0"/>
              </a:spcBef>
              <a:spcAft>
                <a:spcPts val="0"/>
              </a:spcAft>
              <a:buNone/>
            </a:pPr>
            <a:r>
              <a:t/>
            </a:r>
            <a:endParaRPr/>
          </a:p>
        </p:txBody>
      </p:sp>
      <p:sp>
        <p:nvSpPr>
          <p:cNvPr id="677" name="Google Shape;677;p89"/>
          <p:cNvSpPr txBox="1"/>
          <p:nvPr>
            <p:ph idx="1" type="body"/>
          </p:nvPr>
        </p:nvSpPr>
        <p:spPr>
          <a:xfrm>
            <a:off x="311700" y="11553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Ici, la méthode </a:t>
            </a:r>
            <a:r>
              <a:rPr b="1" i="1" lang="fr"/>
              <a:t>toString()</a:t>
            </a:r>
            <a:r>
              <a:rPr lang="fr"/>
              <a:t> n’est pas définie sur utilisateur, mais sur Object.prototype, qui sert de prototype (direct ou indirect) à tous les objets créés en JS.</a:t>
            </a:r>
            <a:endParaRPr/>
          </a:p>
          <a:p>
            <a:pPr indent="0" lvl="0" marL="0" rtl="0" algn="l">
              <a:spcBef>
                <a:spcPts val="1200"/>
              </a:spcBef>
              <a:spcAft>
                <a:spcPts val="1200"/>
              </a:spcAft>
              <a:buNone/>
            </a:pPr>
            <a:r>
              <a:t/>
            </a:r>
            <a:endParaRPr/>
          </a:p>
        </p:txBody>
      </p:sp>
      <p:pic>
        <p:nvPicPr>
          <p:cNvPr id="678" name="Google Shape;678;p89"/>
          <p:cNvPicPr preferRelativeResize="0"/>
          <p:nvPr/>
        </p:nvPicPr>
        <p:blipFill>
          <a:blip r:embed="rId3">
            <a:alphaModFix/>
          </a:blip>
          <a:stretch>
            <a:fillRect/>
          </a:stretch>
        </p:blipFill>
        <p:spPr>
          <a:xfrm>
            <a:off x="311688" y="2128113"/>
            <a:ext cx="3819525" cy="1952625"/>
          </a:xfrm>
          <a:prstGeom prst="rect">
            <a:avLst/>
          </a:prstGeom>
          <a:noFill/>
          <a:ln>
            <a:noFill/>
          </a:ln>
        </p:spPr>
      </p:pic>
      <p:pic>
        <p:nvPicPr>
          <p:cNvPr id="679" name="Google Shape;679;p89"/>
          <p:cNvPicPr preferRelativeResize="0"/>
          <p:nvPr/>
        </p:nvPicPr>
        <p:blipFill>
          <a:blip r:embed="rId4">
            <a:alphaModFix/>
          </a:blip>
          <a:stretch>
            <a:fillRect/>
          </a:stretch>
        </p:blipFill>
        <p:spPr>
          <a:xfrm>
            <a:off x="5612850" y="2475788"/>
            <a:ext cx="2457450" cy="1257300"/>
          </a:xfrm>
          <a:prstGeom prst="rect">
            <a:avLst/>
          </a:prstGeom>
          <a:noFill/>
          <a:ln>
            <a:noFill/>
          </a:ln>
        </p:spPr>
      </p:pic>
      <p:cxnSp>
        <p:nvCxnSpPr>
          <p:cNvPr id="680" name="Google Shape;680;p89"/>
          <p:cNvCxnSpPr/>
          <p:nvPr/>
        </p:nvCxnSpPr>
        <p:spPr>
          <a:xfrm>
            <a:off x="4343875" y="3103838"/>
            <a:ext cx="1056300" cy="1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90"/>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endParaRPr/>
          </a:p>
          <a:p>
            <a:pPr indent="0" lvl="0" marL="0" rtl="0" algn="l">
              <a:spcBef>
                <a:spcPts val="0"/>
              </a:spcBef>
              <a:spcAft>
                <a:spcPts val="0"/>
              </a:spcAft>
              <a:buNone/>
            </a:pPr>
            <a:r>
              <a:rPr lang="fr"/>
              <a:t>Création d’objets avant ES6 </a:t>
            </a:r>
            <a:endParaRPr/>
          </a:p>
          <a:p>
            <a:pPr indent="0" lvl="0" marL="0" rtl="0" algn="l">
              <a:spcBef>
                <a:spcPts val="0"/>
              </a:spcBef>
              <a:spcAft>
                <a:spcPts val="0"/>
              </a:spcAft>
              <a:buNone/>
            </a:pPr>
            <a:r>
              <a:t/>
            </a:r>
            <a:endParaRPr/>
          </a:p>
        </p:txBody>
      </p:sp>
      <p:sp>
        <p:nvSpPr>
          <p:cNvPr id="686" name="Google Shape;686;p90"/>
          <p:cNvSpPr txBox="1"/>
          <p:nvPr>
            <p:ph idx="1" type="body"/>
          </p:nvPr>
        </p:nvSpPr>
        <p:spPr>
          <a:xfrm>
            <a:off x="311700" y="1218850"/>
            <a:ext cx="8520600" cy="3350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fr"/>
              <a:t>Avant ES6, on utilisait des fonctions constructrices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fr"/>
              <a:t>Le mot-clé </a:t>
            </a:r>
            <a:r>
              <a:rPr b="1" lang="fr"/>
              <a:t>new </a:t>
            </a:r>
            <a:r>
              <a:rPr lang="fr"/>
              <a:t>:</a:t>
            </a:r>
            <a:endParaRPr/>
          </a:p>
          <a:p>
            <a:pPr indent="-334327" lvl="0" marL="457200" rtl="0" algn="l">
              <a:spcBef>
                <a:spcPts val="1200"/>
              </a:spcBef>
              <a:spcAft>
                <a:spcPts val="0"/>
              </a:spcAft>
              <a:buSzPct val="100000"/>
              <a:buChar char="●"/>
            </a:pPr>
            <a:r>
              <a:rPr lang="fr"/>
              <a:t>Crée un nouvel objet à partir de la fonction constructrice.</a:t>
            </a:r>
            <a:endParaRPr/>
          </a:p>
          <a:p>
            <a:pPr indent="-334327" lvl="0" marL="457200" rtl="0" algn="l">
              <a:spcBef>
                <a:spcPts val="0"/>
              </a:spcBef>
              <a:spcAft>
                <a:spcPts val="0"/>
              </a:spcAft>
              <a:buSzPct val="100000"/>
              <a:buChar char="●"/>
            </a:pPr>
            <a:r>
              <a:rPr lang="fr"/>
              <a:t>Lie </a:t>
            </a:r>
            <a:r>
              <a:rPr b="1" i="1" lang="fr"/>
              <a:t>this </a:t>
            </a:r>
            <a:r>
              <a:rPr lang="fr"/>
              <a:t>à cet objet (l’instance) nouvellement créé.</a:t>
            </a:r>
            <a:endParaRPr/>
          </a:p>
          <a:p>
            <a:pPr indent="-334327" lvl="0" marL="457200" rtl="0" algn="l">
              <a:spcBef>
                <a:spcPts val="0"/>
              </a:spcBef>
              <a:spcAft>
                <a:spcPts val="0"/>
              </a:spcAft>
              <a:buSzPct val="100000"/>
              <a:buChar char="●"/>
            </a:pPr>
            <a:r>
              <a:rPr lang="fr"/>
              <a:t>Relie l’objet au prototype du constructeur.</a:t>
            </a:r>
            <a:endParaRPr/>
          </a:p>
        </p:txBody>
      </p:sp>
      <p:pic>
        <p:nvPicPr>
          <p:cNvPr id="687" name="Google Shape;687;p90"/>
          <p:cNvPicPr preferRelativeResize="0"/>
          <p:nvPr/>
        </p:nvPicPr>
        <p:blipFill>
          <a:blip r:embed="rId3">
            <a:alphaModFix/>
          </a:blip>
          <a:stretch>
            <a:fillRect/>
          </a:stretch>
        </p:blipFill>
        <p:spPr>
          <a:xfrm>
            <a:off x="371346" y="1649496"/>
            <a:ext cx="3478976" cy="1537850"/>
          </a:xfrm>
          <a:prstGeom prst="rect">
            <a:avLst/>
          </a:prstGeom>
          <a:noFill/>
          <a:ln>
            <a:noFill/>
          </a:ln>
        </p:spPr>
      </p:pic>
      <p:pic>
        <p:nvPicPr>
          <p:cNvPr id="688" name="Google Shape;688;p90"/>
          <p:cNvPicPr preferRelativeResize="0"/>
          <p:nvPr/>
        </p:nvPicPr>
        <p:blipFill>
          <a:blip r:embed="rId4">
            <a:alphaModFix/>
          </a:blip>
          <a:stretch>
            <a:fillRect/>
          </a:stretch>
        </p:blipFill>
        <p:spPr>
          <a:xfrm>
            <a:off x="5613575" y="1937400"/>
            <a:ext cx="1924050" cy="962025"/>
          </a:xfrm>
          <a:prstGeom prst="rect">
            <a:avLst/>
          </a:prstGeom>
          <a:noFill/>
          <a:ln>
            <a:noFill/>
          </a:ln>
        </p:spPr>
      </p:pic>
      <p:cxnSp>
        <p:nvCxnSpPr>
          <p:cNvPr id="689" name="Google Shape;689;p90"/>
          <p:cNvCxnSpPr/>
          <p:nvPr/>
        </p:nvCxnSpPr>
        <p:spPr>
          <a:xfrm>
            <a:off x="4216850" y="2418425"/>
            <a:ext cx="1030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91"/>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endParaRPr/>
          </a:p>
          <a:p>
            <a:pPr indent="0" lvl="0" marL="0" rtl="0" algn="l">
              <a:spcBef>
                <a:spcPts val="0"/>
              </a:spcBef>
              <a:spcAft>
                <a:spcPts val="0"/>
              </a:spcAft>
              <a:buNone/>
            </a:pPr>
            <a:r>
              <a:rPr lang="fr"/>
              <a:t>Les classes ES6 (class, constructor) : Déclaration</a:t>
            </a:r>
            <a:endParaRPr/>
          </a:p>
          <a:p>
            <a:pPr indent="0" lvl="0" marL="0" rtl="0" algn="l">
              <a:spcBef>
                <a:spcPts val="0"/>
              </a:spcBef>
              <a:spcAft>
                <a:spcPts val="0"/>
              </a:spcAft>
              <a:buNone/>
            </a:pPr>
            <a:r>
              <a:t/>
            </a:r>
            <a:endParaRPr/>
          </a:p>
        </p:txBody>
      </p:sp>
      <p:sp>
        <p:nvSpPr>
          <p:cNvPr id="695" name="Google Shape;695;p91"/>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Depuis ES6, JavaScript propose une syntaxe class, plus proche des langages orientés objet classiques. Les classes sont seulement une </a:t>
            </a:r>
            <a:r>
              <a:rPr i="1" lang="fr" sz="1600" u="sng"/>
              <a:t>surcouche syntaxique</a:t>
            </a:r>
            <a:r>
              <a:rPr lang="fr" sz="1600"/>
              <a:t> au système de prototypes, pas un nouveau modèle, ce qui signifie qu’elles n’altèrent pas le fonctionnement de base des objets.</a:t>
            </a:r>
            <a:endParaRPr sz="16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696" name="Google Shape;696;p91"/>
          <p:cNvPicPr preferRelativeResize="0"/>
          <p:nvPr/>
        </p:nvPicPr>
        <p:blipFill>
          <a:blip r:embed="rId3">
            <a:alphaModFix/>
          </a:blip>
          <a:stretch>
            <a:fillRect/>
          </a:stretch>
        </p:blipFill>
        <p:spPr>
          <a:xfrm>
            <a:off x="2298450" y="2614650"/>
            <a:ext cx="4547100" cy="19543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92"/>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endParaRPr/>
          </a:p>
          <a:p>
            <a:pPr indent="0" lvl="0" marL="0" rtl="0" algn="l">
              <a:spcBef>
                <a:spcPts val="0"/>
              </a:spcBef>
              <a:spcAft>
                <a:spcPts val="0"/>
              </a:spcAft>
              <a:buNone/>
            </a:pPr>
            <a:r>
              <a:rPr lang="fr"/>
              <a:t>Les classes ES6 (class, constructor) : Instanciation</a:t>
            </a:r>
            <a:endParaRPr/>
          </a:p>
          <a:p>
            <a:pPr indent="0" lvl="0" marL="0" rtl="0" algn="l">
              <a:spcBef>
                <a:spcPts val="0"/>
              </a:spcBef>
              <a:spcAft>
                <a:spcPts val="0"/>
              </a:spcAft>
              <a:buNone/>
            </a:pPr>
            <a:r>
              <a:t/>
            </a:r>
            <a:endParaRPr/>
          </a:p>
        </p:txBody>
      </p:sp>
      <p:sp>
        <p:nvSpPr>
          <p:cNvPr id="702" name="Google Shape;702;p92"/>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L’instanciation, c’est la création d’un objet à partir d’une classe. On dit alors que cet objet est </a:t>
            </a:r>
            <a:r>
              <a:rPr b="1" lang="fr"/>
              <a:t>l’instance </a:t>
            </a:r>
            <a:r>
              <a:rPr lang="fr"/>
              <a:t>de la classe à partir de laquelle il a été créé. Dans ce contexte, le mot-clé </a:t>
            </a:r>
            <a:r>
              <a:rPr b="1" lang="fr"/>
              <a:t>new </a:t>
            </a:r>
            <a:r>
              <a:rPr lang="fr"/>
              <a:t>fonctionne de la même manière que pour les fonctions constructrices :</a:t>
            </a:r>
            <a:endParaRPr sz="2000"/>
          </a:p>
        </p:txBody>
      </p:sp>
      <p:pic>
        <p:nvPicPr>
          <p:cNvPr id="703" name="Google Shape;703;p92"/>
          <p:cNvPicPr preferRelativeResize="0"/>
          <p:nvPr/>
        </p:nvPicPr>
        <p:blipFill>
          <a:blip r:embed="rId3">
            <a:alphaModFix/>
          </a:blip>
          <a:stretch>
            <a:fillRect/>
          </a:stretch>
        </p:blipFill>
        <p:spPr>
          <a:xfrm>
            <a:off x="311700" y="2672273"/>
            <a:ext cx="3738025" cy="2228450"/>
          </a:xfrm>
          <a:prstGeom prst="rect">
            <a:avLst/>
          </a:prstGeom>
          <a:noFill/>
          <a:ln>
            <a:noFill/>
          </a:ln>
        </p:spPr>
      </p:pic>
      <p:pic>
        <p:nvPicPr>
          <p:cNvPr id="704" name="Google Shape;704;p92"/>
          <p:cNvPicPr preferRelativeResize="0"/>
          <p:nvPr/>
        </p:nvPicPr>
        <p:blipFill>
          <a:blip r:embed="rId4">
            <a:alphaModFix/>
          </a:blip>
          <a:stretch>
            <a:fillRect/>
          </a:stretch>
        </p:blipFill>
        <p:spPr>
          <a:xfrm>
            <a:off x="5746713" y="3186425"/>
            <a:ext cx="2314575" cy="1200150"/>
          </a:xfrm>
          <a:prstGeom prst="rect">
            <a:avLst/>
          </a:prstGeom>
          <a:noFill/>
          <a:ln>
            <a:noFill/>
          </a:ln>
        </p:spPr>
      </p:pic>
      <p:cxnSp>
        <p:nvCxnSpPr>
          <p:cNvPr id="705" name="Google Shape;705;p92"/>
          <p:cNvCxnSpPr/>
          <p:nvPr/>
        </p:nvCxnSpPr>
        <p:spPr>
          <a:xfrm flipH="1" rot="10800000">
            <a:off x="4418687" y="3785448"/>
            <a:ext cx="959100" cy="2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93"/>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endParaRPr/>
          </a:p>
          <a:p>
            <a:pPr indent="0" lvl="0" marL="0" rtl="0" algn="l">
              <a:spcBef>
                <a:spcPts val="0"/>
              </a:spcBef>
              <a:spcAft>
                <a:spcPts val="0"/>
              </a:spcAft>
              <a:buNone/>
            </a:pPr>
            <a:r>
              <a:rPr lang="fr"/>
              <a:t>Héritage avec extends</a:t>
            </a:r>
            <a:endParaRPr/>
          </a:p>
          <a:p>
            <a:pPr indent="0" lvl="0" marL="0" rtl="0" algn="l">
              <a:spcBef>
                <a:spcPts val="0"/>
              </a:spcBef>
              <a:spcAft>
                <a:spcPts val="0"/>
              </a:spcAft>
              <a:buNone/>
            </a:pPr>
            <a:r>
              <a:t/>
            </a:r>
            <a:endParaRPr/>
          </a:p>
        </p:txBody>
      </p:sp>
      <p:sp>
        <p:nvSpPr>
          <p:cNvPr id="711" name="Google Shape;711;p93"/>
          <p:cNvSpPr txBox="1"/>
          <p:nvPr>
            <p:ph idx="1" type="body"/>
          </p:nvPr>
        </p:nvSpPr>
        <p:spPr>
          <a:xfrm>
            <a:off x="109350" y="1134175"/>
            <a:ext cx="8925300" cy="3350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fr"/>
              <a:t>Une classe peut hériter d’une autre classe, c’est à dire de ses propriétés et de ses méthodes, si elle est déclarée avec le mot-clé </a:t>
            </a:r>
            <a:r>
              <a:rPr b="1" lang="fr"/>
              <a:t>extends</a:t>
            </a:r>
            <a:r>
              <a:rPr lang="fr"/>
              <a:t>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b="1" lang="fr"/>
              <a:t>extends </a:t>
            </a:r>
            <a:r>
              <a:rPr lang="fr"/>
              <a:t>crée une relation de prototype.</a:t>
            </a:r>
            <a:endParaRPr/>
          </a:p>
          <a:p>
            <a:pPr indent="-342900" lvl="0" marL="457200" rtl="0" algn="l">
              <a:spcBef>
                <a:spcPts val="0"/>
              </a:spcBef>
              <a:spcAft>
                <a:spcPts val="0"/>
              </a:spcAft>
              <a:buSzPts val="1800"/>
              <a:buChar char="●"/>
            </a:pPr>
            <a:r>
              <a:rPr b="1" i="1" lang="fr"/>
              <a:t>super()</a:t>
            </a:r>
            <a:r>
              <a:rPr lang="fr"/>
              <a:t> appelle le constructeur parent pour intégrer ses propriétés et méthodes.</a:t>
            </a:r>
            <a:endParaRPr/>
          </a:p>
        </p:txBody>
      </p:sp>
      <p:pic>
        <p:nvPicPr>
          <p:cNvPr id="712" name="Google Shape;712;p93"/>
          <p:cNvPicPr preferRelativeResize="0"/>
          <p:nvPr/>
        </p:nvPicPr>
        <p:blipFill>
          <a:blip r:embed="rId3">
            <a:alphaModFix/>
          </a:blip>
          <a:stretch>
            <a:fillRect/>
          </a:stretch>
        </p:blipFill>
        <p:spPr>
          <a:xfrm>
            <a:off x="311700" y="2054751"/>
            <a:ext cx="3508475" cy="1508950"/>
          </a:xfrm>
          <a:prstGeom prst="rect">
            <a:avLst/>
          </a:prstGeom>
          <a:noFill/>
          <a:ln>
            <a:noFill/>
          </a:ln>
        </p:spPr>
      </p:pic>
      <p:pic>
        <p:nvPicPr>
          <p:cNvPr id="713" name="Google Shape;713;p93"/>
          <p:cNvPicPr preferRelativeResize="0"/>
          <p:nvPr/>
        </p:nvPicPr>
        <p:blipFill>
          <a:blip r:embed="rId4">
            <a:alphaModFix/>
          </a:blip>
          <a:stretch>
            <a:fillRect/>
          </a:stretch>
        </p:blipFill>
        <p:spPr>
          <a:xfrm>
            <a:off x="4238875" y="2054750"/>
            <a:ext cx="4593436" cy="150895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94"/>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endParaRPr/>
          </a:p>
          <a:p>
            <a:pPr indent="0" lvl="0" marL="0" rtl="0" algn="l">
              <a:spcBef>
                <a:spcPts val="0"/>
              </a:spcBef>
              <a:spcAft>
                <a:spcPts val="0"/>
              </a:spcAft>
              <a:buNone/>
            </a:pPr>
            <a:r>
              <a:rPr lang="fr"/>
              <a:t>Méthodes statiques</a:t>
            </a:r>
            <a:endParaRPr/>
          </a:p>
          <a:p>
            <a:pPr indent="0" lvl="0" marL="0" rtl="0" algn="l">
              <a:spcBef>
                <a:spcPts val="0"/>
              </a:spcBef>
              <a:spcAft>
                <a:spcPts val="0"/>
              </a:spcAft>
              <a:buNone/>
            </a:pPr>
            <a:r>
              <a:t/>
            </a:r>
            <a:endParaRPr/>
          </a:p>
        </p:txBody>
      </p:sp>
      <p:sp>
        <p:nvSpPr>
          <p:cNvPr id="719" name="Google Shape;719;p94"/>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600"/>
              <a:t>Les méthodes statiques appartiennent à la classe, et pas aux instances de cette classe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rPr lang="fr" sz="1600"/>
              <a:t>Elles sont utiles pour créer des fonctions utilitaires qui n’ont pas besoin d’instance pour s’exécuter, et donc garder une logique indépendante des instances dans une classe.</a:t>
            </a:r>
            <a:endParaRPr sz="1600"/>
          </a:p>
        </p:txBody>
      </p:sp>
      <p:pic>
        <p:nvPicPr>
          <p:cNvPr id="720" name="Google Shape;720;p94"/>
          <p:cNvPicPr preferRelativeResize="0"/>
          <p:nvPr/>
        </p:nvPicPr>
        <p:blipFill>
          <a:blip r:embed="rId3">
            <a:alphaModFix/>
          </a:blip>
          <a:stretch>
            <a:fillRect/>
          </a:stretch>
        </p:blipFill>
        <p:spPr>
          <a:xfrm>
            <a:off x="311699" y="1823274"/>
            <a:ext cx="3669225" cy="1431250"/>
          </a:xfrm>
          <a:prstGeom prst="rect">
            <a:avLst/>
          </a:prstGeom>
          <a:noFill/>
          <a:ln>
            <a:noFill/>
          </a:ln>
        </p:spPr>
      </p:pic>
      <p:pic>
        <p:nvPicPr>
          <p:cNvPr id="721" name="Google Shape;721;p94"/>
          <p:cNvPicPr preferRelativeResize="0"/>
          <p:nvPr/>
        </p:nvPicPr>
        <p:blipFill>
          <a:blip r:embed="rId4">
            <a:alphaModFix/>
          </a:blip>
          <a:stretch>
            <a:fillRect/>
          </a:stretch>
        </p:blipFill>
        <p:spPr>
          <a:xfrm>
            <a:off x="5743575" y="1947863"/>
            <a:ext cx="1924050" cy="1247775"/>
          </a:xfrm>
          <a:prstGeom prst="rect">
            <a:avLst/>
          </a:prstGeom>
          <a:noFill/>
          <a:ln>
            <a:noFill/>
          </a:ln>
        </p:spPr>
      </p:pic>
      <p:cxnSp>
        <p:nvCxnSpPr>
          <p:cNvPr id="722" name="Google Shape;722;p94"/>
          <p:cNvCxnSpPr/>
          <p:nvPr/>
        </p:nvCxnSpPr>
        <p:spPr>
          <a:xfrm>
            <a:off x="4310999" y="2535599"/>
            <a:ext cx="1102500" cy="6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95"/>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endParaRPr/>
          </a:p>
          <a:p>
            <a:pPr indent="0" lvl="0" marL="0" rtl="0" algn="l">
              <a:spcBef>
                <a:spcPts val="0"/>
              </a:spcBef>
              <a:spcAft>
                <a:spcPts val="0"/>
              </a:spcAft>
              <a:buNone/>
            </a:pPr>
            <a:r>
              <a:rPr lang="fr"/>
              <a:t>Différences avec PHP/Python</a:t>
            </a:r>
            <a:endParaRPr/>
          </a:p>
          <a:p>
            <a:pPr indent="0" lvl="0" marL="0" rtl="0" algn="l">
              <a:spcBef>
                <a:spcPts val="0"/>
              </a:spcBef>
              <a:spcAft>
                <a:spcPts val="0"/>
              </a:spcAft>
              <a:buNone/>
            </a:pPr>
            <a:r>
              <a:t/>
            </a:r>
            <a:endParaRPr/>
          </a:p>
        </p:txBody>
      </p:sp>
      <p:graphicFrame>
        <p:nvGraphicFramePr>
          <p:cNvPr id="728" name="Google Shape;728;p95"/>
          <p:cNvGraphicFramePr/>
          <p:nvPr/>
        </p:nvGraphicFramePr>
        <p:xfrm>
          <a:off x="1702350" y="1428013"/>
          <a:ext cx="3000000" cy="3000000"/>
        </p:xfrm>
        <a:graphic>
          <a:graphicData uri="http://schemas.openxmlformats.org/drawingml/2006/table">
            <a:tbl>
              <a:tblPr>
                <a:noFill/>
                <a:tableStyleId>{A9A7F8AC-252F-458C-ABAE-EBCD8052A311}</a:tableStyleId>
              </a:tblPr>
              <a:tblGrid>
                <a:gridCol w="2869650"/>
                <a:gridCol w="2869650"/>
              </a:tblGrid>
              <a:tr h="543075">
                <a:tc>
                  <a:txBody>
                    <a:bodyPr/>
                    <a:lstStyle/>
                    <a:p>
                      <a:pPr indent="0" lvl="0" marL="0" rtl="0" algn="l">
                        <a:spcBef>
                          <a:spcPts val="0"/>
                        </a:spcBef>
                        <a:spcAft>
                          <a:spcPts val="0"/>
                        </a:spcAft>
                        <a:buNone/>
                      </a:pPr>
                      <a:r>
                        <a:rPr lang="fr"/>
                        <a:t>JavaScript</a:t>
                      </a:r>
                      <a:endParaRPr/>
                    </a:p>
                  </a:txBody>
                  <a:tcPr marT="91425" marB="91425" marR="91425" marL="91425"/>
                </a:tc>
                <a:tc>
                  <a:txBody>
                    <a:bodyPr/>
                    <a:lstStyle/>
                    <a:p>
                      <a:pPr indent="0" lvl="0" marL="0" rtl="0" algn="l">
                        <a:spcBef>
                          <a:spcPts val="0"/>
                        </a:spcBef>
                        <a:spcAft>
                          <a:spcPts val="0"/>
                        </a:spcAft>
                        <a:buNone/>
                      </a:pPr>
                      <a:r>
                        <a:rPr lang="fr"/>
                        <a:t>Python</a:t>
                      </a:r>
                      <a:endParaRPr/>
                    </a:p>
                  </a:txBody>
                  <a:tcPr marT="91425" marB="91425" marR="91425" marL="91425"/>
                </a:tc>
              </a:tr>
              <a:tr h="522225">
                <a:tc>
                  <a:txBody>
                    <a:bodyPr/>
                    <a:lstStyle/>
                    <a:p>
                      <a:pPr indent="0" lvl="0" marL="0" rtl="0" algn="l">
                        <a:spcBef>
                          <a:spcPts val="0"/>
                        </a:spcBef>
                        <a:spcAft>
                          <a:spcPts val="0"/>
                        </a:spcAft>
                        <a:buNone/>
                      </a:pPr>
                      <a:r>
                        <a:rPr lang="fr"/>
                        <a:t>Basé sur les prototypes</a:t>
                      </a:r>
                      <a:endParaRPr/>
                    </a:p>
                  </a:txBody>
                  <a:tcPr marT="91425" marB="91425" marR="91425" marL="91425"/>
                </a:tc>
                <a:tc>
                  <a:txBody>
                    <a:bodyPr/>
                    <a:lstStyle/>
                    <a:p>
                      <a:pPr indent="0" lvl="0" marL="0" rtl="0" algn="l">
                        <a:spcBef>
                          <a:spcPts val="0"/>
                        </a:spcBef>
                        <a:spcAft>
                          <a:spcPts val="0"/>
                        </a:spcAft>
                        <a:buNone/>
                      </a:pPr>
                      <a:r>
                        <a:rPr lang="fr"/>
                        <a:t>Basé sur les classes</a:t>
                      </a:r>
                      <a:endParaRPr/>
                    </a:p>
                  </a:txBody>
                  <a:tcPr marT="91425" marB="91425" marR="91425" marL="91425"/>
                </a:tc>
              </a:tr>
              <a:tr h="522225">
                <a:tc>
                  <a:txBody>
                    <a:bodyPr/>
                    <a:lstStyle/>
                    <a:p>
                      <a:pPr indent="0" lvl="0" marL="0" rtl="0" algn="l">
                        <a:spcBef>
                          <a:spcPts val="0"/>
                        </a:spcBef>
                        <a:spcAft>
                          <a:spcPts val="0"/>
                        </a:spcAft>
                        <a:buNone/>
                      </a:pPr>
                      <a:r>
                        <a:rPr lang="fr"/>
                        <a:t>Héritage dynamique</a:t>
                      </a:r>
                      <a:endParaRPr/>
                    </a:p>
                  </a:txBody>
                  <a:tcPr marT="91425" marB="91425" marR="91425" marL="91425"/>
                </a:tc>
                <a:tc>
                  <a:txBody>
                    <a:bodyPr/>
                    <a:lstStyle/>
                    <a:p>
                      <a:pPr indent="0" lvl="0" marL="0" rtl="0" algn="l">
                        <a:spcBef>
                          <a:spcPts val="0"/>
                        </a:spcBef>
                        <a:spcAft>
                          <a:spcPts val="0"/>
                        </a:spcAft>
                        <a:buNone/>
                      </a:pPr>
                      <a:r>
                        <a:rPr lang="fr"/>
                        <a:t>Héritage statique</a:t>
                      </a:r>
                      <a:endParaRPr/>
                    </a:p>
                  </a:txBody>
                  <a:tcPr marT="91425" marB="91425" marR="91425" marL="91425"/>
                </a:tc>
              </a:tr>
              <a:tr h="522225">
                <a:tc>
                  <a:txBody>
                    <a:bodyPr/>
                    <a:lstStyle/>
                    <a:p>
                      <a:pPr indent="0" lvl="0" marL="0" rtl="0" algn="l">
                        <a:spcBef>
                          <a:spcPts val="0"/>
                        </a:spcBef>
                        <a:spcAft>
                          <a:spcPts val="0"/>
                        </a:spcAft>
                        <a:buNone/>
                      </a:pPr>
                      <a:r>
                        <a:rPr lang="fr"/>
                        <a:t>Classes = syntaxe</a:t>
                      </a:r>
                      <a:endParaRPr/>
                    </a:p>
                  </a:txBody>
                  <a:tcPr marT="91425" marB="91425" marR="91425" marL="91425"/>
                </a:tc>
                <a:tc>
                  <a:txBody>
                    <a:bodyPr/>
                    <a:lstStyle/>
                    <a:p>
                      <a:pPr indent="0" lvl="0" marL="0" rtl="0" algn="l">
                        <a:spcBef>
                          <a:spcPts val="0"/>
                        </a:spcBef>
                        <a:spcAft>
                          <a:spcPts val="0"/>
                        </a:spcAft>
                        <a:buNone/>
                      </a:pPr>
                      <a:r>
                        <a:rPr lang="fr"/>
                        <a:t>Classes = modèles</a:t>
                      </a:r>
                      <a:endParaRPr/>
                    </a:p>
                  </a:txBody>
                  <a:tcPr marT="91425" marB="91425" marR="91425" marL="91425"/>
                </a:tc>
              </a:tr>
              <a:tr h="522225">
                <a:tc>
                  <a:txBody>
                    <a:bodyPr/>
                    <a:lstStyle/>
                    <a:p>
                      <a:pPr indent="0" lvl="0" marL="0" rtl="0" algn="l">
                        <a:spcBef>
                          <a:spcPts val="0"/>
                        </a:spcBef>
                        <a:spcAft>
                          <a:spcPts val="0"/>
                        </a:spcAft>
                        <a:buNone/>
                      </a:pPr>
                      <a:r>
                        <a:rPr b="1" lang="fr"/>
                        <a:t>this</a:t>
                      </a:r>
                      <a:r>
                        <a:rPr lang="fr"/>
                        <a:t> contextuel</a:t>
                      </a:r>
                      <a:endParaRPr/>
                    </a:p>
                  </a:txBody>
                  <a:tcPr marT="91425" marB="91425" marR="91425" marL="91425"/>
                </a:tc>
                <a:tc>
                  <a:txBody>
                    <a:bodyPr/>
                    <a:lstStyle/>
                    <a:p>
                      <a:pPr indent="0" lvl="0" marL="0" rtl="0" algn="l">
                        <a:spcBef>
                          <a:spcPts val="0"/>
                        </a:spcBef>
                        <a:spcAft>
                          <a:spcPts val="0"/>
                        </a:spcAft>
                        <a:buNone/>
                      </a:pPr>
                      <a:r>
                        <a:rPr b="1" lang="fr"/>
                        <a:t>self</a:t>
                      </a:r>
                      <a:r>
                        <a:rPr lang="fr"/>
                        <a:t> lié à l’objet (instance)</a:t>
                      </a:r>
                      <a:endParaRPr/>
                    </a:p>
                  </a:txBody>
                  <a:tcPr marT="91425" marB="91425" marR="91425" marL="91425"/>
                </a:tc>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96"/>
          <p:cNvSpPr txBox="1"/>
          <p:nvPr>
            <p:ph type="title"/>
          </p:nvPr>
        </p:nvSpPr>
        <p:spPr>
          <a:xfrm>
            <a:off x="311700" y="171100"/>
            <a:ext cx="85206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Programmation orientée objet en JS</a:t>
            </a:r>
            <a:endParaRPr/>
          </a:p>
          <a:p>
            <a:pPr indent="0" lvl="0" marL="0" rtl="0" algn="l">
              <a:spcBef>
                <a:spcPts val="0"/>
              </a:spcBef>
              <a:spcAft>
                <a:spcPts val="0"/>
              </a:spcAft>
              <a:buNone/>
            </a:pPr>
            <a:r>
              <a:rPr lang="fr"/>
              <a:t>Les particularités de JavaScript</a:t>
            </a:r>
            <a:endParaRPr/>
          </a:p>
          <a:p>
            <a:pPr indent="0" lvl="0" marL="0" rtl="0" algn="l">
              <a:spcBef>
                <a:spcPts val="0"/>
              </a:spcBef>
              <a:spcAft>
                <a:spcPts val="0"/>
              </a:spcAft>
              <a:buNone/>
            </a:pPr>
            <a:r>
              <a:t/>
            </a:r>
            <a:endParaRPr/>
          </a:p>
        </p:txBody>
      </p:sp>
      <p:sp>
        <p:nvSpPr>
          <p:cNvPr id="734" name="Google Shape;734;p96"/>
          <p:cNvSpPr txBox="1"/>
          <p:nvPr>
            <p:ph idx="1" type="body"/>
          </p:nvPr>
        </p:nvSpPr>
        <p:spPr>
          <a:xfrm>
            <a:off x="311700" y="1218850"/>
            <a:ext cx="8520600" cy="3350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Les objets peuvent être modifiés dynamiquement.</a:t>
            </a:r>
            <a:endParaRPr/>
          </a:p>
          <a:p>
            <a:pPr indent="-342900" lvl="0" marL="457200" rtl="0" algn="l">
              <a:spcBef>
                <a:spcPts val="0"/>
              </a:spcBef>
              <a:spcAft>
                <a:spcPts val="0"/>
              </a:spcAft>
              <a:buSzPts val="1800"/>
              <a:buChar char="●"/>
            </a:pPr>
            <a:r>
              <a:rPr lang="fr"/>
              <a:t>Les fonctions sont des objets.</a:t>
            </a:r>
            <a:endParaRPr/>
          </a:p>
          <a:p>
            <a:pPr indent="-342900" lvl="0" marL="457200" rtl="0" algn="l">
              <a:spcBef>
                <a:spcPts val="0"/>
              </a:spcBef>
              <a:spcAft>
                <a:spcPts val="0"/>
              </a:spcAft>
              <a:buSzPts val="1800"/>
              <a:buChar char="●"/>
            </a:pPr>
            <a:r>
              <a:rPr lang="fr"/>
              <a:t>Le contexte (</a:t>
            </a:r>
            <a:r>
              <a:rPr b="1" lang="fr"/>
              <a:t>this</a:t>
            </a:r>
            <a:r>
              <a:rPr lang="fr"/>
              <a:t>) dépend de l’appel.</a:t>
            </a:r>
            <a:endParaRPr/>
          </a:p>
          <a:p>
            <a:pPr indent="0" lvl="0" marL="0" rtl="0" algn="l">
              <a:spcBef>
                <a:spcPts val="1200"/>
              </a:spcBef>
              <a:spcAft>
                <a:spcPts val="1200"/>
              </a:spcAft>
              <a:buNone/>
            </a:pPr>
            <a:r>
              <a:rPr lang="fr"/>
              <a:t>Ces différences expliquent certaines erreurs fréquentes chez les développeurs venant de PHP ou Python.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